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300" r:id="rId45"/>
    <p:sldId id="301" r:id="rId4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0" autoAdjust="0"/>
    <p:restoredTop sz="94723" autoAdjust="0"/>
  </p:normalViewPr>
  <p:slideViewPr>
    <p:cSldViewPr>
      <p:cViewPr varScale="1">
        <p:scale>
          <a:sx n="65" d="100"/>
          <a:sy n="65" d="100"/>
        </p:scale>
        <p:origin x="-1296" y="-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8FC2B0-4D1B-40F9-BE72-2199B3BDD7A4}" type="datetimeFigureOut">
              <a:rPr lang="fr-FR" smtClean="0"/>
              <a:pPr/>
              <a:t>05/09/2023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24DA06-923D-4C48-8CB1-778D73E255DB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24DA06-923D-4C48-8CB1-778D73E255DB}" type="slidenum">
              <a:rPr lang="fr-FR" smtClean="0"/>
              <a:pPr/>
              <a:t>24</a:t>
            </a:fld>
            <a:endParaRPr lang="fr-FR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smtClean="0"/>
              <a:t>Cliquez pour modifier le style des sous-titres du masque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0F839B37-C30E-465A-8B4F-374DD6875E53}" type="datetime1">
              <a:rPr lang="fr-FR" smtClean="0"/>
              <a:pPr/>
              <a:t>05/09/2023</a:t>
            </a:fld>
            <a:endParaRPr lang="fr-FR" dirty="0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Connecteur droit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8" name="Connecteur droit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Connecteur droit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6" name="Connecteur droit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5" name="Connecteur droit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Connecteur droit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Ellipse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Ellipse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Ellipse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Ellipse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Ellipse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BA6DD742-F910-4470-B3DB-7B068CDD9AEC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D869711A-8841-4FEC-8B42-88B8F3E6F5AE}" type="datetime1">
              <a:rPr lang="fr-FR" smtClean="0"/>
              <a:pPr/>
              <a:t>05/09/2023</a:t>
            </a:fld>
            <a:endParaRPr lang="fr-FR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BA6DD742-F910-4470-B3DB-7B068CDD9AEC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0" name="Espace réservé du pied de page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fr-FR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6B00F70B-52F9-4417-923A-B45FF9240EB6}" type="datetime1">
              <a:rPr lang="fr-FR" smtClean="0"/>
              <a:pPr/>
              <a:t>05/09/2023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3" name="Connecteur droit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4" name="Connecteur droit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5" name="Connecteur droit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6" name="Connecteur droit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Connecteur droit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Ellipse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Ellipse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Ellipse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Ellipse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Ellipse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Connecteur droit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BA6DD742-F910-4470-B3DB-7B068CDD9AEC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FA1F4-9E80-4515-B7BD-6C94FCCC4A27}" type="datetime1">
              <a:rPr lang="fr-FR" smtClean="0"/>
              <a:pPr/>
              <a:t>05/09/2023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D2DE3-7DD9-4878-AE39-D210EFAEDE7F}" type="datetime1">
              <a:rPr lang="fr-FR" smtClean="0"/>
              <a:pPr/>
              <a:t>05/09/2023</a:t>
            </a:fld>
            <a:endParaRPr lang="fr-FR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3" name="Espace réservé du contenu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14" name="Espace réservé du texte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6" name="Espace réservé de la date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30D66135-669F-4E5A-9E07-C48586F1ECBE}" type="datetime1">
              <a:rPr lang="fr-FR" smtClean="0"/>
              <a:pPr/>
              <a:t>05/09/2023</a:t>
            </a:fld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A6DD742-F910-4470-B3DB-7B068CDD9AEC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fr-FR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BC76D-1A91-4104-90A3-53832E429EBD}" type="datetime1">
              <a:rPr lang="fr-FR" smtClean="0"/>
              <a:pPr/>
              <a:t>05/09/2023</a:t>
            </a:fld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Connecteur droit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3" name="Connecteur droit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4" name="Ellipse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Espace réservé du contenu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21" name="Espace réservé de la date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722893A8-FC6B-4116-9F4F-699D435EAEAB}" type="datetime1">
              <a:rPr lang="fr-FR" smtClean="0"/>
              <a:pPr/>
              <a:t>05/09/2023</a:t>
            </a:fld>
            <a:endParaRPr lang="fr-FR" dirty="0"/>
          </a:p>
        </p:txBody>
      </p:sp>
      <p:sp>
        <p:nvSpPr>
          <p:cNvPr id="22" name="Espace réservé du numéro de diapositive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BA6DD742-F910-4470-B3DB-7B068CDD9AEC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23" name="Espace réservé du pied de page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fr-FR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3" name="Ellipse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fr-FR" dirty="0" smtClean="0"/>
              <a:t>Cliquez sur l'icône pour ajouter une image</a:t>
            </a:r>
            <a:endParaRPr kumimoji="0"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Connecteur droit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9" name="Connecteur droit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Connecteur droit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Espace réservé de la date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3C7B4C0B-E663-425C-BE3C-3C0A01CA0492}" type="datetime1">
              <a:rPr lang="fr-FR" smtClean="0"/>
              <a:pPr/>
              <a:t>05/09/2023</a:t>
            </a:fld>
            <a:endParaRPr lang="fr-FR" dirty="0"/>
          </a:p>
        </p:txBody>
      </p:sp>
      <p:sp>
        <p:nvSpPr>
          <p:cNvPr id="18" name="Espace réservé du numéro de diapositive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A6DD742-F910-4470-B3DB-7B068CDD9AEC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21" name="Espace réservé du pied de page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fr-FR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3D8D9-B5DA-4922-A30E-6DF7978750D1}" type="datetime1">
              <a:rPr lang="fr-FR" smtClean="0"/>
              <a:pPr/>
              <a:t>05/09/2023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03981-A52E-4586-BD18-043958357443}" type="datetime1">
              <a:rPr lang="fr-FR" smtClean="0"/>
              <a:pPr/>
              <a:t>05/09/2023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necteur droit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55C61A9-6278-4A5D-B4FF-51D50B042421}" type="datetime1">
              <a:rPr lang="fr-FR" smtClean="0"/>
              <a:pPr/>
              <a:t>05/09/2023</a:t>
            </a:fld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7" name="Connecteur droit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Connecteur droit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2" name="Ellipse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BA6DD742-F910-4470-B3DB-7B068CDD9AEC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2357422" y="1071546"/>
            <a:ext cx="6319034" cy="684207"/>
          </a:xfrm>
        </p:spPr>
        <p:txBody>
          <a:bodyPr>
            <a:normAutofit/>
          </a:bodyPr>
          <a:lstStyle/>
          <a:p>
            <a:r>
              <a:rPr lang="fr-FR" dirty="0" smtClean="0"/>
              <a:t>Séance 4 : La </a:t>
            </a:r>
            <a:r>
              <a:rPr lang="fr-FR" dirty="0" smtClean="0"/>
              <a:t>caisse à outils :</a:t>
            </a:r>
            <a:endParaRPr lang="fr-FR" dirty="0"/>
          </a:p>
        </p:txBody>
      </p:sp>
      <p:pic>
        <p:nvPicPr>
          <p:cNvPr id="4" name="Image 3" descr="AIG468835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214810" y="2500306"/>
            <a:ext cx="2880000" cy="2880000"/>
          </a:xfrm>
          <a:prstGeom prst="rect">
            <a:avLst/>
          </a:prstGeom>
        </p:spPr>
      </p:pic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1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 smtClean="0">
                <a:latin typeface="Times New Roman" pitchFamily="18" charset="0"/>
                <a:cs typeface="Times New Roman" pitchFamily="18" charset="0"/>
              </a:rPr>
              <a:t>La caisse à outils :</a:t>
            </a:r>
            <a:endParaRPr lang="fr-FR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Espace réservé du contenu 4" descr="RÃ©sultat de recherche d'images pour &quot;marteau&quot;"/>
          <p:cNvPicPr preferRelativeResize="0">
            <a:picLocks noGrp="1" noChangeAspect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5786" y="1285860"/>
            <a:ext cx="4314311" cy="43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4000496" y="2928934"/>
            <a:ext cx="4229104" cy="785818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fr-FR" sz="4800" b="1" dirty="0" smtClean="0"/>
              <a:t>Un marteau</a:t>
            </a:r>
            <a:endParaRPr lang="fr-FR" sz="4800" b="1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2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 smtClean="0">
                <a:latin typeface="Times New Roman" pitchFamily="18" charset="0"/>
                <a:cs typeface="Times New Roman" pitchFamily="18" charset="0"/>
              </a:rPr>
              <a:t>La caisse à outils :</a:t>
            </a:r>
            <a:endParaRPr lang="fr-FR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Espace réservé du contenu 6" descr="Maillet de carreleur en caoutchouc noir, 0,22 k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28662" y="1071546"/>
            <a:ext cx="4320000" cy="43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3214678" y="4429132"/>
            <a:ext cx="4872046" cy="785818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fr-FR" sz="4800" b="1" dirty="0" smtClean="0"/>
              <a:t>Un maillet</a:t>
            </a:r>
            <a:endParaRPr lang="fr-FR" sz="4800" b="1" dirty="0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3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 smtClean="0">
                <a:latin typeface="Times New Roman" pitchFamily="18" charset="0"/>
                <a:cs typeface="Times New Roman" pitchFamily="18" charset="0"/>
              </a:rPr>
              <a:t>La caisse à outils :</a:t>
            </a:r>
            <a:endParaRPr lang="fr-FR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Espace réservé du contenu 6" descr="Pince multiprise 180 mm Ã  verrouillage rapide Virax 018222 Virax"/>
          <p:cNvPicPr preferRelativeResize="0">
            <a:picLocks noGrp="1" noChangeAspect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57686" y="1214422"/>
            <a:ext cx="4320000" cy="43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214282" y="5072074"/>
            <a:ext cx="7858180" cy="78581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4800" b="1" dirty="0" smtClean="0"/>
              <a:t>Une pince multiprise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4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 smtClean="0">
                <a:latin typeface="Times New Roman" pitchFamily="18" charset="0"/>
                <a:cs typeface="Times New Roman" pitchFamily="18" charset="0"/>
              </a:rPr>
              <a:t>La caisse à outils :</a:t>
            </a:r>
            <a:endParaRPr lang="fr-FR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Espace réservé du contenu 6" descr="RÃ©sultat de recherche d'images pour &quot;pince coupante&quot;"/>
          <p:cNvPicPr preferRelativeResize="0"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571472" y="1000108"/>
            <a:ext cx="4320000" cy="43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1643042" y="4714884"/>
            <a:ext cx="6858048" cy="785818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fr-FR" sz="4800" b="1" dirty="0" smtClean="0"/>
              <a:t>Une pince coupante</a:t>
            </a:r>
            <a:endParaRPr lang="fr-FR" sz="4800" b="1" dirty="0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5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 smtClean="0">
                <a:latin typeface="Times New Roman" pitchFamily="18" charset="0"/>
                <a:cs typeface="Times New Roman" pitchFamily="18" charset="0"/>
              </a:rPr>
              <a:t>La caisse à outils :</a:t>
            </a:r>
            <a:endParaRPr lang="fr-FR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Espace réservé du contenu 6" descr="Pince universelle OAKSON 762300"/>
          <p:cNvPicPr preferRelativeResize="0">
            <a:picLocks noGrp="1" noChangeAspect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5786" y="2143116"/>
            <a:ext cx="4320000" cy="43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1428728" y="1285860"/>
            <a:ext cx="7143800" cy="78581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4800" b="1" dirty="0" smtClean="0"/>
              <a:t>Une pince universelle</a:t>
            </a:r>
            <a:endParaRPr lang="fr-FR" sz="4800" b="1" dirty="0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6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 smtClean="0">
                <a:latin typeface="Times New Roman" pitchFamily="18" charset="0"/>
                <a:cs typeface="Times New Roman" pitchFamily="18" charset="0"/>
              </a:rPr>
              <a:t>La caisse à outils :</a:t>
            </a:r>
            <a:endParaRPr lang="fr-FR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357158" y="1214422"/>
            <a:ext cx="7572428" cy="785818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fr-FR" sz="4800" b="1" dirty="0" smtClean="0"/>
              <a:t>Une pince coupante</a:t>
            </a:r>
            <a:endParaRPr lang="fr-FR" sz="4800" b="1" dirty="0"/>
          </a:p>
        </p:txBody>
      </p:sp>
      <p:pic>
        <p:nvPicPr>
          <p:cNvPr id="8" name="Espace réservé du contenu 7" descr="Tenaille Russe noire atramentisÃ©e polie longueur 300 mm"/>
          <p:cNvPicPr preferRelativeResize="0">
            <a:picLocks noGrp="1" noChangeAspect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43306" y="2357430"/>
            <a:ext cx="4320000" cy="43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Espace réservé du contenu 3"/>
          <p:cNvSpPr txBox="1">
            <a:spLocks/>
          </p:cNvSpPr>
          <p:nvPr/>
        </p:nvSpPr>
        <p:spPr>
          <a:xfrm>
            <a:off x="500034" y="2500306"/>
            <a:ext cx="4500594" cy="785818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marL="274320" marR="0" lvl="0" indent="-27432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None/>
              <a:tabLst/>
              <a:defRPr/>
            </a:pPr>
            <a:r>
              <a:rPr kumimoji="0" lang="fr-FR" sz="4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Une tenaille</a:t>
            </a:r>
            <a:endParaRPr kumimoji="0" lang="fr-FR" sz="4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7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 smtClean="0">
                <a:latin typeface="Times New Roman" pitchFamily="18" charset="0"/>
                <a:cs typeface="Times New Roman" pitchFamily="18" charset="0"/>
              </a:rPr>
              <a:t>La caisse à outils :</a:t>
            </a:r>
            <a:endParaRPr lang="fr-FR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1071538" y="3214686"/>
            <a:ext cx="6086492" cy="785818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fr-FR" sz="4800" b="1" dirty="0" smtClean="0"/>
              <a:t>Une pince à sertir</a:t>
            </a:r>
            <a:endParaRPr lang="fr-FR" sz="4800" b="1" dirty="0"/>
          </a:p>
        </p:txBody>
      </p:sp>
      <p:pic>
        <p:nvPicPr>
          <p:cNvPr id="7" name="Espace réservé du contenu 6" descr="RÃ©sultat de recherche d'images pour &quot;pince a sertir&quot;"/>
          <p:cNvPicPr preferRelativeResize="0">
            <a:picLocks noGrp="1" noChangeAspect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472" y="1357298"/>
            <a:ext cx="4320000" cy="17729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Espace réservé du contenu 3"/>
          <p:cNvSpPr txBox="1">
            <a:spLocks/>
          </p:cNvSpPr>
          <p:nvPr/>
        </p:nvSpPr>
        <p:spPr>
          <a:xfrm>
            <a:off x="1142976" y="4786322"/>
            <a:ext cx="6086492" cy="785818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marL="274320" marR="0" lvl="0" indent="-27432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None/>
              <a:tabLst/>
              <a:defRPr/>
            </a:pPr>
            <a:endParaRPr kumimoji="0" lang="fr-FR" sz="4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434" name="AutoShape 2" descr="Sertissez la coss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sp>
        <p:nvSpPr>
          <p:cNvPr id="18436" name="AutoShape 4" descr="Sertissez la coss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pic>
        <p:nvPicPr>
          <p:cNvPr id="18437" name="Picture 5"/>
          <p:cNvPicPr preferRelativeResize="0"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57290" y="4071942"/>
            <a:ext cx="5566829" cy="21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Espace réservé du numéro de diapositive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8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 smtClean="0">
                <a:latin typeface="Times New Roman" pitchFamily="18" charset="0"/>
                <a:cs typeface="Times New Roman" pitchFamily="18" charset="0"/>
              </a:rPr>
              <a:t>La caisse à outils :</a:t>
            </a:r>
            <a:endParaRPr lang="fr-FR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Espace réservé du contenu 6" descr="PINCE BEC LONG COUD DEMI-ROND FACOM 195.20CPE"/>
          <p:cNvPicPr preferRelativeResize="0">
            <a:picLocks noGrp="1" noChangeAspect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57224" y="2357430"/>
            <a:ext cx="4320000" cy="43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9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642910" y="2071678"/>
            <a:ext cx="7858180" cy="78581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4800" b="1" dirty="0" smtClean="0"/>
              <a:t>Une pince à bec rond</a:t>
            </a:r>
            <a:endParaRPr lang="fr-FR" sz="4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ce réservé du contenu 6" descr="RÃ©sultat de recherche d'images pour &quot;pince rj45&quot;"/>
          <p:cNvPicPr preferRelativeResize="0">
            <a:picLocks noGrp="1" noChangeAspect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57686" y="857232"/>
            <a:ext cx="4320000" cy="43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 smtClean="0">
                <a:latin typeface="Times New Roman" pitchFamily="18" charset="0"/>
                <a:cs typeface="Times New Roman" pitchFamily="18" charset="0"/>
              </a:rPr>
              <a:t>La caisse à outils :</a:t>
            </a:r>
            <a:endParaRPr lang="fr-FR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357158" y="1000108"/>
            <a:ext cx="7215238" cy="78581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3200" b="1" dirty="0" smtClean="0"/>
              <a:t>Une pince à sertir réseau</a:t>
            </a:r>
            <a:endParaRPr lang="fr-FR" sz="3200" b="1" dirty="0"/>
          </a:p>
        </p:txBody>
      </p:sp>
      <p:pic>
        <p:nvPicPr>
          <p:cNvPr id="16385" name="Picture 1"/>
          <p:cNvPicPr preferRelativeResize="0"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4348" y="3571876"/>
            <a:ext cx="3600000" cy="2690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10</a:t>
            </a:fld>
            <a:endParaRPr lang="fr-FR" dirty="0"/>
          </a:p>
        </p:txBody>
      </p:sp>
      <p:sp>
        <p:nvSpPr>
          <p:cNvPr id="9" name="Espace réservé du contenu 3"/>
          <p:cNvSpPr txBox="1">
            <a:spLocks/>
          </p:cNvSpPr>
          <p:nvPr/>
        </p:nvSpPr>
        <p:spPr>
          <a:xfrm>
            <a:off x="500034" y="1785926"/>
            <a:ext cx="7215238" cy="785818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None/>
              <a:tabLst/>
              <a:defRPr/>
            </a:pPr>
            <a:r>
              <a:rPr kumimoji="0" lang="fr-FR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Une pince RJ45 et RJ11</a:t>
            </a:r>
            <a:endParaRPr kumimoji="0" lang="fr-FR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6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 smtClean="0">
                <a:latin typeface="Times New Roman" pitchFamily="18" charset="0"/>
                <a:cs typeface="Times New Roman" pitchFamily="18" charset="0"/>
              </a:rPr>
              <a:t>La caisse à outils :</a:t>
            </a:r>
            <a:endParaRPr lang="fr-FR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Espace réservé du contenu 6" descr="RÃ©sultat de recherche d'images pour &quot;pince crocodile&quot;"/>
          <p:cNvPicPr preferRelativeResize="0">
            <a:picLocks noGrp="1" noChangeAspect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034" y="1214422"/>
            <a:ext cx="4320000" cy="43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1000100" y="4572008"/>
            <a:ext cx="7286676" cy="785818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fr-FR" sz="4800" b="1" dirty="0" smtClean="0"/>
              <a:t>Les pinces crocodiles</a:t>
            </a:r>
            <a:endParaRPr lang="fr-FR" sz="4800" b="1" dirty="0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11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 smtClean="0">
                <a:latin typeface="Times New Roman" pitchFamily="18" charset="0"/>
                <a:cs typeface="Times New Roman" pitchFamily="18" charset="0"/>
              </a:rPr>
              <a:t>La caisse à outils :</a:t>
            </a:r>
            <a:endParaRPr lang="fr-FR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Espace réservé du contenu 6" descr="RÃ©sultat de recherche d'images pour &quot;pince a rivet&quot;"/>
          <p:cNvPicPr preferRelativeResize="0">
            <a:picLocks noGrp="1" noChangeAspect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4348" y="928670"/>
            <a:ext cx="3240000" cy="32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38" name="AutoShape 2" descr="https://www.vis-express.fr/img/cms/rivetage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57290" y="4143380"/>
            <a:ext cx="5706576" cy="25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3071802" y="2357430"/>
            <a:ext cx="5572164" cy="785818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fr-FR" sz="4000" b="1" dirty="0" smtClean="0"/>
              <a:t>Une pince à rivet</a:t>
            </a:r>
            <a:endParaRPr lang="fr-FR" sz="4000" b="1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12</a:t>
            </a:fld>
            <a:endParaRPr lang="fr-FR" dirty="0"/>
          </a:p>
        </p:txBody>
      </p:sp>
      <p:sp>
        <p:nvSpPr>
          <p:cNvPr id="8" name="Espace réservé du contenu 3"/>
          <p:cNvSpPr txBox="1">
            <a:spLocks/>
          </p:cNvSpPr>
          <p:nvPr/>
        </p:nvSpPr>
        <p:spPr>
          <a:xfrm>
            <a:off x="3929058" y="3214686"/>
            <a:ext cx="4643470" cy="785818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marL="274320" marR="0" lvl="0" indent="-27432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None/>
              <a:tabLst/>
              <a:defRPr/>
            </a:pPr>
            <a:r>
              <a:rPr kumimoji="0" lang="fr-FR" sz="4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Une riveteuse</a:t>
            </a:r>
            <a:endParaRPr kumimoji="0" lang="fr-FR" sz="4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 smtClean="0">
                <a:latin typeface="Times New Roman" pitchFamily="18" charset="0"/>
                <a:cs typeface="Times New Roman" pitchFamily="18" charset="0"/>
              </a:rPr>
              <a:t>La caisse à outils :</a:t>
            </a:r>
            <a:endParaRPr lang="fr-FR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357158" y="4000504"/>
            <a:ext cx="7858180" cy="785818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fr-FR" sz="4800" b="1" dirty="0" smtClean="0"/>
              <a:t>Une pince à bec plat</a:t>
            </a:r>
            <a:endParaRPr lang="fr-FR" sz="4800" b="1" dirty="0"/>
          </a:p>
        </p:txBody>
      </p:sp>
      <p:pic>
        <p:nvPicPr>
          <p:cNvPr id="7" name="Espace réservé du contenu 6" descr="RÃ©sultat de recherche d'images pour &quot;pince a bec&quot;"/>
          <p:cNvPicPr preferRelativeResize="0">
            <a:picLocks noGrp="1" noChangeAspect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1538" y="1500174"/>
            <a:ext cx="4320000" cy="18110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13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 smtClean="0">
                <a:latin typeface="Times New Roman" pitchFamily="18" charset="0"/>
                <a:cs typeface="Times New Roman" pitchFamily="18" charset="0"/>
              </a:rPr>
              <a:t>La caisse à outils :</a:t>
            </a:r>
            <a:endParaRPr lang="fr-FR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1214414" y="3857628"/>
            <a:ext cx="6572296" cy="78581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4800" b="1" dirty="0" smtClean="0"/>
              <a:t>Un tournevis plat</a:t>
            </a:r>
            <a:endParaRPr lang="fr-FR" sz="4800" b="1" dirty="0"/>
          </a:p>
        </p:txBody>
      </p:sp>
      <p:pic>
        <p:nvPicPr>
          <p:cNvPr id="7" name="Espace réservé du contenu 6" descr="RÃ©sultat de recherche d'images pour &quot;tournevis plat&quot;"/>
          <p:cNvPicPr preferRelativeResize="0">
            <a:picLocks noGrp="1" noChangeAspect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85852" y="2000240"/>
            <a:ext cx="4680000" cy="142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14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 smtClean="0">
                <a:latin typeface="Times New Roman" pitchFamily="18" charset="0"/>
                <a:cs typeface="Times New Roman" pitchFamily="18" charset="0"/>
              </a:rPr>
              <a:t>La caisse à outils :</a:t>
            </a:r>
            <a:endParaRPr lang="fr-FR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15</a:t>
            </a:fld>
            <a:endParaRPr lang="fr-FR" dirty="0"/>
          </a:p>
        </p:txBody>
      </p:sp>
      <p:pic>
        <p:nvPicPr>
          <p:cNvPr id="8" name="Espace réservé du contenu 7" descr="RÃ©sultat de recherche d'images pour &quot;tournevis cruciforme&quot;"/>
          <p:cNvPicPr preferRelativeResize="0"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2571736" y="1714488"/>
            <a:ext cx="4320000" cy="43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642910" y="2285992"/>
            <a:ext cx="7786742" cy="78581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4000" b="1" dirty="0" smtClean="0"/>
              <a:t>Un tournevis cruciforme</a:t>
            </a:r>
            <a:endParaRPr lang="fr-FR" sz="40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 smtClean="0">
                <a:latin typeface="Times New Roman" pitchFamily="18" charset="0"/>
                <a:cs typeface="Times New Roman" pitchFamily="18" charset="0"/>
              </a:rPr>
              <a:t>La caisse à outils :</a:t>
            </a:r>
            <a:endParaRPr lang="fr-FR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16</a:t>
            </a:fld>
            <a:endParaRPr lang="fr-FR" dirty="0"/>
          </a:p>
        </p:txBody>
      </p:sp>
      <p:pic>
        <p:nvPicPr>
          <p:cNvPr id="8" name="Espace réservé du contenu 7" descr="https://bruneau.media/OMM/Images_Basse_Definition/ZoomHD/53/50/53500.jpg?width=330&amp;height=330&amp;mode=Default&amp;quality=85&amp;scale=upscalecanvas"/>
          <p:cNvPicPr preferRelativeResize="0">
            <a:picLocks noGrp="1" noChangeAspect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596" y="1000108"/>
            <a:ext cx="4320000" cy="43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1571604" y="4071942"/>
            <a:ext cx="6943748" cy="785818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fr-FR" sz="4800" b="1" dirty="0" smtClean="0"/>
              <a:t>Un tournevis isolé</a:t>
            </a:r>
            <a:endParaRPr lang="fr-FR" sz="4800" b="1" dirty="0"/>
          </a:p>
        </p:txBody>
      </p:sp>
      <p:sp>
        <p:nvSpPr>
          <p:cNvPr id="9" name="Espace réservé du contenu 3"/>
          <p:cNvSpPr txBox="1">
            <a:spLocks/>
          </p:cNvSpPr>
          <p:nvPr/>
        </p:nvSpPr>
        <p:spPr>
          <a:xfrm>
            <a:off x="785786" y="5357826"/>
            <a:ext cx="6943748" cy="785818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marL="274320" marR="0" lvl="0" indent="-27432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None/>
              <a:tabLst/>
              <a:defRPr/>
            </a:pPr>
            <a:r>
              <a:rPr kumimoji="0" lang="fr-FR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Un tournevis d’ électricien</a:t>
            </a:r>
            <a:endParaRPr kumimoji="0" lang="fr-FR" sz="3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 smtClean="0">
                <a:latin typeface="Times New Roman" pitchFamily="18" charset="0"/>
                <a:cs typeface="Times New Roman" pitchFamily="18" charset="0"/>
              </a:rPr>
              <a:t>La caisse à outils :</a:t>
            </a:r>
            <a:endParaRPr lang="fr-FR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1357290" y="3929066"/>
            <a:ext cx="7072362" cy="78581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4800" b="1" dirty="0" smtClean="0"/>
              <a:t>Un tournevis étoile</a:t>
            </a:r>
            <a:endParaRPr lang="fr-FR" sz="4800" b="1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17</a:t>
            </a:fld>
            <a:endParaRPr lang="fr-FR" dirty="0"/>
          </a:p>
        </p:txBody>
      </p:sp>
      <p:pic>
        <p:nvPicPr>
          <p:cNvPr id="8" name="Espace réservé du contenu 7" descr="RÃ©sultat de recherche d'images pour &quot;tournevis torx&quot;"/>
          <p:cNvPicPr preferRelativeResize="0">
            <a:picLocks noGrp="1" noChangeAspect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4348" y="928670"/>
            <a:ext cx="3240000" cy="32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Espace réservé du contenu 3"/>
          <p:cNvSpPr txBox="1">
            <a:spLocks/>
          </p:cNvSpPr>
          <p:nvPr/>
        </p:nvSpPr>
        <p:spPr>
          <a:xfrm>
            <a:off x="642910" y="5072074"/>
            <a:ext cx="7072362" cy="785818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marL="274320" marR="0" lvl="0" indent="-27432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None/>
              <a:tabLst/>
              <a:defRPr/>
            </a:pPr>
            <a:r>
              <a:rPr kumimoji="0" lang="fr-FR" sz="4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Un tournevis </a:t>
            </a:r>
            <a:r>
              <a:rPr lang="fr-FR" sz="4800" b="1" noProof="0" dirty="0" smtClean="0"/>
              <a:t>t</a:t>
            </a:r>
            <a:r>
              <a:rPr kumimoji="0" lang="fr-FR" sz="4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orx</a:t>
            </a:r>
            <a:endParaRPr kumimoji="0" lang="fr-FR" sz="4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 smtClean="0">
                <a:latin typeface="Times New Roman" pitchFamily="18" charset="0"/>
                <a:cs typeface="Times New Roman" pitchFamily="18" charset="0"/>
              </a:rPr>
              <a:t>La caisse à outils :</a:t>
            </a:r>
            <a:endParaRPr lang="fr-FR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18</a:t>
            </a:fld>
            <a:endParaRPr lang="fr-FR" dirty="0"/>
          </a:p>
        </p:txBody>
      </p:sp>
      <p:pic>
        <p:nvPicPr>
          <p:cNvPr id="8" name="Espace réservé du contenu 7" descr="RÃ©sultat de recherche d'images pour &quot;clÃ©s plates&quot;"/>
          <p:cNvPicPr preferRelativeResize="0">
            <a:picLocks noGrp="1" noChangeAspect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4348" y="1071546"/>
            <a:ext cx="4320000" cy="43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2143108" y="1643050"/>
            <a:ext cx="6143668" cy="785818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fr-FR" sz="4800" b="1" dirty="0" smtClean="0"/>
              <a:t>Une clé plate</a:t>
            </a:r>
            <a:endParaRPr lang="fr-FR" sz="4800" b="1" dirty="0"/>
          </a:p>
        </p:txBody>
      </p:sp>
      <p:pic>
        <p:nvPicPr>
          <p:cNvPr id="8193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71934" y="4143380"/>
            <a:ext cx="2248303" cy="1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8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 smtClean="0">
                <a:latin typeface="Times New Roman" pitchFamily="18" charset="0"/>
                <a:cs typeface="Times New Roman" pitchFamily="18" charset="0"/>
              </a:rPr>
              <a:t>La caisse à outils :</a:t>
            </a:r>
            <a:endParaRPr lang="fr-FR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19</a:t>
            </a:fld>
            <a:endParaRPr lang="fr-FR" dirty="0"/>
          </a:p>
        </p:txBody>
      </p:sp>
      <p:pic>
        <p:nvPicPr>
          <p:cNvPr id="8" name="Espace réservé du contenu 7" descr="ClÃ© mixte mÃ©trique sÃ©rie 440 FACOM- plusieurs modÃ¨les disponibles"/>
          <p:cNvPicPr preferRelativeResize="0">
            <a:picLocks noGrp="1" noChangeAspect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4348" y="1214422"/>
            <a:ext cx="4320000" cy="43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2643174" y="3857628"/>
            <a:ext cx="5443550" cy="78581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4800" b="1" dirty="0" smtClean="0"/>
              <a:t>Une clé mixte</a:t>
            </a:r>
            <a:endParaRPr lang="fr-FR" sz="4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 smtClean="0">
                <a:latin typeface="Times New Roman" pitchFamily="18" charset="0"/>
                <a:cs typeface="Times New Roman" pitchFamily="18" charset="0"/>
              </a:rPr>
              <a:t>La caisse à outils :</a:t>
            </a:r>
            <a:endParaRPr lang="fr-FR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2285984" y="2428868"/>
            <a:ext cx="5857916" cy="78581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4800" b="1" dirty="0" smtClean="0"/>
              <a:t>Une clé à pipe</a:t>
            </a:r>
            <a:endParaRPr lang="fr-FR" sz="4800" b="1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20</a:t>
            </a:fld>
            <a:endParaRPr lang="fr-FR" dirty="0"/>
          </a:p>
        </p:txBody>
      </p:sp>
      <p:pic>
        <p:nvPicPr>
          <p:cNvPr id="8" name="Espace réservé du contenu 7" descr="RÃ©sultat de recherche d'images pour &quot;clÃ©s a pipe&quot;"/>
          <p:cNvPicPr preferRelativeResize="0">
            <a:picLocks noGrp="1" noChangeAspect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5786" y="142852"/>
            <a:ext cx="4320000" cy="43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5" name="Picture 1"/>
          <p:cNvPicPr preferRelativeResize="0"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85918" y="3429000"/>
            <a:ext cx="4947125" cy="25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 smtClean="0">
                <a:latin typeface="Times New Roman" pitchFamily="18" charset="0"/>
                <a:cs typeface="Times New Roman" pitchFamily="18" charset="0"/>
              </a:rPr>
              <a:t>La caisse à outils :</a:t>
            </a:r>
            <a:endParaRPr lang="fr-FR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2143108" y="4143380"/>
            <a:ext cx="6000792" cy="78581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4800" b="1" dirty="0" smtClean="0"/>
              <a:t>Une clé Allen</a:t>
            </a:r>
            <a:endParaRPr lang="fr-FR" sz="4800" b="1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21</a:t>
            </a:fld>
            <a:endParaRPr lang="fr-FR" dirty="0"/>
          </a:p>
        </p:txBody>
      </p:sp>
      <p:pic>
        <p:nvPicPr>
          <p:cNvPr id="8" name="Espace réservé du contenu 7" descr="Toolland Anneau de 8 clefs allen 2-10mm (1620-8)"/>
          <p:cNvPicPr preferRelativeResize="0">
            <a:picLocks noGrp="1" noChangeAspect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472" y="1214422"/>
            <a:ext cx="2880000" cy="28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 smtClean="0">
                <a:latin typeface="Times New Roman" pitchFamily="18" charset="0"/>
                <a:cs typeface="Times New Roman" pitchFamily="18" charset="0"/>
              </a:rPr>
              <a:t>La caisse à outils :</a:t>
            </a:r>
            <a:endParaRPr lang="fr-FR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714348" y="1142984"/>
            <a:ext cx="5786478" cy="78581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4800" b="1" dirty="0" smtClean="0"/>
              <a:t>Une clé à molette</a:t>
            </a:r>
            <a:endParaRPr lang="fr-FR" sz="4800" b="1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22</a:t>
            </a:fld>
            <a:endParaRPr lang="fr-FR" dirty="0"/>
          </a:p>
        </p:txBody>
      </p:sp>
      <p:pic>
        <p:nvPicPr>
          <p:cNvPr id="8" name="Espace réservé du contenu 7" descr="RÃ©sultat de recherche d'images pour &quot;clÃ©s Ã  molette&quot;"/>
          <p:cNvPicPr preferRelativeResize="0">
            <a:picLocks noGrp="1" noChangeAspect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57554" y="3357562"/>
            <a:ext cx="4320000" cy="2147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Espace réservé du contenu 3"/>
          <p:cNvSpPr txBox="1">
            <a:spLocks/>
          </p:cNvSpPr>
          <p:nvPr/>
        </p:nvSpPr>
        <p:spPr>
          <a:xfrm>
            <a:off x="571472" y="2571744"/>
            <a:ext cx="5786478" cy="785818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None/>
              <a:tabLst/>
              <a:defRPr/>
            </a:pPr>
            <a:r>
              <a:rPr kumimoji="0" lang="fr-FR" sz="4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Une clé anglaise</a:t>
            </a:r>
            <a:endParaRPr kumimoji="0" lang="fr-FR" sz="4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14942" y="857232"/>
            <a:ext cx="3240000" cy="22217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 smtClean="0">
                <a:latin typeface="Times New Roman" pitchFamily="18" charset="0"/>
                <a:cs typeface="Times New Roman" pitchFamily="18" charset="0"/>
              </a:rPr>
              <a:t>La caisse à outils :</a:t>
            </a:r>
            <a:endParaRPr lang="fr-FR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428596" y="3929066"/>
            <a:ext cx="6072230" cy="78581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4800" b="1" dirty="0" smtClean="0"/>
              <a:t>Une clé à cliquet</a:t>
            </a:r>
            <a:endParaRPr lang="fr-FR" sz="4800" b="1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23</a:t>
            </a:fld>
            <a:endParaRPr lang="fr-FR" dirty="0"/>
          </a:p>
        </p:txBody>
      </p:sp>
      <p:pic>
        <p:nvPicPr>
          <p:cNvPr id="8" name="Espace réservé du contenu 7" descr="RÃ©sultat de recherche d'images pour &quot;clÃ©s a cliquet&quot;"/>
          <p:cNvPicPr preferRelativeResize="0">
            <a:picLocks noGrp="1" noChangeAspect="1"/>
          </p:cNvPicPr>
          <p:nvPr>
            <p:ph sz="quarter"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8596" y="1000108"/>
            <a:ext cx="4790760" cy="28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Espace réservé du contenu 3"/>
          <p:cNvSpPr txBox="1">
            <a:spLocks/>
          </p:cNvSpPr>
          <p:nvPr/>
        </p:nvSpPr>
        <p:spPr>
          <a:xfrm>
            <a:off x="928662" y="5072074"/>
            <a:ext cx="6072230" cy="785818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None/>
              <a:tabLst/>
              <a:defRPr/>
            </a:pPr>
            <a:r>
              <a:rPr kumimoji="0" lang="fr-FR" sz="4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Une clé à douilles</a:t>
            </a:r>
            <a:endParaRPr kumimoji="0" lang="fr-FR" sz="4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 smtClean="0">
                <a:latin typeface="Times New Roman" pitchFamily="18" charset="0"/>
                <a:cs typeface="Times New Roman" pitchFamily="18" charset="0"/>
              </a:rPr>
              <a:t>La caisse à outils :</a:t>
            </a:r>
            <a:endParaRPr lang="fr-FR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24</a:t>
            </a:fld>
            <a:endParaRPr lang="fr-FR" dirty="0"/>
          </a:p>
        </p:txBody>
      </p:sp>
      <p:pic>
        <p:nvPicPr>
          <p:cNvPr id="8" name="Espace réservé du contenu 7" descr="Scie Ã  bÃ»che BAHCO, lame 760 mm"/>
          <p:cNvPicPr preferRelativeResize="0">
            <a:picLocks noGrp="1" noChangeAspect="1"/>
          </p:cNvPicPr>
          <p:nvPr>
            <p:ph sz="quarter"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7158" y="1071546"/>
            <a:ext cx="3600000" cy="36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1643042" y="1285860"/>
            <a:ext cx="5929354" cy="78581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4800" b="1" dirty="0" smtClean="0"/>
              <a:t>Une scie à buche</a:t>
            </a:r>
            <a:endParaRPr lang="fr-FR" sz="4800" b="1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29058" y="3071810"/>
            <a:ext cx="4112409" cy="36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 smtClean="0">
                <a:latin typeface="Times New Roman" pitchFamily="18" charset="0"/>
                <a:cs typeface="Times New Roman" pitchFamily="18" charset="0"/>
              </a:rPr>
              <a:t>La caisse à outils :</a:t>
            </a:r>
            <a:endParaRPr lang="fr-FR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25</a:t>
            </a:fld>
            <a:endParaRPr lang="fr-FR" dirty="0"/>
          </a:p>
        </p:txBody>
      </p:sp>
      <p:pic>
        <p:nvPicPr>
          <p:cNvPr id="8" name="Espace réservé du contenu 7" descr="RÃ©sultat de recherche d'images pour &quot;scie&quot;"/>
          <p:cNvPicPr preferRelativeResize="0">
            <a:picLocks noGrp="1" noChangeAspect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472" y="1571612"/>
            <a:ext cx="4320000" cy="43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2643174" y="1142984"/>
            <a:ext cx="5372112" cy="78581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4800" b="1" dirty="0" smtClean="0"/>
              <a:t>Une scie à bois</a:t>
            </a:r>
            <a:endParaRPr lang="fr-FR" sz="4800" b="1" dirty="0"/>
          </a:p>
        </p:txBody>
      </p:sp>
      <p:sp>
        <p:nvSpPr>
          <p:cNvPr id="9" name="Espace réservé du contenu 3"/>
          <p:cNvSpPr txBox="1">
            <a:spLocks/>
          </p:cNvSpPr>
          <p:nvPr/>
        </p:nvSpPr>
        <p:spPr>
          <a:xfrm>
            <a:off x="2857488" y="2357430"/>
            <a:ext cx="5372112" cy="785818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marL="274320" marR="0" lvl="0" indent="-27432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None/>
              <a:tabLst/>
              <a:defRPr/>
            </a:pPr>
            <a:r>
              <a:rPr kumimoji="0" lang="fr-FR" sz="4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Une égoïne</a:t>
            </a:r>
            <a:endParaRPr kumimoji="0" lang="fr-FR" sz="4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 smtClean="0">
                <a:latin typeface="Times New Roman" pitchFamily="18" charset="0"/>
                <a:cs typeface="Times New Roman" pitchFamily="18" charset="0"/>
              </a:rPr>
              <a:t>La caisse à outils :</a:t>
            </a:r>
            <a:endParaRPr lang="fr-FR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26</a:t>
            </a:fld>
            <a:endParaRPr lang="fr-FR" dirty="0"/>
          </a:p>
        </p:txBody>
      </p:sp>
      <p:pic>
        <p:nvPicPr>
          <p:cNvPr id="8" name="Espace réservé du contenu 7" descr="RÃ©sultat de recherche d'images pour &quot;scie&quot;"/>
          <p:cNvPicPr preferRelativeResize="0">
            <a:picLocks noGrp="1" noChangeAspect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6248" y="928670"/>
            <a:ext cx="4320000" cy="43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500034" y="4357694"/>
            <a:ext cx="6786610" cy="78581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4800" b="1" dirty="0" smtClean="0"/>
              <a:t>Une scie à métaux</a:t>
            </a:r>
            <a:endParaRPr lang="fr-FR" sz="4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 smtClean="0">
                <a:latin typeface="Times New Roman" pitchFamily="18" charset="0"/>
                <a:cs typeface="Times New Roman" pitchFamily="18" charset="0"/>
              </a:rPr>
              <a:t>La caisse à outils :</a:t>
            </a:r>
            <a:endParaRPr lang="fr-FR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27</a:t>
            </a:fld>
            <a:endParaRPr lang="fr-FR" dirty="0"/>
          </a:p>
        </p:txBody>
      </p:sp>
      <p:pic>
        <p:nvPicPr>
          <p:cNvPr id="8" name="Espace réservé du contenu 7" descr="RÃ©sultat de recherche d'images pour &quot;scie circulaire&quot;"/>
          <p:cNvPicPr preferRelativeResize="0">
            <a:picLocks noGrp="1" noChangeAspect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472" y="928670"/>
            <a:ext cx="4320000" cy="43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714348" y="5000636"/>
            <a:ext cx="6929486" cy="78581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4800" b="1" dirty="0" smtClean="0"/>
              <a:t>Une scie circulaire</a:t>
            </a:r>
            <a:endParaRPr lang="fr-FR" sz="4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 smtClean="0">
                <a:latin typeface="Times New Roman" pitchFamily="18" charset="0"/>
                <a:cs typeface="Times New Roman" pitchFamily="18" charset="0"/>
              </a:rPr>
              <a:t>La caisse à outils :</a:t>
            </a:r>
            <a:endParaRPr lang="fr-FR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714348" y="5500702"/>
            <a:ext cx="7358114" cy="78581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4800" b="1" dirty="0" smtClean="0"/>
              <a:t>Une scie sauteuse</a:t>
            </a:r>
            <a:endParaRPr lang="fr-FR" sz="4800" b="1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28</a:t>
            </a:fld>
            <a:endParaRPr lang="fr-FR" dirty="0"/>
          </a:p>
        </p:txBody>
      </p:sp>
      <p:pic>
        <p:nvPicPr>
          <p:cNvPr id="8" name="Espace réservé du contenu 7" descr="RÃ©sultat de recherche d'images pour &quot;scie sauteuse&quot;"/>
          <p:cNvPicPr preferRelativeResize="0">
            <a:picLocks noGrp="1" noChangeAspect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43174" y="857232"/>
            <a:ext cx="4502172" cy="43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 smtClean="0">
                <a:latin typeface="Times New Roman" pitchFamily="18" charset="0"/>
                <a:cs typeface="Times New Roman" pitchFamily="18" charset="0"/>
              </a:rPr>
              <a:t>La caisse à outils :</a:t>
            </a:r>
            <a:endParaRPr lang="fr-FR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642910" y="4857760"/>
            <a:ext cx="7643866" cy="78581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4800" b="1" dirty="0" smtClean="0"/>
              <a:t>Une scie à onglet</a:t>
            </a:r>
            <a:endParaRPr lang="fr-FR" sz="4800" b="1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29</a:t>
            </a:fld>
            <a:endParaRPr lang="fr-FR" dirty="0"/>
          </a:p>
        </p:txBody>
      </p:sp>
      <p:pic>
        <p:nvPicPr>
          <p:cNvPr id="8" name="Espace réservé du contenu 7" descr="RÃ©sultat de recherche d'images pour &quot;scie a onglet&quot;"/>
          <p:cNvPicPr preferRelativeResize="0">
            <a:picLocks noGrp="1" noChangeAspect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7158" y="785794"/>
            <a:ext cx="3600000" cy="36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4" name="Picture 2"/>
          <p:cNvPicPr preferRelativeResize="0"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71934" y="1000108"/>
            <a:ext cx="4547368" cy="36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 smtClean="0">
                <a:latin typeface="Times New Roman" pitchFamily="18" charset="0"/>
                <a:cs typeface="Times New Roman" pitchFamily="18" charset="0"/>
              </a:rPr>
              <a:t>La caisse à outils :</a:t>
            </a:r>
            <a:endParaRPr lang="fr-FR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3500430" y="4643446"/>
            <a:ext cx="5143536" cy="78581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4800" b="1" dirty="0" smtClean="0"/>
              <a:t>Une scie cloche</a:t>
            </a:r>
            <a:endParaRPr lang="fr-FR" sz="4800" b="1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30</a:t>
            </a:fld>
            <a:endParaRPr lang="fr-FR" dirty="0"/>
          </a:p>
        </p:txBody>
      </p:sp>
      <p:pic>
        <p:nvPicPr>
          <p:cNvPr id="8" name="Espace réservé du contenu 7" descr="RÃ©sultat de recherche d'images pour &quot;scie cloche&quot;"/>
          <p:cNvPicPr preferRelativeResize="0"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571472" y="1000108"/>
            <a:ext cx="3600000" cy="36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8" name="Picture 2"/>
          <p:cNvPicPr preferRelativeResize="0"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57752" y="928670"/>
            <a:ext cx="3600000" cy="3733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 preferRelativeResize="0"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42910" y="4643446"/>
            <a:ext cx="2420764" cy="21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 smtClean="0">
                <a:latin typeface="Times New Roman" pitchFamily="18" charset="0"/>
                <a:cs typeface="Times New Roman" pitchFamily="18" charset="0"/>
              </a:rPr>
              <a:t>La caisse à outils :</a:t>
            </a:r>
            <a:endParaRPr lang="fr-FR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1071538" y="5572140"/>
            <a:ext cx="5643602" cy="78581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4800" b="1" dirty="0" smtClean="0"/>
              <a:t>Une scie à ruban</a:t>
            </a:r>
            <a:endParaRPr lang="fr-FR" sz="4800" b="1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31</a:t>
            </a:fld>
            <a:endParaRPr lang="fr-FR" dirty="0"/>
          </a:p>
        </p:txBody>
      </p:sp>
      <p:pic>
        <p:nvPicPr>
          <p:cNvPr id="8" name="Espace réservé du contenu 7" descr="MBS 240/E - Micro-scie Ã  ruban HT de coupe max 85 mm table 220 x 200 mm"/>
          <p:cNvPicPr preferRelativeResize="0">
            <a:picLocks noGrp="1" noChangeAspect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20" y="1142984"/>
            <a:ext cx="4320000" cy="43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14876" y="928670"/>
            <a:ext cx="3600000" cy="46294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 smtClean="0">
                <a:latin typeface="Times New Roman" pitchFamily="18" charset="0"/>
                <a:cs typeface="Times New Roman" pitchFamily="18" charset="0"/>
              </a:rPr>
              <a:t>La caisse à outils :</a:t>
            </a:r>
            <a:endParaRPr lang="fr-FR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32</a:t>
            </a:fld>
            <a:endParaRPr lang="fr-FR" dirty="0"/>
          </a:p>
        </p:txBody>
      </p:sp>
      <p:pic>
        <p:nvPicPr>
          <p:cNvPr id="8" name="Espace réservé du contenu 7" descr="Bosch Professional GWS 22-230 JH Professional Meuleuse Angulaire (Poignée  Supplémentaire, Capot de Protection, Carton, Diamètre de Disque : 230 mm,  2200 W): Amazon.fr: Bricolage"/>
          <p:cNvPicPr>
            <a:picLocks noGrp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5786" y="1142984"/>
            <a:ext cx="39600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Espace réservé du contenu 3"/>
          <p:cNvSpPr txBox="1">
            <a:spLocks/>
          </p:cNvSpPr>
          <p:nvPr/>
        </p:nvSpPr>
        <p:spPr>
          <a:xfrm>
            <a:off x="2000232" y="2857496"/>
            <a:ext cx="6443682" cy="785818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None/>
              <a:tabLst/>
              <a:defRPr/>
            </a:pPr>
            <a:r>
              <a:rPr kumimoji="0" lang="fr-FR" sz="4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Une </a:t>
            </a:r>
            <a:r>
              <a:rPr kumimoji="0" lang="fr-FR" sz="48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disqueuse</a:t>
            </a:r>
            <a:endParaRPr kumimoji="0" lang="fr-FR" sz="4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3428992" y="1928802"/>
            <a:ext cx="5214974" cy="78581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4800" b="1" dirty="0" smtClean="0"/>
              <a:t>Une meuleuse</a:t>
            </a:r>
            <a:endParaRPr lang="fr-FR" sz="4800" b="1" dirty="0"/>
          </a:p>
        </p:txBody>
      </p:sp>
      <p:pic>
        <p:nvPicPr>
          <p:cNvPr id="6146" name="Picture 2"/>
          <p:cNvPicPr preferRelativeResize="0"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14414" y="4071942"/>
            <a:ext cx="3240000" cy="22719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4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 smtClean="0">
                <a:latin typeface="Times New Roman" pitchFamily="18" charset="0"/>
                <a:cs typeface="Times New Roman" pitchFamily="18" charset="0"/>
              </a:rPr>
              <a:t>La caisse à outils :</a:t>
            </a:r>
            <a:endParaRPr lang="fr-FR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1714480" y="5643578"/>
            <a:ext cx="6357982" cy="78581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4800" b="1" dirty="0" smtClean="0"/>
              <a:t>Une </a:t>
            </a:r>
            <a:r>
              <a:rPr lang="fr-FR" sz="4800" b="1" dirty="0" err="1" smtClean="0"/>
              <a:t>rainureuse</a:t>
            </a:r>
            <a:endParaRPr lang="fr-FR" sz="4800" b="1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33</a:t>
            </a:fld>
            <a:endParaRPr lang="fr-FR" dirty="0"/>
          </a:p>
        </p:txBody>
      </p:sp>
      <p:pic>
        <p:nvPicPr>
          <p:cNvPr id="8" name="Espace réservé du contenu 7" descr="Rainureuse à béton 1700 W fraise cannelure de mur 150 mm Rainureuse beton:  Amazon.fr: Bricolage"/>
          <p:cNvPicPr preferRelativeResize="0">
            <a:picLocks noGrp="1" noChangeAspect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596" y="1214422"/>
            <a:ext cx="4403074" cy="43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0" name="Picture 2"/>
          <p:cNvPicPr preferRelativeResize="0"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00628" y="2571744"/>
            <a:ext cx="3600000" cy="2088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 smtClean="0">
                <a:latin typeface="Times New Roman" pitchFamily="18" charset="0"/>
                <a:cs typeface="Times New Roman" pitchFamily="18" charset="0"/>
              </a:rPr>
              <a:t>La caisse à outils :</a:t>
            </a:r>
            <a:endParaRPr lang="fr-FR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785786" y="5000636"/>
            <a:ext cx="4229104" cy="78581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4800" b="1" dirty="0" smtClean="0"/>
              <a:t>Un touret</a:t>
            </a:r>
            <a:endParaRPr lang="fr-FR" sz="4800" b="1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34</a:t>
            </a:fld>
            <a:endParaRPr lang="fr-FR" dirty="0"/>
          </a:p>
        </p:txBody>
      </p:sp>
      <p:pic>
        <p:nvPicPr>
          <p:cNvPr id="8" name="Espace réservé du contenu 7" descr="https://encrypted-tbn0.gstatic.com/images?q=tbn%3AANd9GcRNPmEn56fnRk_zNziRcSaI9UT6-vZAcbN2oJGCTymIdNmHj_arQAHTllzjyIsmAbEYHpc67Mc&amp;usqp=CAc"/>
          <p:cNvPicPr preferRelativeResize="0">
            <a:picLocks noGrp="1" noChangeAspect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472" y="1142984"/>
            <a:ext cx="3600000" cy="36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14876" y="1643050"/>
            <a:ext cx="3133725" cy="2105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 smtClean="0">
                <a:latin typeface="Times New Roman" pitchFamily="18" charset="0"/>
                <a:cs typeface="Times New Roman" pitchFamily="18" charset="0"/>
              </a:rPr>
              <a:t>La caisse à outils :</a:t>
            </a:r>
            <a:endParaRPr lang="fr-FR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35</a:t>
            </a:fld>
            <a:endParaRPr lang="fr-FR" dirty="0"/>
          </a:p>
        </p:txBody>
      </p:sp>
      <p:pic>
        <p:nvPicPr>
          <p:cNvPr id="8" name="Espace réservé du contenu 7" descr="Fer Ã  souder 40 W - 40 W"/>
          <p:cNvPicPr preferRelativeResize="0">
            <a:picLocks noGrp="1" noChangeAspect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596" y="857232"/>
            <a:ext cx="3600000" cy="36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18" name="Picture 2"/>
          <p:cNvPicPr preferRelativeResize="0"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43372" y="857232"/>
            <a:ext cx="3960000" cy="49623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1071538" y="5643578"/>
            <a:ext cx="6215106" cy="78581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4800" b="1" dirty="0" smtClean="0"/>
              <a:t>Un fer à souder</a:t>
            </a:r>
            <a:endParaRPr lang="fr-FR" sz="4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 smtClean="0">
                <a:latin typeface="Times New Roman" pitchFamily="18" charset="0"/>
                <a:cs typeface="Times New Roman" pitchFamily="18" charset="0"/>
              </a:rPr>
              <a:t>La caisse à outils :</a:t>
            </a:r>
            <a:endParaRPr lang="fr-FR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714348" y="4786322"/>
            <a:ext cx="7858180" cy="78581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4800" b="1" dirty="0" smtClean="0"/>
              <a:t>Une station de soudure</a:t>
            </a:r>
            <a:endParaRPr lang="fr-FR" sz="4800" b="1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36</a:t>
            </a:fld>
            <a:endParaRPr lang="fr-FR" dirty="0"/>
          </a:p>
        </p:txBody>
      </p:sp>
      <p:pic>
        <p:nvPicPr>
          <p:cNvPr id="8" name="Espace réservé du contenu 7" descr="STATION DE SOUDAGE REGLABLE 48W 150 - 450oC - VTSS4N"/>
          <p:cNvPicPr preferRelativeResize="0">
            <a:picLocks noGrp="1" noChangeAspect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472" y="1000108"/>
            <a:ext cx="3600000" cy="36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57752" y="1214422"/>
            <a:ext cx="3000375" cy="3400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 smtClean="0">
                <a:latin typeface="Times New Roman" pitchFamily="18" charset="0"/>
                <a:cs typeface="Times New Roman" pitchFamily="18" charset="0"/>
              </a:rPr>
              <a:t>La caisse à outils :</a:t>
            </a:r>
            <a:endParaRPr lang="fr-FR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642910" y="5715016"/>
            <a:ext cx="6786610" cy="78581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4800" b="1" dirty="0" smtClean="0"/>
              <a:t>Un poste à souder</a:t>
            </a:r>
            <a:endParaRPr lang="fr-FR" sz="4800" b="1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37</a:t>
            </a:fld>
            <a:endParaRPr lang="fr-FR" dirty="0"/>
          </a:p>
        </p:txBody>
      </p:sp>
      <p:pic>
        <p:nvPicPr>
          <p:cNvPr id="8" name="Espace réservé du contenu 7" descr="RÃ©sultat de recherche d'images pour &quot;materiel a souder&quot;"/>
          <p:cNvPicPr preferRelativeResize="0">
            <a:picLocks noGrp="1" noChangeAspect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472" y="1142984"/>
            <a:ext cx="3240000" cy="32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71934" y="2357430"/>
            <a:ext cx="4638675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 smtClean="0">
                <a:latin typeface="Times New Roman" pitchFamily="18" charset="0"/>
                <a:cs typeface="Times New Roman" pitchFamily="18" charset="0"/>
              </a:rPr>
              <a:t>La caisse à outils :</a:t>
            </a:r>
            <a:endParaRPr lang="fr-FR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357158" y="5572140"/>
            <a:ext cx="7715304" cy="78581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4800" b="1" dirty="0" smtClean="0"/>
              <a:t>Une pompe à dessouder</a:t>
            </a:r>
            <a:endParaRPr lang="fr-FR" sz="4800" b="1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38</a:t>
            </a:fld>
            <a:endParaRPr lang="fr-FR" dirty="0"/>
          </a:p>
        </p:txBody>
      </p:sp>
      <p:pic>
        <p:nvPicPr>
          <p:cNvPr id="8" name="Espace réservé du contenu 7" descr="RÃ©sultat de recherche d'images pour &quot;pompe Ã  dessouder&quot;"/>
          <p:cNvPicPr preferRelativeResize="0">
            <a:picLocks noGrp="1" noChangeAspect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282" y="1000108"/>
            <a:ext cx="3600000" cy="25595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0" name="Picture 2"/>
          <p:cNvPicPr preferRelativeResize="0"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86116" y="785797"/>
            <a:ext cx="4860000" cy="49032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 smtClean="0">
                <a:latin typeface="Times New Roman" pitchFamily="18" charset="0"/>
                <a:cs typeface="Times New Roman" pitchFamily="18" charset="0"/>
              </a:rPr>
              <a:t>La caisse à outils :</a:t>
            </a:r>
            <a:endParaRPr lang="fr-FR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1071538" y="4786322"/>
            <a:ext cx="7358114" cy="78581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4800" b="1" dirty="0" smtClean="0"/>
              <a:t>Une bobine d’étain</a:t>
            </a:r>
            <a:endParaRPr lang="fr-FR" sz="4800" b="1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39</a:t>
            </a:fld>
            <a:endParaRPr lang="fr-FR" dirty="0"/>
          </a:p>
        </p:txBody>
      </p:sp>
      <p:pic>
        <p:nvPicPr>
          <p:cNvPr id="8" name="Espace réservé du contenu 7" descr="RÃ©sultat de recherche d'images pour &quot;etain&quot;"/>
          <p:cNvPicPr preferRelativeResize="0">
            <a:picLocks noGrp="1" noChangeAspect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4348" y="1571612"/>
            <a:ext cx="2880000" cy="28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 smtClean="0">
                <a:latin typeface="Times New Roman" pitchFamily="18" charset="0"/>
                <a:cs typeface="Times New Roman" pitchFamily="18" charset="0"/>
              </a:rPr>
              <a:t>La caisse à outils :</a:t>
            </a:r>
            <a:endParaRPr lang="fr-FR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571472" y="4429132"/>
            <a:ext cx="7429552" cy="78581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4800" b="1" dirty="0" smtClean="0"/>
              <a:t>Tresse à dessouder</a:t>
            </a:r>
            <a:endParaRPr lang="fr-FR" sz="4800" b="1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40</a:t>
            </a:fld>
            <a:endParaRPr lang="fr-FR" dirty="0"/>
          </a:p>
        </p:txBody>
      </p:sp>
      <p:pic>
        <p:nvPicPr>
          <p:cNvPr id="8" name="Espace réservé du contenu 7" descr="RÃ©sultat de recherche d'images pour &quot;pompe Ã  dessouder&quot;"/>
          <p:cNvPicPr preferRelativeResize="0">
            <a:picLocks noGrp="1" noChangeAspect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472" y="1000108"/>
            <a:ext cx="2880000" cy="28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4" name="Picture 2"/>
          <p:cNvPicPr preferRelativeResize="0"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00496" y="1857359"/>
            <a:ext cx="3600000" cy="21766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 smtClean="0">
                <a:latin typeface="Times New Roman" pitchFamily="18" charset="0"/>
                <a:cs typeface="Times New Roman" pitchFamily="18" charset="0"/>
              </a:rPr>
              <a:t>La caisse à outils :</a:t>
            </a:r>
            <a:endParaRPr lang="fr-FR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41</a:t>
            </a:fld>
            <a:endParaRPr lang="fr-FR" dirty="0"/>
          </a:p>
        </p:txBody>
      </p:sp>
      <p:pic>
        <p:nvPicPr>
          <p:cNvPr id="8" name="Espace réservé du contenu 7" descr="multitesteur digital 600v - 730660325 - profile"/>
          <p:cNvPicPr preferRelativeResize="0">
            <a:picLocks noGrp="1" noChangeAspect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282" y="1071546"/>
            <a:ext cx="2880000" cy="28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2714612" y="1071546"/>
            <a:ext cx="5786478" cy="78581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4800" b="1" dirty="0" smtClean="0"/>
              <a:t>Un multimètre</a:t>
            </a:r>
            <a:endParaRPr lang="fr-FR" sz="4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 smtClean="0">
                <a:latin typeface="Times New Roman" pitchFamily="18" charset="0"/>
                <a:cs typeface="Times New Roman" pitchFamily="18" charset="0"/>
              </a:rPr>
              <a:t>La caisse à outils :</a:t>
            </a:r>
            <a:endParaRPr lang="fr-FR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1000100" y="4500570"/>
            <a:ext cx="6357982" cy="78581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4800" b="1" dirty="0" smtClean="0"/>
              <a:t>Un oscilloscope</a:t>
            </a:r>
            <a:endParaRPr lang="fr-FR" sz="4800" b="1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42</a:t>
            </a:fld>
            <a:endParaRPr lang="fr-FR" dirty="0"/>
          </a:p>
        </p:txBody>
      </p:sp>
      <p:pic>
        <p:nvPicPr>
          <p:cNvPr id="8" name="Espace réservé du contenu 7" descr="RÃ©sultat de recherche d'images pour &quot;oscilloscope&quot;"/>
          <p:cNvPicPr preferRelativeResize="0">
            <a:picLocks noGrp="1" noChangeAspect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472" y="1214422"/>
            <a:ext cx="4320000" cy="2940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 smtClean="0">
                <a:latin typeface="Times New Roman" pitchFamily="18" charset="0"/>
                <a:cs typeface="Times New Roman" pitchFamily="18" charset="0"/>
              </a:rPr>
              <a:t>La caisse à outils :</a:t>
            </a:r>
            <a:endParaRPr lang="fr-FR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285720" y="5286388"/>
            <a:ext cx="7786742" cy="78581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4800" b="1" dirty="0" smtClean="0"/>
              <a:t>Un mesureur de champ</a:t>
            </a:r>
            <a:endParaRPr lang="fr-FR" sz="4800" b="1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43</a:t>
            </a:fld>
            <a:endParaRPr lang="fr-FR" dirty="0"/>
          </a:p>
        </p:txBody>
      </p:sp>
      <p:pic>
        <p:nvPicPr>
          <p:cNvPr id="8" name="Espace réservé du contenu 7" descr="RÃ©sultat de recherche d'images pour &quot;mesureur de champ&quot;"/>
          <p:cNvPicPr preferRelativeResize="0">
            <a:picLocks noGrp="1" noChangeAspect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28662" y="1000108"/>
            <a:ext cx="3600000" cy="3738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86380" y="1214422"/>
            <a:ext cx="2905125" cy="347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 smtClean="0">
                <a:latin typeface="Times New Roman" pitchFamily="18" charset="0"/>
                <a:cs typeface="Times New Roman" pitchFamily="18" charset="0"/>
              </a:rPr>
              <a:t>La caisse à outils :</a:t>
            </a:r>
            <a:endParaRPr lang="fr-FR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142844" y="5000636"/>
            <a:ext cx="8501122" cy="78581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4000" b="1" dirty="0" smtClean="0"/>
              <a:t>Une pince </a:t>
            </a:r>
            <a:r>
              <a:rPr lang="fr-FR" sz="4000" b="1" dirty="0" err="1" smtClean="0"/>
              <a:t>ampèremétrique</a:t>
            </a:r>
            <a:endParaRPr lang="fr-FR" sz="4000" b="1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44</a:t>
            </a:fld>
            <a:endParaRPr lang="fr-FR" dirty="0"/>
          </a:p>
        </p:txBody>
      </p:sp>
      <p:pic>
        <p:nvPicPr>
          <p:cNvPr id="8" name="Espace réservé du contenu 7" descr="RÃ©sultat de recherche d'images pour &quot;pince amperemetrique&quot;"/>
          <p:cNvPicPr preferRelativeResize="0">
            <a:picLocks noGrp="1" noChangeAspect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596" y="1071546"/>
            <a:ext cx="2880000" cy="28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86182" y="1643050"/>
            <a:ext cx="4320000" cy="26965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1115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fr-FR" b="1" dirty="0" smtClean="0">
                <a:latin typeface="Times New Roman" pitchFamily="18" charset="0"/>
                <a:cs typeface="Times New Roman" pitchFamily="18" charset="0"/>
              </a:rPr>
              <a:t>La caisse à outils :</a:t>
            </a:r>
            <a:endParaRPr lang="fr-FR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4000496" y="2928934"/>
            <a:ext cx="4229104" cy="78581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4800" b="1" dirty="0" smtClean="0"/>
              <a:t>Fin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DD742-F910-4470-B3DB-7B068CDD9AEC}" type="slidenum">
              <a:rPr lang="fr-FR" smtClean="0"/>
              <a:pPr/>
              <a:t>45</a:t>
            </a:fld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233</TotalTime>
  <Words>446</Words>
  <Application>Microsoft Office PowerPoint</Application>
  <PresentationFormat>Affichage à l'écran (4:3)</PresentationFormat>
  <Paragraphs>144</Paragraphs>
  <Slides>45</Slides>
  <Notes>1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45</vt:i4>
      </vt:variant>
    </vt:vector>
  </HeadingPairs>
  <TitlesOfParts>
    <vt:vector size="46" baseType="lpstr">
      <vt:lpstr>Oriel</vt:lpstr>
      <vt:lpstr>Séance 4 : La caisse à outils :</vt:lpstr>
      <vt:lpstr>La caisse à outils :</vt:lpstr>
      <vt:lpstr>La caisse à outils :</vt:lpstr>
      <vt:lpstr>La caisse à outils :</vt:lpstr>
      <vt:lpstr>La caisse à outils :</vt:lpstr>
      <vt:lpstr>La caisse à outils :</vt:lpstr>
      <vt:lpstr>La caisse à outils :</vt:lpstr>
      <vt:lpstr>La caisse à outils :</vt:lpstr>
      <vt:lpstr>La caisse à outils :</vt:lpstr>
      <vt:lpstr>La caisse à outils :</vt:lpstr>
      <vt:lpstr>La caisse à outils :</vt:lpstr>
      <vt:lpstr>La caisse à outils :</vt:lpstr>
      <vt:lpstr>La caisse à outils :</vt:lpstr>
      <vt:lpstr>La caisse à outils :</vt:lpstr>
      <vt:lpstr>La caisse à outils :</vt:lpstr>
      <vt:lpstr>La caisse à outils :</vt:lpstr>
      <vt:lpstr>La caisse à outils :</vt:lpstr>
      <vt:lpstr>La caisse à outils :</vt:lpstr>
      <vt:lpstr>La caisse à outils :</vt:lpstr>
      <vt:lpstr>La caisse à outils :</vt:lpstr>
      <vt:lpstr>La caisse à outils :</vt:lpstr>
      <vt:lpstr>La caisse à outils :</vt:lpstr>
      <vt:lpstr>La caisse à outils :</vt:lpstr>
      <vt:lpstr>La caisse à outils :</vt:lpstr>
      <vt:lpstr>La caisse à outils :</vt:lpstr>
      <vt:lpstr>La caisse à outils :</vt:lpstr>
      <vt:lpstr>La caisse à outils :</vt:lpstr>
      <vt:lpstr>La caisse à outils :</vt:lpstr>
      <vt:lpstr>La caisse à outils :</vt:lpstr>
      <vt:lpstr>La caisse à outils :</vt:lpstr>
      <vt:lpstr>La caisse à outils :</vt:lpstr>
      <vt:lpstr>La caisse à outils :</vt:lpstr>
      <vt:lpstr>La caisse à outils :</vt:lpstr>
      <vt:lpstr>La caisse à outils :</vt:lpstr>
      <vt:lpstr>La caisse à outils :</vt:lpstr>
      <vt:lpstr>La caisse à outils :</vt:lpstr>
      <vt:lpstr>La caisse à outils :</vt:lpstr>
      <vt:lpstr>La caisse à outils :</vt:lpstr>
      <vt:lpstr>La caisse à outils :</vt:lpstr>
      <vt:lpstr>La caisse à outils :</vt:lpstr>
      <vt:lpstr>La caisse à outils :</vt:lpstr>
      <vt:lpstr>La caisse à outils :</vt:lpstr>
      <vt:lpstr>La caisse à outils :</vt:lpstr>
      <vt:lpstr>La caisse à outils :</vt:lpstr>
      <vt:lpstr>La caisse à outils :</vt:lpstr>
    </vt:vector>
  </TitlesOfParts>
  <Company>Région Occitanie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caisse à outils :</dc:title>
  <dc:creator>patrick.fontan</dc:creator>
  <cp:lastModifiedBy>patrick.fontan</cp:lastModifiedBy>
  <cp:revision>27</cp:revision>
  <dcterms:created xsi:type="dcterms:W3CDTF">2021-09-18T15:58:16Z</dcterms:created>
  <dcterms:modified xsi:type="dcterms:W3CDTF">2023-09-05T19:23:35Z</dcterms:modified>
</cp:coreProperties>
</file>