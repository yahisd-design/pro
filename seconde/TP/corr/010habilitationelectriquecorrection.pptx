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2" r:id="rId3"/>
    <p:sldId id="263" r:id="rId4"/>
    <p:sldId id="264" r:id="rId5"/>
    <p:sldId id="265" r:id="rId6"/>
    <p:sldId id="266" r:id="rId7"/>
    <p:sldId id="267" r:id="rId8"/>
    <p:sldId id="268" r:id="rId9"/>
    <p:sldId id="269" r:id="rId10"/>
    <p:sldId id="272" r:id="rId11"/>
    <p:sldId id="270" r:id="rId12"/>
    <p:sldId id="271" r:id="rId13"/>
    <p:sldId id="273" r:id="rId14"/>
    <p:sldId id="274" r:id="rId15"/>
    <p:sldId id="276" r:id="rId16"/>
    <p:sldId id="277" r:id="rId17"/>
    <p:sldId id="284" r:id="rId18"/>
    <p:sldId id="285" r:id="rId19"/>
    <p:sldId id="286" r:id="rId20"/>
    <p:sldId id="287" r:id="rId21"/>
    <p:sldId id="288" r:id="rId22"/>
    <p:sldId id="279" r:id="rId23"/>
    <p:sldId id="280" r:id="rId24"/>
    <p:sldId id="290" r:id="rId25"/>
    <p:sldId id="282" r:id="rId26"/>
    <p:sldId id="283"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000000"/>
    <a:srgbClr val="385D8A"/>
  </p:clrMru>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740" y="-6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855A89-19E1-4DBD-83A6-FB7F04C411E2}" type="datetimeFigureOut">
              <a:rPr lang="fr-FR" smtClean="0"/>
              <a:pPr/>
              <a:t>24/03/2022</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F719BB-D0CE-450F-A9B8-8747005E532E}"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3</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4</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5</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6</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7</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8</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9</a:t>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10</a:t>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11</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12</a:t>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13</a:t>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14</a:t>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15</a:t>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16</a:t>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17</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18</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19</a:t>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20</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21</a:t>
            </a:fld>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22</a:t>
            </a:fld>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23</a:t>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24</a:t>
            </a:fld>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25</a:t>
            </a:fld>
            <a:endParaRPr lang="fr-F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32F719BB-D0CE-450F-A9B8-8747005E532E}" type="slidenum">
              <a:rPr lang="fr-FR" smtClean="0"/>
              <a:pPr/>
              <a:t>26</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291B586-478F-41D4-80B6-70288D2F6DB8}" type="datetimeFigureOut">
              <a:rPr lang="fr-FR" smtClean="0"/>
              <a:pPr/>
              <a:t>24/03/2022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77A376-F35F-44C8-90BC-D020E32BD290}"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1B586-478F-41D4-80B6-70288D2F6DB8}" type="datetimeFigureOut">
              <a:rPr lang="fr-FR" smtClean="0"/>
              <a:pPr/>
              <a:t>24/03/2022</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77A376-F35F-44C8-90BC-D020E32BD290}"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rot="20062839">
            <a:off x="497230" y="3092777"/>
            <a:ext cx="7772400" cy="1185791"/>
          </a:xfrm>
          <a:solidFill>
            <a:srgbClr val="FF0000"/>
          </a:solidFill>
          <a:ln w="57150">
            <a:solidFill>
              <a:schemeClr val="tx1"/>
            </a:solidFill>
          </a:ln>
        </p:spPr>
        <p:txBody>
          <a:bodyPr/>
          <a:lstStyle/>
          <a:p>
            <a:r>
              <a:rPr lang="fr-FR" dirty="0" smtClean="0"/>
              <a:t>Habilitation électrique:</a:t>
            </a:r>
            <a:endParaRPr lang="fr-FR" dirty="0"/>
          </a:p>
        </p:txBody>
      </p:sp>
      <p:pic>
        <p:nvPicPr>
          <p:cNvPr id="18434" name="Picture 2" descr="http://ecolemlb.joueb.com/images/electrocution.gif"/>
          <p:cNvPicPr>
            <a:picLocks noChangeAspect="1" noChangeArrowheads="1"/>
          </p:cNvPicPr>
          <p:nvPr/>
        </p:nvPicPr>
        <p:blipFill>
          <a:blip r:embed="rId3" cstate="print"/>
          <a:srcRect/>
          <a:stretch>
            <a:fillRect/>
          </a:stretch>
        </p:blipFill>
        <p:spPr bwMode="auto">
          <a:xfrm>
            <a:off x="5357818" y="3429000"/>
            <a:ext cx="2581275" cy="2800350"/>
          </a:xfrm>
          <a:prstGeom prst="rect">
            <a:avLst/>
          </a:prstGeom>
          <a:noFill/>
        </p:spPr>
      </p:pic>
      <p:pic>
        <p:nvPicPr>
          <p:cNvPr id="18436" name="Picture 4" descr="http://ecolemlb.joueb.com/images/gif_20electrocution.gif"/>
          <p:cNvPicPr>
            <a:picLocks noChangeAspect="1" noChangeArrowheads="1" noCrop="1"/>
          </p:cNvPicPr>
          <p:nvPr/>
        </p:nvPicPr>
        <p:blipFill>
          <a:blip r:embed="rId4" cstate="print"/>
          <a:srcRect/>
          <a:stretch>
            <a:fillRect/>
          </a:stretch>
        </p:blipFill>
        <p:spPr bwMode="auto">
          <a:xfrm>
            <a:off x="857224" y="500041"/>
            <a:ext cx="2286016" cy="243232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par>
                          <p:cTn id="9" fill="hold">
                            <p:stCondLst>
                              <p:cond delay="5000"/>
                            </p:stCondLst>
                            <p:childTnLst>
                              <p:par>
                                <p:cTn id="10" presetID="51" presetClass="entr" presetSubtype="0" fill="hold" nodeType="after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fade">
                                      <p:cBhvr>
                                        <p:cTn id="12" dur="770" decel="100000"/>
                                        <p:tgtEl>
                                          <p:spTgt spid="18436"/>
                                        </p:tgtEl>
                                      </p:cBhvr>
                                    </p:animEffect>
                                    <p:animScale>
                                      <p:cBhvr>
                                        <p:cTn id="13" dur="770" decel="100000"/>
                                        <p:tgtEl>
                                          <p:spTgt spid="18436"/>
                                        </p:tgtEl>
                                      </p:cBhvr>
                                      <p:from x="10000" y="10000"/>
                                      <p:to x="200000" y="450000"/>
                                    </p:animScale>
                                    <p:animScale>
                                      <p:cBhvr>
                                        <p:cTn id="14" dur="1230" accel="100000" fill="hold">
                                          <p:stCondLst>
                                            <p:cond delay="770"/>
                                          </p:stCondLst>
                                        </p:cTn>
                                        <p:tgtEl>
                                          <p:spTgt spid="18436"/>
                                        </p:tgtEl>
                                      </p:cBhvr>
                                      <p:from x="200000" y="450000"/>
                                      <p:to x="100000" y="100000"/>
                                    </p:animScale>
                                    <p:set>
                                      <p:cBhvr>
                                        <p:cTn id="15" dur="770" fill="hold"/>
                                        <p:tgtEl>
                                          <p:spTgt spid="18436"/>
                                        </p:tgtEl>
                                        <p:attrNameLst>
                                          <p:attrName>ppt_x</p:attrName>
                                        </p:attrNameLst>
                                      </p:cBhvr>
                                      <p:to>
                                        <p:strVal val="(0.5)"/>
                                      </p:to>
                                    </p:set>
                                    <p:anim from="(0.5)" to="(#ppt_x)" calcmode="lin" valueType="num">
                                      <p:cBhvr>
                                        <p:cTn id="16" dur="1230" accel="100000" fill="hold">
                                          <p:stCondLst>
                                            <p:cond delay="770"/>
                                          </p:stCondLst>
                                        </p:cTn>
                                        <p:tgtEl>
                                          <p:spTgt spid="18436"/>
                                        </p:tgtEl>
                                        <p:attrNameLst>
                                          <p:attrName>ppt_x</p:attrName>
                                        </p:attrNameLst>
                                      </p:cBhvr>
                                    </p:anim>
                                    <p:set>
                                      <p:cBhvr>
                                        <p:cTn id="17" dur="770" fill="hold"/>
                                        <p:tgtEl>
                                          <p:spTgt spid="18436"/>
                                        </p:tgtEl>
                                        <p:attrNameLst>
                                          <p:attrName>ppt_y</p:attrName>
                                        </p:attrNameLst>
                                      </p:cBhvr>
                                      <p:to>
                                        <p:strVal val="(#ppt_y+0.4)"/>
                                      </p:to>
                                    </p:set>
                                    <p:anim from="(#ppt_y+0.4)" to="(#ppt_y)" calcmode="lin" valueType="num">
                                      <p:cBhvr>
                                        <p:cTn id="18" dur="1230" accel="100000" fill="hold">
                                          <p:stCondLst>
                                            <p:cond delay="770"/>
                                          </p:stCondLst>
                                        </p:cTn>
                                        <p:tgtEl>
                                          <p:spTgt spid="18436"/>
                                        </p:tgtEl>
                                        <p:attrNameLst>
                                          <p:attrName>ppt_y</p:attrName>
                                        </p:attrNameLst>
                                      </p:cBhvr>
                                    </p:anim>
                                  </p:childTnLst>
                                </p:cTn>
                              </p:par>
                            </p:childTnLst>
                          </p:cTn>
                        </p:par>
                        <p:par>
                          <p:cTn id="19" fill="hold">
                            <p:stCondLst>
                              <p:cond delay="7000"/>
                            </p:stCondLst>
                            <p:childTnLst>
                              <p:par>
                                <p:cTn id="20" presetID="5" presetClass="entr" presetSubtype="10" fill="hold" nodeType="afterEffect">
                                  <p:stCondLst>
                                    <p:cond delay="0"/>
                                  </p:stCondLst>
                                  <p:childTnLst>
                                    <p:set>
                                      <p:cBhvr>
                                        <p:cTn id="21" dur="1" fill="hold">
                                          <p:stCondLst>
                                            <p:cond delay="0"/>
                                          </p:stCondLst>
                                        </p:cTn>
                                        <p:tgtEl>
                                          <p:spTgt spid="18434"/>
                                        </p:tgtEl>
                                        <p:attrNameLst>
                                          <p:attrName>style.visibility</p:attrName>
                                        </p:attrNameLst>
                                      </p:cBhvr>
                                      <p:to>
                                        <p:strVal val="visible"/>
                                      </p:to>
                                    </p:set>
                                    <p:animEffect transition="in" filter="checkerboard(across)">
                                      <p:cBhvr>
                                        <p:cTn id="22"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2000" dirty="0" smtClean="0"/>
              <a:t>Q1 : Qu’est ce que l’habilitation électrique ?</a:t>
            </a:r>
          </a:p>
          <a:p>
            <a:pPr>
              <a:buNone/>
            </a:pPr>
            <a:endParaRPr lang="fr-FR" sz="2000" dirty="0" smtClean="0"/>
          </a:p>
          <a:p>
            <a:pPr>
              <a:buNone/>
            </a:pPr>
            <a:r>
              <a:rPr lang="fr-FR" sz="2000" b="1" dirty="0" smtClean="0">
                <a:solidFill>
                  <a:srgbClr val="FF0000"/>
                </a:solidFill>
              </a:rPr>
              <a:t>L’habilitation est la reconnaissance par un employeur de la capacité d’une personne à accomplir en sécurité les tâches fixées.</a:t>
            </a:r>
            <a:endParaRPr lang="fr-FR" sz="2000" dirty="0" smtClean="0">
              <a:solidFill>
                <a:srgbClr val="FF0000"/>
              </a:solidFill>
            </a:endParaRPr>
          </a:p>
          <a:p>
            <a:pPr>
              <a:buNone/>
            </a:pPr>
            <a:endParaRPr lang="fr-FR" sz="2000" dirty="0" smtClean="0"/>
          </a:p>
          <a:p>
            <a:pPr>
              <a:buNone/>
            </a:pPr>
            <a:r>
              <a:rPr lang="fr-FR" sz="2000" dirty="0" smtClean="0"/>
              <a:t>Q2 : Quels sont les critères pour avoir une habilitation électrique ?</a:t>
            </a:r>
          </a:p>
          <a:p>
            <a:pPr>
              <a:buNone/>
            </a:pPr>
            <a:endParaRPr lang="fr-FR" sz="2000" dirty="0" smtClean="0"/>
          </a:p>
          <a:p>
            <a:pPr>
              <a:buNone/>
            </a:pPr>
            <a:r>
              <a:rPr lang="fr-FR" sz="2000" b="1" dirty="0" smtClean="0">
                <a:solidFill>
                  <a:srgbClr val="FF0000"/>
                </a:solidFill>
              </a:rPr>
              <a:t>Pour être habilité, le personnel doit avoir acquis une formation :</a:t>
            </a:r>
            <a:endParaRPr lang="fr-FR" sz="2000" dirty="0" smtClean="0">
              <a:solidFill>
                <a:srgbClr val="FF0000"/>
              </a:solidFill>
            </a:endParaRPr>
          </a:p>
          <a:p>
            <a:pPr lvl="0"/>
            <a:r>
              <a:rPr lang="fr-FR" sz="2000" b="1" dirty="0" smtClean="0">
                <a:solidFill>
                  <a:srgbClr val="FF0000"/>
                </a:solidFill>
              </a:rPr>
              <a:t>A la prévention des risques électriques,</a:t>
            </a:r>
            <a:endParaRPr lang="fr-FR" sz="2000" dirty="0" smtClean="0">
              <a:solidFill>
                <a:srgbClr val="FF0000"/>
              </a:solidFill>
            </a:endParaRPr>
          </a:p>
          <a:p>
            <a:pPr lvl="0"/>
            <a:r>
              <a:rPr lang="fr-FR" sz="2000" b="1" dirty="0" smtClean="0">
                <a:solidFill>
                  <a:srgbClr val="FF0000"/>
                </a:solidFill>
              </a:rPr>
              <a:t>A la sécurité des personnes.</a:t>
            </a:r>
            <a:endParaRPr lang="fr-FR" sz="2000" dirty="0" smtClean="0">
              <a:solidFill>
                <a:srgbClr val="FF0000"/>
              </a:solidFill>
            </a:endParaRPr>
          </a:p>
          <a:p>
            <a:pPr>
              <a:buNone/>
            </a:pPr>
            <a:r>
              <a:rPr lang="fr-FR" sz="2000" dirty="0" smtClean="0"/>
              <a:t> </a:t>
            </a:r>
          </a:p>
          <a:p>
            <a:pPr>
              <a:buNone/>
            </a:pPr>
            <a:r>
              <a:rPr lang="fr-FR" sz="2000" dirty="0" smtClean="0"/>
              <a:t>Q3 : Comment prouver que je suis habilité ?</a:t>
            </a:r>
          </a:p>
          <a:p>
            <a:pPr>
              <a:buNone/>
            </a:pPr>
            <a:endParaRPr lang="fr-FR" sz="2000" dirty="0" smtClean="0"/>
          </a:p>
          <a:p>
            <a:pPr>
              <a:buNone/>
            </a:pPr>
            <a:r>
              <a:rPr lang="fr-FR" sz="2000" b="1" dirty="0" smtClean="0">
                <a:solidFill>
                  <a:srgbClr val="FF0000"/>
                </a:solidFill>
              </a:rPr>
              <a:t>Un document établi et signé par l’employeur permet de le prouver.</a:t>
            </a:r>
            <a:endParaRPr lang="fr-FR" sz="2000"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3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3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3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fontScale="92500" lnSpcReduction="10000"/>
          </a:bodyPr>
          <a:lstStyle/>
          <a:p>
            <a:pPr>
              <a:buNone/>
            </a:pPr>
            <a:r>
              <a:rPr lang="fr-FR" sz="1900" dirty="0" smtClean="0"/>
              <a:t>Q4 : Pourquoi être habilité ?</a:t>
            </a:r>
          </a:p>
          <a:p>
            <a:pPr lvl="0">
              <a:buNone/>
            </a:pPr>
            <a:endParaRPr lang="fr-FR" sz="1900" b="1" dirty="0" smtClean="0"/>
          </a:p>
          <a:p>
            <a:r>
              <a:rPr lang="fr-FR" sz="1900" b="1" dirty="0" smtClean="0">
                <a:solidFill>
                  <a:srgbClr val="FF0000"/>
                </a:solidFill>
              </a:rPr>
              <a:t>Accéder sans surveillance aux locaux réservés aux électriciens,</a:t>
            </a:r>
            <a:endParaRPr lang="fr-FR" sz="1900" dirty="0" smtClean="0">
              <a:solidFill>
                <a:srgbClr val="FF0000"/>
              </a:solidFill>
            </a:endParaRPr>
          </a:p>
          <a:p>
            <a:r>
              <a:rPr lang="fr-FR" sz="1900" b="1" dirty="0" smtClean="0">
                <a:solidFill>
                  <a:srgbClr val="FF0000"/>
                </a:solidFill>
              </a:rPr>
              <a:t> Exécuter ou diriger des travaux ou des interventions d’ordre électrique,</a:t>
            </a:r>
            <a:endParaRPr lang="fr-FR" sz="1900" dirty="0" smtClean="0">
              <a:solidFill>
                <a:srgbClr val="FF0000"/>
              </a:solidFill>
            </a:endParaRPr>
          </a:p>
          <a:p>
            <a:r>
              <a:rPr lang="fr-FR" sz="1900" b="1" dirty="0" smtClean="0">
                <a:solidFill>
                  <a:srgbClr val="FF0000"/>
                </a:solidFill>
              </a:rPr>
              <a:t> Procéder à des consignations d’ordre électrique,</a:t>
            </a:r>
            <a:endParaRPr lang="fr-FR" sz="1900" dirty="0" smtClean="0">
              <a:solidFill>
                <a:srgbClr val="FF0000"/>
              </a:solidFill>
            </a:endParaRPr>
          </a:p>
          <a:p>
            <a:r>
              <a:rPr lang="fr-FR" sz="1900" b="1" dirty="0" smtClean="0">
                <a:solidFill>
                  <a:srgbClr val="FF0000"/>
                </a:solidFill>
              </a:rPr>
              <a:t> Assurer la fonction de surveillant de sécurité.</a:t>
            </a:r>
            <a:endParaRPr lang="fr-FR" sz="1900" dirty="0" smtClean="0">
              <a:solidFill>
                <a:srgbClr val="FF0000"/>
              </a:solidFill>
            </a:endParaRPr>
          </a:p>
          <a:p>
            <a:pPr>
              <a:buNone/>
            </a:pPr>
            <a:endParaRPr lang="fr-FR" sz="1900" dirty="0" smtClean="0"/>
          </a:p>
          <a:p>
            <a:pPr>
              <a:buNone/>
            </a:pPr>
            <a:r>
              <a:rPr lang="fr-FR" sz="1900" dirty="0" smtClean="0"/>
              <a:t>Q5 : Qui valide le document de l’habilitation électrique ?</a:t>
            </a:r>
          </a:p>
          <a:p>
            <a:pPr>
              <a:buNone/>
            </a:pPr>
            <a:endParaRPr lang="fr-FR" sz="1900" dirty="0" smtClean="0"/>
          </a:p>
          <a:p>
            <a:pPr>
              <a:buNone/>
            </a:pPr>
            <a:r>
              <a:rPr lang="fr-FR" sz="1900" dirty="0" smtClean="0"/>
              <a:t> </a:t>
            </a:r>
            <a:r>
              <a:rPr lang="fr-FR" sz="1900" b="1" dirty="0" smtClean="0">
                <a:solidFill>
                  <a:srgbClr val="FF0000"/>
                </a:solidFill>
              </a:rPr>
              <a:t>Elle est décernée uniquement par l’employeur.</a:t>
            </a:r>
            <a:endParaRPr lang="fr-FR" sz="1900" dirty="0" smtClean="0">
              <a:solidFill>
                <a:srgbClr val="FF0000"/>
              </a:solidFill>
            </a:endParaRPr>
          </a:p>
          <a:p>
            <a:pPr>
              <a:buNone/>
            </a:pPr>
            <a:endParaRPr lang="fr-FR" sz="1900" dirty="0" smtClean="0"/>
          </a:p>
          <a:p>
            <a:pPr>
              <a:buNone/>
            </a:pPr>
            <a:r>
              <a:rPr lang="fr-FR" sz="1900" dirty="0" smtClean="0"/>
              <a:t>Q6 : Quels sont les effets des accidents d’origine électrique ?</a:t>
            </a:r>
          </a:p>
          <a:p>
            <a:pPr>
              <a:buNone/>
            </a:pPr>
            <a:endParaRPr lang="fr-FR" sz="1900" dirty="0" smtClean="0"/>
          </a:p>
          <a:p>
            <a:pPr lvl="0"/>
            <a:r>
              <a:rPr lang="fr-FR" sz="1900" b="1" dirty="0" smtClean="0">
                <a:solidFill>
                  <a:srgbClr val="FF0000"/>
                </a:solidFill>
              </a:rPr>
              <a:t>L’électrisation : (réaction du corps humain due à un contact accidentel avec l’électricité).</a:t>
            </a:r>
            <a:endParaRPr lang="fr-FR" sz="1900" dirty="0" smtClean="0">
              <a:solidFill>
                <a:srgbClr val="FF0000"/>
              </a:solidFill>
            </a:endParaRPr>
          </a:p>
          <a:p>
            <a:pPr>
              <a:buNone/>
            </a:pPr>
            <a:endParaRPr lang="fr-FR" sz="1900" dirty="0" smtClean="0">
              <a:solidFill>
                <a:srgbClr val="FF0000"/>
              </a:solidFill>
            </a:endParaRPr>
          </a:p>
          <a:p>
            <a:pPr lvl="0"/>
            <a:r>
              <a:rPr lang="fr-FR" sz="1900" b="1" dirty="0" smtClean="0">
                <a:solidFill>
                  <a:srgbClr val="FF0000"/>
                </a:solidFill>
              </a:rPr>
              <a:t>L’électrocution (électrisation qui entraîne la mort).</a:t>
            </a:r>
            <a:endParaRPr lang="fr-FR" sz="1900"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3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3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nodeType="after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 calcmode="lin" valueType="num">
                                      <p:cBhvr additive="base">
                                        <p:cTn id="22" dur="3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3" dur="3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4" fill="hold">
                            <p:stCondLst>
                              <p:cond delay="6000"/>
                            </p:stCondLst>
                            <p:childTnLst>
                              <p:par>
                                <p:cTn id="25" presetID="2" presetClass="entr" presetSubtype="4"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3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3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 calcmode="lin" valueType="num">
                                      <p:cBhvr additive="base">
                                        <p:cTn id="4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 calcmode="lin" valueType="num">
                                      <p:cBhvr additive="base">
                                        <p:cTn id="5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4" fill="hold" nodeType="afterEffect">
                                  <p:stCondLst>
                                    <p:cond delay="0"/>
                                  </p:stCondLst>
                                  <p:childTnLst>
                                    <p:set>
                                      <p:cBhvr>
                                        <p:cTn id="55" dur="1" fill="hold">
                                          <p:stCondLst>
                                            <p:cond delay="0"/>
                                          </p:stCondLst>
                                        </p:cTn>
                                        <p:tgtEl>
                                          <p:spTgt spid="3">
                                            <p:txEl>
                                              <p:pRg st="15" end="15"/>
                                            </p:txEl>
                                          </p:spTgt>
                                        </p:tgtEl>
                                        <p:attrNameLst>
                                          <p:attrName>style.visibility</p:attrName>
                                        </p:attrNameLst>
                                      </p:cBhvr>
                                      <p:to>
                                        <p:strVal val="visible"/>
                                      </p:to>
                                    </p:set>
                                    <p:anim calcmode="lin" valueType="num">
                                      <p:cBhvr additive="base">
                                        <p:cTn id="56" dur="30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7" dur="30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Q7 : Quels sont les causes d’accidents ? Donner un exemple.</a:t>
            </a:r>
          </a:p>
          <a:p>
            <a:pPr>
              <a:buNone/>
            </a:pPr>
            <a:r>
              <a:rPr lang="fr-FR" sz="1800" dirty="0" smtClean="0"/>
              <a:t>  </a:t>
            </a:r>
          </a:p>
          <a:p>
            <a:pPr lvl="0"/>
            <a:r>
              <a:rPr lang="fr-FR" sz="1800" b="1" dirty="0" smtClean="0">
                <a:solidFill>
                  <a:srgbClr val="FF0000"/>
                </a:solidFill>
              </a:rPr>
              <a:t>Contact direct : je touche directement la phase</a:t>
            </a:r>
            <a:endParaRPr lang="fr-FR" sz="1800" dirty="0" smtClean="0">
              <a:solidFill>
                <a:srgbClr val="FF0000"/>
              </a:solidFill>
            </a:endParaRPr>
          </a:p>
          <a:p>
            <a:pPr lvl="0"/>
            <a:r>
              <a:rPr lang="fr-FR" sz="1800" b="1" dirty="0" smtClean="0">
                <a:solidFill>
                  <a:srgbClr val="FF0000"/>
                </a:solidFill>
              </a:rPr>
              <a:t>Contact indirect : je touche un appareil qui est mal alimenté</a:t>
            </a:r>
            <a:endParaRPr lang="fr-FR" sz="1800" dirty="0" smtClean="0">
              <a:solidFill>
                <a:srgbClr val="FF0000"/>
              </a:solidFill>
            </a:endParaRPr>
          </a:p>
          <a:p>
            <a:pPr>
              <a:buNone/>
            </a:pPr>
            <a:r>
              <a:rPr lang="fr-FR" sz="1800" dirty="0" smtClean="0"/>
              <a:t> </a:t>
            </a:r>
          </a:p>
          <a:p>
            <a:pPr>
              <a:buNone/>
            </a:pPr>
            <a:r>
              <a:rPr lang="fr-FR" sz="1800" dirty="0" smtClean="0"/>
              <a:t>Q8 : Citer les mesures de protection contre les contacts directs. </a:t>
            </a:r>
          </a:p>
          <a:p>
            <a:pPr>
              <a:buNone/>
            </a:pPr>
            <a:r>
              <a:rPr lang="fr-FR" sz="1800" dirty="0" smtClean="0"/>
              <a:t> </a:t>
            </a:r>
          </a:p>
          <a:p>
            <a:pPr lvl="0"/>
            <a:r>
              <a:rPr lang="fr-FR" sz="1800" b="1" dirty="0" smtClean="0">
                <a:solidFill>
                  <a:srgbClr val="FF0000"/>
                </a:solidFill>
              </a:rPr>
              <a:t>Eloignement des pièces nues sous tension (protection collective),</a:t>
            </a:r>
            <a:endParaRPr lang="fr-FR" sz="1800" dirty="0" smtClean="0">
              <a:solidFill>
                <a:srgbClr val="FF0000"/>
              </a:solidFill>
            </a:endParaRPr>
          </a:p>
          <a:p>
            <a:pPr lvl="0"/>
            <a:r>
              <a:rPr lang="fr-FR" sz="1800" b="1" dirty="0" smtClean="0">
                <a:solidFill>
                  <a:srgbClr val="FF0000"/>
                </a:solidFill>
              </a:rPr>
              <a:t>Obstacle (protection collective),</a:t>
            </a:r>
            <a:endParaRPr lang="fr-FR" sz="1800" dirty="0" smtClean="0">
              <a:solidFill>
                <a:srgbClr val="FF0000"/>
              </a:solidFill>
            </a:endParaRPr>
          </a:p>
          <a:p>
            <a:pPr lvl="0"/>
            <a:r>
              <a:rPr lang="fr-FR" sz="1800" b="1" dirty="0" smtClean="0">
                <a:solidFill>
                  <a:srgbClr val="FF0000"/>
                </a:solidFill>
              </a:rPr>
              <a:t>Isolation (protection intrinsèque).</a:t>
            </a:r>
            <a:endParaRPr lang="fr-FR" sz="1800" dirty="0" smtClean="0">
              <a:solidFill>
                <a:srgbClr val="FF0000"/>
              </a:solidFill>
            </a:endParaRPr>
          </a:p>
          <a:p>
            <a:pPr>
              <a:buNone/>
            </a:pPr>
            <a:endParaRPr lang="fr-FR" sz="1800" dirty="0" smtClean="0"/>
          </a:p>
          <a:p>
            <a:pPr>
              <a:buNone/>
            </a:pPr>
            <a:r>
              <a:rPr lang="fr-FR" sz="1800" dirty="0" smtClean="0"/>
              <a:t>Q9 : Citer les mesures de protection contre les contacts indirects.</a:t>
            </a:r>
          </a:p>
          <a:p>
            <a:pPr>
              <a:buNone/>
            </a:pPr>
            <a:endParaRPr lang="fr-FR" sz="1800" dirty="0" smtClean="0"/>
          </a:p>
          <a:p>
            <a:pPr lvl="0"/>
            <a:r>
              <a:rPr lang="fr-FR" sz="1800" b="1" dirty="0" smtClean="0">
                <a:solidFill>
                  <a:srgbClr val="FF0000"/>
                </a:solidFill>
              </a:rPr>
              <a:t>Par coupure automatique (dispositif différentiel)</a:t>
            </a:r>
            <a:endParaRPr lang="fr-FR" sz="1800" dirty="0" smtClean="0">
              <a:solidFill>
                <a:srgbClr val="FF0000"/>
              </a:solidFill>
            </a:endParaRPr>
          </a:p>
          <a:p>
            <a:pPr lvl="0"/>
            <a:r>
              <a:rPr lang="fr-FR" sz="1800" b="1" dirty="0" smtClean="0">
                <a:solidFill>
                  <a:srgbClr val="FF0000"/>
                </a:solidFill>
              </a:rPr>
              <a:t>Par emploi de matériel de classe II</a:t>
            </a:r>
            <a:endParaRPr lang="fr-FR" sz="1800"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3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3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2" presetClass="entr" presetSubtype="4" fill="hold"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3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 calcmode="lin" valueType="num">
                                      <p:cBhvr additive="base">
                                        <p:cTn id="40" dur="3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1" dur="3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 calcmode="lin" valueType="num">
                                      <p:cBhvr additive="base">
                                        <p:cTn id="46"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 calcmode="lin" valueType="num">
                                      <p:cBhvr additive="base">
                                        <p:cTn id="52"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par>
                          <p:cTn id="54" fill="hold">
                            <p:stCondLst>
                              <p:cond delay="500"/>
                            </p:stCondLst>
                            <p:childTnLst>
                              <p:par>
                                <p:cTn id="55" presetID="2" presetClass="entr" presetSubtype="4" fill="hold" nodeType="after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 calcmode="lin" valueType="num">
                                      <p:cBhvr additive="base">
                                        <p:cTn id="57" dur="30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8" dur="30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29289"/>
          </a:xfrm>
          <a:ln>
            <a:solidFill>
              <a:srgbClr val="FF0000"/>
            </a:solidFill>
          </a:ln>
        </p:spPr>
        <p:txBody>
          <a:bodyPr>
            <a:normAutofit/>
          </a:bodyPr>
          <a:lstStyle/>
          <a:p>
            <a:pPr>
              <a:buNone/>
            </a:pPr>
            <a:r>
              <a:rPr lang="fr-FR" sz="1800" dirty="0" smtClean="0"/>
              <a:t>Q10 : Compléter le tableau suivant :</a:t>
            </a:r>
          </a:p>
          <a:p>
            <a:pPr>
              <a:buNone/>
            </a:pPr>
            <a:endParaRPr lang="fr-FR" sz="1600" dirty="0" smtClean="0"/>
          </a:p>
          <a:p>
            <a:pPr>
              <a:buNone/>
            </a:pPr>
            <a:endParaRPr lang="fr-FR" sz="1600" dirty="0" smtClean="0"/>
          </a:p>
        </p:txBody>
      </p:sp>
      <p:pic>
        <p:nvPicPr>
          <p:cNvPr id="1027" name="Picture 3"/>
          <p:cNvPicPr>
            <a:picLocks noChangeAspect="1" noChangeArrowheads="1"/>
          </p:cNvPicPr>
          <p:nvPr/>
        </p:nvPicPr>
        <p:blipFill>
          <a:blip r:embed="rId3" cstate="print"/>
          <a:srcRect/>
          <a:stretch>
            <a:fillRect/>
          </a:stretch>
        </p:blipFill>
        <p:spPr bwMode="auto">
          <a:xfrm>
            <a:off x="500034" y="1857364"/>
            <a:ext cx="8135963" cy="361662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027"/>
                                        </p:tgtEl>
                                        <p:attrNameLst>
                                          <p:attrName>style.visibility</p:attrName>
                                        </p:attrNameLst>
                                      </p:cBhvr>
                                      <p:to>
                                        <p:strVal val="visible"/>
                                      </p:to>
                                    </p:set>
                                    <p:animEffect transition="in" filter="checkerboard(across)">
                                      <p:cBhvr>
                                        <p:cTn id="13"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Q11 : Que veut dire TBTS ?</a:t>
            </a:r>
          </a:p>
          <a:p>
            <a:pPr>
              <a:buNone/>
            </a:pPr>
            <a:r>
              <a:rPr lang="fr-FR" sz="1800" dirty="0" smtClean="0"/>
              <a:t> </a:t>
            </a:r>
          </a:p>
          <a:p>
            <a:pPr>
              <a:buNone/>
            </a:pPr>
            <a:r>
              <a:rPr lang="fr-FR" sz="1800" b="1" dirty="0" smtClean="0">
                <a:solidFill>
                  <a:srgbClr val="FF0000"/>
                </a:solidFill>
              </a:rPr>
              <a:t>Très Basse Tension de Sécurité</a:t>
            </a:r>
            <a:endParaRPr lang="fr-FR" sz="1800" dirty="0" smtClean="0">
              <a:solidFill>
                <a:srgbClr val="FF0000"/>
              </a:solidFill>
            </a:endParaRPr>
          </a:p>
          <a:p>
            <a:pPr>
              <a:buNone/>
            </a:pPr>
            <a:r>
              <a:rPr lang="fr-FR" sz="1800" dirty="0" smtClean="0"/>
              <a:t> </a:t>
            </a:r>
          </a:p>
          <a:p>
            <a:pPr>
              <a:buNone/>
            </a:pPr>
            <a:r>
              <a:rPr lang="fr-FR" sz="1800" dirty="0" smtClean="0"/>
              <a:t>Q12 : Quelles sont les caractéristiques électriques de la TBTS ?</a:t>
            </a:r>
          </a:p>
          <a:p>
            <a:pPr>
              <a:buNone/>
            </a:pPr>
            <a:r>
              <a:rPr lang="fr-FR" sz="1800" dirty="0" smtClean="0"/>
              <a:t> </a:t>
            </a:r>
          </a:p>
          <a:p>
            <a:r>
              <a:rPr lang="fr-FR" sz="1800" b="1" dirty="0" smtClean="0">
                <a:solidFill>
                  <a:srgbClr val="FF0000"/>
                </a:solidFill>
              </a:rPr>
              <a:t>Locaux sec : 50 V en alternatif, 20 V en continu</a:t>
            </a:r>
            <a:endParaRPr lang="fr-FR" sz="1800" dirty="0" smtClean="0">
              <a:solidFill>
                <a:srgbClr val="FF0000"/>
              </a:solidFill>
            </a:endParaRPr>
          </a:p>
          <a:p>
            <a:r>
              <a:rPr lang="fr-FR" sz="1800" b="1" dirty="0" smtClean="0">
                <a:solidFill>
                  <a:srgbClr val="FF0000"/>
                </a:solidFill>
              </a:rPr>
              <a:t>Locaux mouillés : 25 V en alternatif, 60 V en continu</a:t>
            </a:r>
            <a:endParaRPr lang="fr-FR" sz="1800" dirty="0" smtClean="0">
              <a:solidFill>
                <a:srgbClr val="FF0000"/>
              </a:solidFill>
            </a:endParaRPr>
          </a:p>
          <a:p>
            <a:pPr>
              <a:buNone/>
            </a:pPr>
            <a:r>
              <a:rPr lang="fr-FR" sz="1800" dirty="0" smtClean="0"/>
              <a:t> </a:t>
            </a:r>
          </a:p>
          <a:p>
            <a:pPr>
              <a:buNone/>
            </a:pPr>
            <a:r>
              <a:rPr lang="fr-FR" sz="1800" dirty="0" smtClean="0"/>
              <a:t>Q13 : Donner des exemples d’appareils électriques utilisant la TBTS.</a:t>
            </a:r>
          </a:p>
          <a:p>
            <a:pPr>
              <a:buNone/>
            </a:pPr>
            <a:endParaRPr lang="fr-FR" sz="1800" dirty="0" smtClean="0"/>
          </a:p>
          <a:p>
            <a:r>
              <a:rPr lang="fr-FR" sz="1800" b="1" dirty="0" smtClean="0">
                <a:solidFill>
                  <a:srgbClr val="FF0000"/>
                </a:solidFill>
              </a:rPr>
              <a:t>Installation de spots avec transformateur</a:t>
            </a:r>
            <a:endParaRPr lang="fr-FR" sz="1800" dirty="0" smtClean="0">
              <a:solidFill>
                <a:srgbClr val="FF0000"/>
              </a:solidFill>
            </a:endParaRPr>
          </a:p>
          <a:p>
            <a:r>
              <a:rPr lang="fr-FR" sz="1800" b="1" dirty="0" smtClean="0">
                <a:solidFill>
                  <a:srgbClr val="FF0000"/>
                </a:solidFill>
              </a:rPr>
              <a:t>Le chargeur de téléphone</a:t>
            </a:r>
            <a:endParaRPr lang="fr-FR" sz="1800" dirty="0" smtClean="0">
              <a:solidFill>
                <a:srgbClr val="FF0000"/>
              </a:solidFill>
            </a:endParaRPr>
          </a:p>
          <a:p>
            <a:r>
              <a:rPr lang="fr-FR" sz="1800" b="1" dirty="0" smtClean="0">
                <a:solidFill>
                  <a:srgbClr val="FF0000"/>
                </a:solidFill>
              </a:rPr>
              <a:t>Tout appareil possédant une transformateur ou chargeur permettant d’abaisser la tension d’alimentation de l’appareil.</a:t>
            </a:r>
            <a:endParaRPr lang="fr-FR" sz="1800"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5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5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 calcmode="lin" valueType="num">
                                      <p:cBhvr additive="base">
                                        <p:cTn id="36"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 calcmode="lin" valueType="num">
                                      <p:cBhvr additive="base">
                                        <p:cTn id="42"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 presetClass="entr" presetSubtype="4" fill="hold" nodeType="after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30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30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2" presetClass="entr" presetSubtype="4" fill="hold" nodeType="after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 calcmode="lin" valueType="num">
                                      <p:cBhvr additive="base">
                                        <p:cTn id="52" dur="30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3" dur="30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lnSpcReduction="10000"/>
          </a:bodyPr>
          <a:lstStyle/>
          <a:p>
            <a:pPr>
              <a:buNone/>
            </a:pPr>
            <a:r>
              <a:rPr lang="fr-FR" sz="1800" dirty="0" smtClean="0"/>
              <a:t>Q14 : Comment sommes nous </a:t>
            </a:r>
            <a:r>
              <a:rPr lang="fr-FR" sz="1800" dirty="0" smtClean="0"/>
              <a:t>protégés </a:t>
            </a:r>
            <a:r>
              <a:rPr lang="fr-FR" sz="1800" dirty="0" smtClean="0"/>
              <a:t>des risques électriques ? Donner des exemples.</a:t>
            </a:r>
          </a:p>
          <a:p>
            <a:pPr>
              <a:buNone/>
            </a:pPr>
            <a:r>
              <a:rPr lang="fr-FR" sz="1800" b="1" dirty="0" smtClean="0">
                <a:solidFill>
                  <a:srgbClr val="FF0000"/>
                </a:solidFill>
              </a:rPr>
              <a:t>Nous </a:t>
            </a:r>
            <a:r>
              <a:rPr lang="fr-FR" sz="1800" b="1" dirty="0" smtClean="0">
                <a:solidFill>
                  <a:srgbClr val="FF0000"/>
                </a:solidFill>
              </a:rPr>
              <a:t>sommes </a:t>
            </a:r>
            <a:r>
              <a:rPr lang="fr-FR" sz="1800" b="1" dirty="0" smtClean="0">
                <a:solidFill>
                  <a:srgbClr val="FF0000"/>
                </a:solidFill>
              </a:rPr>
              <a:t>protégés </a:t>
            </a:r>
            <a:r>
              <a:rPr lang="fr-FR" sz="1800" b="1" dirty="0" smtClean="0">
                <a:solidFill>
                  <a:srgbClr val="FF0000"/>
                </a:solidFill>
              </a:rPr>
              <a:t>par tous les obstacles soit de paroi pleine (la carcasse plastique d’une perceuse, le moulage plastique du chargeur de téléphone), ou percé de trou (tour d’ordinateur avec grille de ventilation), soit par un grillage (pour assurer une bonne ventilation ou porte interdisant l’accès).</a:t>
            </a:r>
            <a:endParaRPr lang="fr-FR" sz="1800" dirty="0" smtClean="0">
              <a:solidFill>
                <a:srgbClr val="FF0000"/>
              </a:solidFill>
            </a:endParaRPr>
          </a:p>
          <a:p>
            <a:pPr>
              <a:buNone/>
            </a:pPr>
            <a:endParaRPr lang="fr-FR" sz="1800" dirty="0" smtClean="0"/>
          </a:p>
          <a:p>
            <a:pPr>
              <a:buNone/>
            </a:pPr>
            <a:r>
              <a:rPr lang="fr-FR" sz="1800" dirty="0" smtClean="0"/>
              <a:t>Q15 : Qu’est ce que le code IP ?</a:t>
            </a:r>
          </a:p>
          <a:p>
            <a:pPr>
              <a:buNone/>
            </a:pPr>
            <a:endParaRPr lang="fr-FR" sz="1800" dirty="0" smtClean="0"/>
          </a:p>
          <a:p>
            <a:pPr>
              <a:buNone/>
            </a:pPr>
            <a:r>
              <a:rPr lang="fr-FR" sz="1800" b="1" dirty="0" smtClean="0">
                <a:solidFill>
                  <a:srgbClr val="FF0000"/>
                </a:solidFill>
              </a:rPr>
              <a:t>C’est l’indice de protection symbolisé par les lettres IP suivies de deux chiffres qui permettent de vérifier l’aptitude d’un matériel à supporter les influences de la présence d’eau ou de poussières.</a:t>
            </a:r>
            <a:endParaRPr lang="fr-FR" sz="1800" dirty="0" smtClean="0">
              <a:solidFill>
                <a:srgbClr val="FF0000"/>
              </a:solidFill>
            </a:endParaRPr>
          </a:p>
          <a:p>
            <a:pPr>
              <a:buNone/>
            </a:pPr>
            <a:endParaRPr lang="fr-FR" sz="1800" dirty="0" smtClean="0"/>
          </a:p>
          <a:p>
            <a:pPr>
              <a:buNone/>
            </a:pPr>
            <a:r>
              <a:rPr lang="fr-FR" sz="1800" dirty="0" smtClean="0"/>
              <a:t>Q16 : Qu’est ce que le code IK ?</a:t>
            </a:r>
          </a:p>
          <a:p>
            <a:pPr>
              <a:buNone/>
            </a:pPr>
            <a:endParaRPr lang="fr-FR" sz="1800" dirty="0" smtClean="0"/>
          </a:p>
          <a:p>
            <a:pPr>
              <a:buNone/>
            </a:pPr>
            <a:r>
              <a:rPr lang="fr-FR" sz="1800" b="1" dirty="0" smtClean="0">
                <a:solidFill>
                  <a:srgbClr val="FF0000"/>
                </a:solidFill>
              </a:rPr>
              <a:t>C’est l’indice de protection symbolisé par les lettres IK suivies de deux chiffres qui permettent de vérifier l’aptitude d’un matériel à résister à un impact mécanique nuisible.</a:t>
            </a:r>
            <a:endParaRPr lang="fr-FR" sz="1800"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3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3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3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fontScale="70000" lnSpcReduction="20000"/>
          </a:bodyPr>
          <a:lstStyle/>
          <a:p>
            <a:pPr>
              <a:buNone/>
            </a:pPr>
            <a:r>
              <a:rPr lang="fr-FR" sz="2600" dirty="0" smtClean="0"/>
              <a:t>Q17 : Exemple sur l’étiquette signalétique de ma tondeuse à gazon électrique je trouve : IP44 et IK08, détailler cette indication.</a:t>
            </a:r>
          </a:p>
          <a:p>
            <a:pPr>
              <a:buNone/>
            </a:pPr>
            <a:r>
              <a:rPr lang="fr-FR" sz="2600" dirty="0" smtClean="0"/>
              <a:t> </a:t>
            </a:r>
            <a:r>
              <a:rPr lang="fr-FR" sz="2600" b="1" dirty="0" smtClean="0">
                <a:solidFill>
                  <a:srgbClr val="FF0000"/>
                </a:solidFill>
              </a:rPr>
              <a:t>IP44 :</a:t>
            </a:r>
            <a:endParaRPr lang="fr-FR" sz="2600" dirty="0" smtClean="0">
              <a:solidFill>
                <a:srgbClr val="FF0000"/>
              </a:solidFill>
            </a:endParaRPr>
          </a:p>
          <a:p>
            <a:pPr lvl="0"/>
            <a:r>
              <a:rPr lang="fr-FR" sz="2600" b="1" dirty="0" smtClean="0">
                <a:solidFill>
                  <a:srgbClr val="FF0000"/>
                </a:solidFill>
              </a:rPr>
              <a:t>protection contre les objets solides de plus de 1mm  </a:t>
            </a:r>
            <a:endParaRPr lang="fr-FR" sz="2600" dirty="0" smtClean="0">
              <a:solidFill>
                <a:srgbClr val="FF0000"/>
              </a:solidFill>
            </a:endParaRPr>
          </a:p>
          <a:p>
            <a:pPr lvl="0"/>
            <a:r>
              <a:rPr lang="fr-FR" sz="2600" b="1" dirty="0" smtClean="0">
                <a:solidFill>
                  <a:srgbClr val="FF0000"/>
                </a:solidFill>
              </a:rPr>
              <a:t>protection contre les projections d’eau dans toutes les directions admission limitée permise</a:t>
            </a:r>
            <a:endParaRPr lang="fr-FR" sz="2600" dirty="0" smtClean="0">
              <a:solidFill>
                <a:srgbClr val="FF0000"/>
              </a:solidFill>
            </a:endParaRPr>
          </a:p>
          <a:p>
            <a:pPr>
              <a:buNone/>
            </a:pPr>
            <a:r>
              <a:rPr lang="fr-FR" sz="2600" b="1" dirty="0" smtClean="0">
                <a:solidFill>
                  <a:srgbClr val="FF0000"/>
                </a:solidFill>
              </a:rPr>
              <a:t>IK08</a:t>
            </a:r>
            <a:endParaRPr lang="fr-FR" sz="2600" dirty="0" smtClean="0">
              <a:solidFill>
                <a:srgbClr val="FF0000"/>
              </a:solidFill>
            </a:endParaRPr>
          </a:p>
          <a:p>
            <a:pPr lvl="0"/>
            <a:r>
              <a:rPr lang="fr-FR" sz="2600" b="1" dirty="0" smtClean="0">
                <a:solidFill>
                  <a:srgbClr val="FF0000"/>
                </a:solidFill>
              </a:rPr>
              <a:t>Choc de 5 Joules</a:t>
            </a:r>
            <a:endParaRPr lang="fr-FR" sz="2600" dirty="0" smtClean="0">
              <a:solidFill>
                <a:srgbClr val="FF0000"/>
              </a:solidFill>
            </a:endParaRPr>
          </a:p>
          <a:p>
            <a:pPr>
              <a:buNone/>
            </a:pPr>
            <a:endParaRPr lang="fr-FR" sz="2600" dirty="0" smtClean="0"/>
          </a:p>
          <a:p>
            <a:pPr>
              <a:buNone/>
            </a:pPr>
            <a:r>
              <a:rPr lang="fr-FR" sz="2600" dirty="0" smtClean="0"/>
              <a:t>Q18 : Quelle est la conduite à tenir en cas d’accident ?</a:t>
            </a:r>
          </a:p>
          <a:p>
            <a:pPr>
              <a:buNone/>
            </a:pPr>
            <a:endParaRPr lang="fr-FR" sz="2600" dirty="0" smtClean="0"/>
          </a:p>
          <a:p>
            <a:pPr lvl="0"/>
            <a:r>
              <a:rPr lang="fr-FR" sz="2600" b="1" dirty="0" smtClean="0">
                <a:solidFill>
                  <a:srgbClr val="FF0000"/>
                </a:solidFill>
              </a:rPr>
              <a:t>Protéger</a:t>
            </a:r>
            <a:endParaRPr lang="fr-FR" sz="2600" dirty="0" smtClean="0">
              <a:solidFill>
                <a:srgbClr val="FF0000"/>
              </a:solidFill>
            </a:endParaRPr>
          </a:p>
          <a:p>
            <a:pPr lvl="0"/>
            <a:r>
              <a:rPr lang="fr-FR" sz="2600" b="1" dirty="0" smtClean="0">
                <a:solidFill>
                  <a:srgbClr val="FF0000"/>
                </a:solidFill>
              </a:rPr>
              <a:t>Examiner</a:t>
            </a:r>
            <a:endParaRPr lang="fr-FR" sz="2600" dirty="0" smtClean="0">
              <a:solidFill>
                <a:srgbClr val="FF0000"/>
              </a:solidFill>
            </a:endParaRPr>
          </a:p>
          <a:p>
            <a:pPr lvl="0"/>
            <a:r>
              <a:rPr lang="fr-FR" sz="2600" b="1" dirty="0" smtClean="0">
                <a:solidFill>
                  <a:srgbClr val="FF0000"/>
                </a:solidFill>
              </a:rPr>
              <a:t>Alerter</a:t>
            </a:r>
            <a:endParaRPr lang="fr-FR" sz="2600" dirty="0" smtClean="0">
              <a:solidFill>
                <a:srgbClr val="FF0000"/>
              </a:solidFill>
            </a:endParaRPr>
          </a:p>
          <a:p>
            <a:pPr lvl="0"/>
            <a:r>
              <a:rPr lang="fr-FR" sz="2600" b="1" dirty="0" smtClean="0">
                <a:solidFill>
                  <a:srgbClr val="FF0000"/>
                </a:solidFill>
              </a:rPr>
              <a:t>secourir</a:t>
            </a:r>
            <a:endParaRPr lang="fr-FR" sz="2600" dirty="0" smtClean="0">
              <a:solidFill>
                <a:srgbClr val="FF0000"/>
              </a:solidFill>
            </a:endParaRPr>
          </a:p>
          <a:p>
            <a:pPr>
              <a:buNone/>
            </a:pPr>
            <a:endParaRPr lang="fr-FR" sz="2600" dirty="0" smtClean="0"/>
          </a:p>
          <a:p>
            <a:pPr>
              <a:buNone/>
            </a:pPr>
            <a:r>
              <a:rPr lang="fr-FR" sz="2600" dirty="0" smtClean="0"/>
              <a:t>Q19 : A quoi servent les zones d’environnement (page 13 du document) ?</a:t>
            </a:r>
          </a:p>
          <a:p>
            <a:pPr>
              <a:buNone/>
            </a:pPr>
            <a:endParaRPr lang="fr-FR" sz="2600" dirty="0" smtClean="0"/>
          </a:p>
          <a:p>
            <a:pPr>
              <a:buNone/>
            </a:pPr>
            <a:r>
              <a:rPr lang="fr-FR" sz="2600" b="1" dirty="0" smtClean="0">
                <a:solidFill>
                  <a:srgbClr val="FF0000"/>
                </a:solidFill>
              </a:rPr>
              <a:t>Permet de définir une distance de sécurité entre le danger électrique et une personne (habilité ou non)</a:t>
            </a:r>
            <a:endParaRPr lang="fr-FR" sz="2600"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3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3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3500"/>
                            </p:stCondLst>
                            <p:childTnLst>
                              <p:par>
                                <p:cTn id="21" presetID="2" presetClass="entr" presetSubtype="4" fill="hold"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3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3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6500"/>
                            </p:stCondLst>
                            <p:childTnLst>
                              <p:par>
                                <p:cTn id="26" presetID="2" presetClass="entr" presetSubtype="4" fill="hold"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3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3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0" fill="hold">
                            <p:stCondLst>
                              <p:cond delay="9500"/>
                            </p:stCondLst>
                            <p:childTnLst>
                              <p:par>
                                <p:cTn id="31" presetID="2" presetClass="entr" presetSubtype="4" fill="hold" nodeType="after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3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3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47" fill="hold">
                            <p:stCondLst>
                              <p:cond delay="500"/>
                            </p:stCondLst>
                            <p:childTnLst>
                              <p:par>
                                <p:cTn id="48" presetID="2" presetClass="entr" presetSubtype="4" fill="hold" nodeType="after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 calcmode="lin" valueType="num">
                                      <p:cBhvr additive="base">
                                        <p:cTn id="50" dur="3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1" dur="3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par>
                          <p:cTn id="52" fill="hold">
                            <p:stCondLst>
                              <p:cond delay="3500"/>
                            </p:stCondLst>
                            <p:childTnLst>
                              <p:par>
                                <p:cTn id="53" presetID="2" presetClass="entr" presetSubtype="4" fill="hold" nodeType="after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3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30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par>
                          <p:cTn id="57" fill="hold">
                            <p:stCondLst>
                              <p:cond delay="6500"/>
                            </p:stCondLst>
                            <p:childTnLst>
                              <p:par>
                                <p:cTn id="58" presetID="2" presetClass="entr" presetSubtype="4" fill="hold" nodeType="afterEffect">
                                  <p:stCondLst>
                                    <p:cond delay="0"/>
                                  </p:stCondLst>
                                  <p:childTnLst>
                                    <p:set>
                                      <p:cBhvr>
                                        <p:cTn id="59" dur="1" fill="hold">
                                          <p:stCondLst>
                                            <p:cond delay="0"/>
                                          </p:stCondLst>
                                        </p:cTn>
                                        <p:tgtEl>
                                          <p:spTgt spid="3">
                                            <p:txEl>
                                              <p:pRg st="12" end="12"/>
                                            </p:txEl>
                                          </p:spTgt>
                                        </p:tgtEl>
                                        <p:attrNameLst>
                                          <p:attrName>style.visibility</p:attrName>
                                        </p:attrNameLst>
                                      </p:cBhvr>
                                      <p:to>
                                        <p:strVal val="visible"/>
                                      </p:to>
                                    </p:set>
                                    <p:anim calcmode="lin" valueType="num">
                                      <p:cBhvr additive="base">
                                        <p:cTn id="60" dur="30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1" dur="30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3">
                                            <p:txEl>
                                              <p:pRg st="14" end="14"/>
                                            </p:txEl>
                                          </p:spTgt>
                                        </p:tgtEl>
                                        <p:attrNameLst>
                                          <p:attrName>style.visibility</p:attrName>
                                        </p:attrNameLst>
                                      </p:cBhvr>
                                      <p:to>
                                        <p:strVal val="visible"/>
                                      </p:to>
                                    </p:set>
                                    <p:anim calcmode="lin" valueType="num">
                                      <p:cBhvr additive="base">
                                        <p:cTn id="66"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3">
                                            <p:txEl>
                                              <p:pRg st="16" end="16"/>
                                            </p:txEl>
                                          </p:spTgt>
                                        </p:tgtEl>
                                        <p:attrNameLst>
                                          <p:attrName>style.visibility</p:attrName>
                                        </p:attrNameLst>
                                      </p:cBhvr>
                                      <p:to>
                                        <p:strVal val="visible"/>
                                      </p:to>
                                    </p:set>
                                    <p:anim calcmode="lin" valueType="num">
                                      <p:cBhvr additive="base">
                                        <p:cTn id="72"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Q20 : Je ne suis pas habilité, à quelle distance dois-je me tenir d’un poste électrique 230V ou une personne intervient ?</a:t>
            </a:r>
          </a:p>
          <a:p>
            <a:pPr>
              <a:buNone/>
            </a:pPr>
            <a:endParaRPr lang="fr-FR" sz="1800" dirty="0" smtClean="0"/>
          </a:p>
          <a:p>
            <a:pPr>
              <a:buNone/>
            </a:pPr>
            <a:r>
              <a:rPr lang="fr-FR" sz="1800" b="1" dirty="0" smtClean="0">
                <a:solidFill>
                  <a:srgbClr val="FF0000"/>
                </a:solidFill>
              </a:rPr>
              <a:t>3 mètres</a:t>
            </a:r>
            <a:endParaRPr lang="fr-FR" sz="1800" dirty="0" smtClean="0">
              <a:solidFill>
                <a:srgbClr val="FF0000"/>
              </a:solidFill>
            </a:endParaRPr>
          </a:p>
          <a:p>
            <a:pPr>
              <a:buNone/>
            </a:pPr>
            <a:endParaRPr lang="fr-FR" sz="1800" dirty="0" smtClean="0"/>
          </a:p>
          <a:p>
            <a:pPr>
              <a:buNone/>
            </a:pPr>
            <a:r>
              <a:rPr lang="fr-FR" sz="1800" dirty="0" smtClean="0"/>
              <a:t>Q21 : Je suis habilité B1V, à quelle distance dois-je me tenir d’un poste électrique 230V ou une personne intervient ?</a:t>
            </a:r>
          </a:p>
          <a:p>
            <a:pPr>
              <a:buNone/>
            </a:pPr>
            <a:endParaRPr lang="fr-FR" sz="1800" dirty="0" smtClean="0"/>
          </a:p>
          <a:p>
            <a:pPr>
              <a:buNone/>
            </a:pPr>
            <a:r>
              <a:rPr lang="fr-FR" sz="1800" b="1" dirty="0" smtClean="0">
                <a:solidFill>
                  <a:srgbClr val="FF0000"/>
                </a:solidFill>
              </a:rPr>
              <a:t>30 centimètres</a:t>
            </a:r>
            <a:endParaRPr lang="fr-FR" sz="1800"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600" dirty="0" smtClean="0"/>
              <a:t>Q22 : Compléter le tableau suivant en fonction des symboles des habilitations électriques :</a:t>
            </a:r>
          </a:p>
          <a:p>
            <a:pPr>
              <a:buNone/>
            </a:pPr>
            <a:endParaRPr lang="fr-FR" sz="1600" dirty="0" smtClean="0"/>
          </a:p>
          <a:p>
            <a:pPr>
              <a:buNone/>
            </a:pPr>
            <a:endParaRPr lang="fr-FR" sz="1600" dirty="0" smtClean="0"/>
          </a:p>
        </p:txBody>
      </p:sp>
      <p:graphicFrame>
        <p:nvGraphicFramePr>
          <p:cNvPr id="5" name="Tableau 4"/>
          <p:cNvGraphicFramePr>
            <a:graphicFrameLocks noGrp="1"/>
          </p:cNvGraphicFramePr>
          <p:nvPr/>
        </p:nvGraphicFramePr>
        <p:xfrm>
          <a:off x="642910" y="1571612"/>
          <a:ext cx="7929618" cy="4214841"/>
        </p:xfrm>
        <a:graphic>
          <a:graphicData uri="http://schemas.openxmlformats.org/drawingml/2006/table">
            <a:tbl>
              <a:tblPr firstRow="1" bandRow="1">
                <a:tableStyleId>{5C22544A-7EE6-4342-B048-85BDC9FD1C3A}</a:tableStyleId>
              </a:tblPr>
              <a:tblGrid>
                <a:gridCol w="836333"/>
                <a:gridCol w="1115110"/>
                <a:gridCol w="5978175"/>
              </a:tblGrid>
              <a:tr h="988265">
                <a:tc rowSpan="2">
                  <a:txBody>
                    <a:bodyPr/>
                    <a:lstStyle/>
                    <a:p>
                      <a:pPr algn="ctr"/>
                      <a:r>
                        <a:rPr lang="fr-FR" sz="1600" b="1" kern="1200" dirty="0" smtClean="0">
                          <a:solidFill>
                            <a:schemeClr val="lt1"/>
                          </a:solidFill>
                          <a:latin typeface="+mn-lt"/>
                          <a:ea typeface="+mn-ea"/>
                          <a:cs typeface="+mn-cs"/>
                        </a:rPr>
                        <a:t>Première lettre</a:t>
                      </a:r>
                      <a:endParaRPr lang="fr-FR" sz="1600" dirty="0"/>
                    </a:p>
                  </a:txBody>
                  <a:tcPr vert="vert270"/>
                </a:tc>
                <a:tc>
                  <a:txBody>
                    <a:bodyPr/>
                    <a:lstStyle/>
                    <a:p>
                      <a:pPr algn="ctr"/>
                      <a:r>
                        <a:rPr lang="fr-FR" sz="1600" dirty="0" smtClean="0"/>
                        <a:t>B</a:t>
                      </a:r>
                      <a:endParaRPr lang="fr-FR" sz="1600" dirty="0"/>
                    </a:p>
                  </a:txBody>
                  <a:tcPr/>
                </a:tc>
                <a:tc>
                  <a:txBody>
                    <a:bodyPr/>
                    <a:lstStyle/>
                    <a:p>
                      <a:r>
                        <a:rPr lang="fr-FR" sz="1600" dirty="0" smtClean="0"/>
                        <a:t>ouvrage du domaine BT (Basse Tension) et TBT (Très Basse Tension) </a:t>
                      </a:r>
                      <a:endParaRPr lang="fr-FR" sz="1600" dirty="0"/>
                    </a:p>
                  </a:txBody>
                  <a:tcPr/>
                </a:tc>
              </a:tr>
              <a:tr h="625023">
                <a:tc vMerge="1">
                  <a:txBody>
                    <a:bodyPr/>
                    <a:lstStyle/>
                    <a:p>
                      <a:endParaRPr lang="fr-FR" dirty="0"/>
                    </a:p>
                  </a:txBody>
                  <a:tcPr/>
                </a:tc>
                <a:tc>
                  <a:txBody>
                    <a:bodyPr/>
                    <a:lstStyle/>
                    <a:p>
                      <a:pPr algn="ctr"/>
                      <a:r>
                        <a:rPr lang="fr-FR" sz="1600" dirty="0" smtClean="0"/>
                        <a:t>H</a:t>
                      </a:r>
                      <a:endParaRPr lang="fr-FR" sz="1600" dirty="0"/>
                    </a:p>
                  </a:txBody>
                  <a:tcPr/>
                </a:tc>
                <a:tc>
                  <a:txBody>
                    <a:bodyPr/>
                    <a:lstStyle/>
                    <a:p>
                      <a:r>
                        <a:rPr lang="fr-FR" sz="1600" dirty="0" smtClean="0"/>
                        <a:t>ouvrage du domaine HT (Haute tension) </a:t>
                      </a:r>
                      <a:endParaRPr lang="fr-FR" sz="1600" dirty="0"/>
                    </a:p>
                  </a:txBody>
                  <a:tcPr/>
                </a:tc>
              </a:tr>
              <a:tr h="988265">
                <a:tc rowSpan="3">
                  <a:txBody>
                    <a:bodyPr/>
                    <a:lstStyle/>
                    <a:p>
                      <a:pPr algn="ctr"/>
                      <a:r>
                        <a:rPr lang="fr-FR" sz="1600" b="1" kern="1200" dirty="0" smtClean="0">
                          <a:solidFill>
                            <a:schemeClr val="dk1"/>
                          </a:solidFill>
                          <a:latin typeface="+mn-lt"/>
                          <a:ea typeface="+mn-ea"/>
                          <a:cs typeface="+mn-cs"/>
                        </a:rPr>
                        <a:t>Indice numérique</a:t>
                      </a:r>
                      <a:endParaRPr lang="fr-FR" sz="1600" dirty="0"/>
                    </a:p>
                  </a:txBody>
                  <a:tcPr vert="vert270"/>
                </a:tc>
                <a:tc>
                  <a:txBody>
                    <a:bodyPr/>
                    <a:lstStyle/>
                    <a:p>
                      <a:pPr algn="ctr"/>
                      <a:r>
                        <a:rPr lang="fr-FR" sz="1600" dirty="0" smtClean="0"/>
                        <a:t>0</a:t>
                      </a:r>
                      <a:endParaRPr lang="fr-FR" sz="1600" dirty="0"/>
                    </a:p>
                  </a:txBody>
                  <a:tcPr/>
                </a:tc>
                <a:tc>
                  <a:txBody>
                    <a:bodyPr/>
                    <a:lstStyle/>
                    <a:p>
                      <a:r>
                        <a:rPr lang="fr-FR" sz="1600" dirty="0" smtClean="0"/>
                        <a:t>personnel réalisant exclusivement des travaux d'ordre non électrique et / ou des manœuvres permises. </a:t>
                      </a:r>
                      <a:endParaRPr lang="fr-FR" sz="1600" dirty="0"/>
                    </a:p>
                  </a:txBody>
                  <a:tcPr/>
                </a:tc>
              </a:tr>
              <a:tr h="988265">
                <a:tc vMerge="1">
                  <a:txBody>
                    <a:bodyPr/>
                    <a:lstStyle/>
                    <a:p>
                      <a:pPr algn="ctr"/>
                      <a:endParaRPr lang="fr-FR" sz="1400" dirty="0"/>
                    </a:p>
                  </a:txBody>
                  <a:tcPr/>
                </a:tc>
                <a:tc>
                  <a:txBody>
                    <a:bodyPr/>
                    <a:lstStyle/>
                    <a:p>
                      <a:pPr algn="ctr"/>
                      <a:r>
                        <a:rPr lang="fr-FR" sz="1600" dirty="0" smtClean="0"/>
                        <a:t>1</a:t>
                      </a:r>
                      <a:endParaRPr lang="fr-FR" sz="1600" dirty="0"/>
                    </a:p>
                  </a:txBody>
                  <a:tcPr/>
                </a:tc>
                <a:tc>
                  <a:txBody>
                    <a:bodyPr/>
                    <a:lstStyle/>
                    <a:p>
                      <a:r>
                        <a:rPr lang="fr-FR" sz="1600" dirty="0" smtClean="0"/>
                        <a:t>personnel exécutant des travaux d'ordre électrique et / ou des manœuvres. </a:t>
                      </a:r>
                      <a:endParaRPr lang="fr-FR" sz="1600" dirty="0"/>
                    </a:p>
                  </a:txBody>
                  <a:tcPr/>
                </a:tc>
              </a:tr>
              <a:tr h="625023">
                <a:tc vMerge="1">
                  <a:txBody>
                    <a:bodyPr/>
                    <a:lstStyle/>
                    <a:p>
                      <a:pPr algn="ctr"/>
                      <a:endParaRPr lang="fr-FR" sz="1400" dirty="0"/>
                    </a:p>
                  </a:txBody>
                  <a:tcPr/>
                </a:tc>
                <a:tc>
                  <a:txBody>
                    <a:bodyPr/>
                    <a:lstStyle/>
                    <a:p>
                      <a:pPr algn="ctr"/>
                      <a:r>
                        <a:rPr lang="fr-FR" sz="1600" dirty="0" smtClean="0"/>
                        <a:t>2</a:t>
                      </a:r>
                      <a:endParaRPr lang="fr-FR" sz="1600" dirty="0"/>
                    </a:p>
                  </a:txBody>
                  <a:tcPr/>
                </a:tc>
                <a:tc>
                  <a:txBody>
                    <a:bodyPr/>
                    <a:lstStyle/>
                    <a:p>
                      <a:r>
                        <a:rPr lang="fr-FR" sz="1600" dirty="0" smtClean="0"/>
                        <a:t>personnel chargé des travaux d'ordre électrique.</a:t>
                      </a:r>
                      <a:endParaRPr lang="fr-FR" sz="16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600" dirty="0" smtClean="0"/>
              <a:t>Q22 : Compléter le tableau suivant en fonction des symboles des habilitations électriques :</a:t>
            </a:r>
          </a:p>
          <a:p>
            <a:pPr>
              <a:buNone/>
            </a:pPr>
            <a:endParaRPr lang="fr-FR" sz="1600" dirty="0" smtClean="0"/>
          </a:p>
          <a:p>
            <a:pPr>
              <a:buNone/>
            </a:pPr>
            <a:endParaRPr lang="fr-FR" sz="1600" dirty="0" smtClean="0"/>
          </a:p>
        </p:txBody>
      </p:sp>
      <p:graphicFrame>
        <p:nvGraphicFramePr>
          <p:cNvPr id="5" name="Tableau 4"/>
          <p:cNvGraphicFramePr>
            <a:graphicFrameLocks noGrp="1"/>
          </p:cNvGraphicFramePr>
          <p:nvPr/>
        </p:nvGraphicFramePr>
        <p:xfrm>
          <a:off x="642910" y="1571612"/>
          <a:ext cx="7929618" cy="4284350"/>
        </p:xfrm>
        <a:graphic>
          <a:graphicData uri="http://schemas.openxmlformats.org/drawingml/2006/table">
            <a:tbl>
              <a:tblPr firstRow="1" bandRow="1">
                <a:tableStyleId>{5C22544A-7EE6-4342-B048-85BDC9FD1C3A}</a:tableStyleId>
              </a:tblPr>
              <a:tblGrid>
                <a:gridCol w="836333"/>
                <a:gridCol w="1115110"/>
                <a:gridCol w="5978175"/>
              </a:tblGrid>
              <a:tr h="404815">
                <a:tc rowSpan="7">
                  <a:txBody>
                    <a:bodyPr/>
                    <a:lstStyle/>
                    <a:p>
                      <a:pPr algn="ctr"/>
                      <a:r>
                        <a:rPr lang="fr-FR" sz="1800" b="1" kern="1200" dirty="0" smtClean="0">
                          <a:solidFill>
                            <a:schemeClr val="dk1"/>
                          </a:solidFill>
                          <a:latin typeface="+mn-lt"/>
                          <a:ea typeface="+mn-ea"/>
                          <a:cs typeface="+mn-cs"/>
                        </a:rPr>
                        <a:t>Deuxième lettre</a:t>
                      </a:r>
                      <a:endParaRPr lang="fr-FR" sz="1400" dirty="0"/>
                    </a:p>
                  </a:txBody>
                  <a:tcPr vert="vert270"/>
                </a:tc>
                <a:tc>
                  <a:txBody>
                    <a:bodyPr/>
                    <a:lstStyle/>
                    <a:p>
                      <a:pPr algn="ctr"/>
                      <a:r>
                        <a:rPr lang="fr-FR" dirty="0" smtClean="0"/>
                        <a:t>R</a:t>
                      </a:r>
                      <a:endParaRPr lang="fr-FR" dirty="0"/>
                    </a:p>
                  </a:txBody>
                  <a:tcPr/>
                </a:tc>
                <a:tc>
                  <a:txBody>
                    <a:bodyPr/>
                    <a:lstStyle/>
                    <a:p>
                      <a:r>
                        <a:rPr lang="fr-FR" dirty="0" smtClean="0"/>
                        <a:t>le titulaire peut procéder à des interventions de dépannage, de raccordement, mesurages, essais, vérifications </a:t>
                      </a:r>
                    </a:p>
                    <a:p>
                      <a:r>
                        <a:rPr lang="fr-FR" dirty="0" smtClean="0"/>
                        <a:t>(TBT et BT). </a:t>
                      </a:r>
                      <a:endParaRPr lang="fr-FR" dirty="0"/>
                    </a:p>
                  </a:txBody>
                  <a:tcPr/>
                </a:tc>
              </a:tr>
              <a:tr h="404815">
                <a:tc vMerge="1">
                  <a:txBody>
                    <a:bodyPr/>
                    <a:lstStyle/>
                    <a:p>
                      <a:pPr algn="ctr"/>
                      <a:endParaRPr lang="fr-FR" sz="1400" dirty="0"/>
                    </a:p>
                  </a:txBody>
                  <a:tcPr/>
                </a:tc>
                <a:tc>
                  <a:txBody>
                    <a:bodyPr/>
                    <a:lstStyle/>
                    <a:p>
                      <a:pPr algn="ctr"/>
                      <a:r>
                        <a:rPr lang="fr-FR" dirty="0" smtClean="0"/>
                        <a:t>T</a:t>
                      </a:r>
                      <a:endParaRPr lang="fr-FR" dirty="0"/>
                    </a:p>
                  </a:txBody>
                  <a:tcPr/>
                </a:tc>
                <a:tc>
                  <a:txBody>
                    <a:bodyPr/>
                    <a:lstStyle/>
                    <a:p>
                      <a:r>
                        <a:rPr lang="fr-FR" dirty="0" smtClean="0"/>
                        <a:t>le titulaire peut travailler sous tension.</a:t>
                      </a:r>
                      <a:endParaRPr lang="fr-FR" dirty="0"/>
                    </a:p>
                  </a:txBody>
                  <a:tcPr/>
                </a:tc>
              </a:tr>
              <a:tr h="404815">
                <a:tc vMerge="1">
                  <a:txBody>
                    <a:bodyPr/>
                    <a:lstStyle/>
                    <a:p>
                      <a:pPr algn="ctr"/>
                      <a:endParaRPr lang="fr-FR" sz="1400" dirty="0"/>
                    </a:p>
                  </a:txBody>
                  <a:tcPr/>
                </a:tc>
                <a:tc>
                  <a:txBody>
                    <a:bodyPr/>
                    <a:lstStyle/>
                    <a:p>
                      <a:pPr algn="ctr"/>
                      <a:r>
                        <a:rPr lang="fr-FR" dirty="0" smtClean="0"/>
                        <a:t>N</a:t>
                      </a:r>
                      <a:endParaRPr lang="fr-FR" dirty="0"/>
                    </a:p>
                  </a:txBody>
                  <a:tcPr/>
                </a:tc>
                <a:tc>
                  <a:txBody>
                    <a:bodyPr/>
                    <a:lstStyle/>
                    <a:p>
                      <a:r>
                        <a:rPr lang="fr-FR" dirty="0" smtClean="0"/>
                        <a:t>le titulaire peut effectuer des travaux de nettoyage sous tension. </a:t>
                      </a:r>
                      <a:endParaRPr lang="fr-FR" dirty="0"/>
                    </a:p>
                  </a:txBody>
                  <a:tcPr/>
                </a:tc>
              </a:tr>
              <a:tr h="404815">
                <a:tc vMerge="1">
                  <a:txBody>
                    <a:bodyPr/>
                    <a:lstStyle/>
                    <a:p>
                      <a:pPr algn="ctr"/>
                      <a:endParaRPr lang="fr-FR" sz="1400" dirty="0"/>
                    </a:p>
                  </a:txBody>
                  <a:tcPr/>
                </a:tc>
                <a:tc>
                  <a:txBody>
                    <a:bodyPr/>
                    <a:lstStyle/>
                    <a:p>
                      <a:pPr algn="ctr"/>
                      <a:r>
                        <a:rPr lang="fr-FR" dirty="0" smtClean="0"/>
                        <a:t>V</a:t>
                      </a:r>
                      <a:endParaRPr lang="fr-FR" dirty="0"/>
                    </a:p>
                  </a:txBody>
                  <a:tcPr/>
                </a:tc>
                <a:tc>
                  <a:txBody>
                    <a:bodyPr/>
                    <a:lstStyle/>
                    <a:p>
                      <a:r>
                        <a:rPr lang="fr-FR" dirty="0" smtClean="0"/>
                        <a:t>le titulaire peut travailler au voisinage d'installations du domaine indiqué.</a:t>
                      </a:r>
                      <a:endParaRPr lang="fr-FR" dirty="0"/>
                    </a:p>
                  </a:txBody>
                  <a:tcPr/>
                </a:tc>
              </a:tr>
              <a:tr h="404815">
                <a:tc vMerge="1">
                  <a:txBody>
                    <a:bodyPr/>
                    <a:lstStyle/>
                    <a:p>
                      <a:pPr algn="ctr"/>
                      <a:endParaRPr lang="fr-FR" sz="1400" dirty="0"/>
                    </a:p>
                  </a:txBody>
                  <a:tcPr/>
                </a:tc>
                <a:tc>
                  <a:txBody>
                    <a:bodyPr/>
                    <a:lstStyle/>
                    <a:p>
                      <a:pPr algn="ctr"/>
                      <a:r>
                        <a:rPr lang="fr-FR" dirty="0" smtClean="0"/>
                        <a:t>S</a:t>
                      </a:r>
                      <a:endParaRPr lang="fr-FR" dirty="0"/>
                    </a:p>
                  </a:txBody>
                  <a:tcPr/>
                </a:tc>
                <a:tc>
                  <a:txBody>
                    <a:bodyPr/>
                    <a:lstStyle/>
                    <a:p>
                      <a:r>
                        <a:rPr lang="fr-FR" dirty="0" smtClean="0"/>
                        <a:t>le titulaire peut procéder à des remplacements et des raccordements. </a:t>
                      </a:r>
                      <a:endParaRPr lang="fr-FR" dirty="0"/>
                    </a:p>
                  </a:txBody>
                  <a:tcPr/>
                </a:tc>
              </a:tr>
              <a:tr h="404815">
                <a:tc vMerge="1">
                  <a:txBody>
                    <a:bodyPr/>
                    <a:lstStyle/>
                    <a:p>
                      <a:pPr algn="ctr"/>
                      <a:endParaRPr lang="fr-FR" sz="1400" dirty="0"/>
                    </a:p>
                  </a:txBody>
                  <a:tcPr/>
                </a:tc>
                <a:tc>
                  <a:txBody>
                    <a:bodyPr/>
                    <a:lstStyle/>
                    <a:p>
                      <a:pPr algn="ctr"/>
                      <a:r>
                        <a:rPr lang="fr-FR" dirty="0" smtClean="0"/>
                        <a:t>C</a:t>
                      </a:r>
                      <a:endParaRPr lang="fr-FR" dirty="0"/>
                    </a:p>
                  </a:txBody>
                  <a:tcPr/>
                </a:tc>
                <a:tc>
                  <a:txBody>
                    <a:bodyPr/>
                    <a:lstStyle/>
                    <a:p>
                      <a:r>
                        <a:rPr lang="fr-FR" dirty="0" smtClean="0"/>
                        <a:t>le titulaire peut effectuer des consignations. </a:t>
                      </a:r>
                      <a:endParaRPr lang="fr-FR" dirty="0"/>
                    </a:p>
                  </a:txBody>
                  <a:tcPr/>
                </a:tc>
              </a:tr>
              <a:tr h="404815">
                <a:tc vMerge="1">
                  <a:txBody>
                    <a:bodyPr/>
                    <a:lstStyle/>
                    <a:p>
                      <a:pPr algn="ctr"/>
                      <a:endParaRPr lang="fr-FR" sz="1400" dirty="0"/>
                    </a:p>
                  </a:txBody>
                  <a:tcPr/>
                </a:tc>
                <a:tc>
                  <a:txBody>
                    <a:bodyPr/>
                    <a:lstStyle/>
                    <a:p>
                      <a:pPr algn="ctr"/>
                      <a:r>
                        <a:rPr lang="fr-FR" dirty="0" smtClean="0"/>
                        <a:t>E</a:t>
                      </a:r>
                      <a:endParaRPr lang="fr-FR" dirty="0"/>
                    </a:p>
                  </a:txBody>
                  <a:tcPr/>
                </a:tc>
                <a:tc>
                  <a:txBody>
                    <a:bodyPr/>
                    <a:lstStyle/>
                    <a:p>
                      <a:r>
                        <a:rPr lang="fr-FR" dirty="0" smtClean="0"/>
                        <a:t>le titulaire peut effectuer des essais, vérifications, mesurages ou manœuvres.</a:t>
                      </a:r>
                      <a:endParaRPr lang="fr-FR"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Autofit/>
          </a:bodyPr>
          <a:lstStyle/>
          <a:p>
            <a:pPr>
              <a:buNone/>
            </a:pPr>
            <a:r>
              <a:rPr lang="fr-FR" sz="1600" dirty="0" smtClean="0"/>
              <a:t>Q23 : Votre habilitation électrique pour un BAC PRO SN doit être : B1V, détailler les abréviations.</a:t>
            </a:r>
          </a:p>
          <a:p>
            <a:pPr>
              <a:buNone/>
            </a:pPr>
            <a:endParaRPr lang="fr-FR" sz="1600" dirty="0" smtClean="0"/>
          </a:p>
          <a:p>
            <a:pPr>
              <a:buNone/>
            </a:pPr>
            <a:r>
              <a:rPr lang="fr-FR" sz="1600" dirty="0" smtClean="0"/>
              <a:t>B : </a:t>
            </a:r>
            <a:r>
              <a:rPr lang="fr-FR" sz="1600" b="1" dirty="0" smtClean="0">
                <a:solidFill>
                  <a:srgbClr val="FF0000"/>
                </a:solidFill>
              </a:rPr>
              <a:t>ouvrage du domaine BT (Basse Tension) et TBT (Très Basse Tension) </a:t>
            </a:r>
          </a:p>
          <a:p>
            <a:pPr>
              <a:buNone/>
            </a:pPr>
            <a:r>
              <a:rPr lang="fr-FR" sz="1600" dirty="0" smtClean="0"/>
              <a:t> </a:t>
            </a:r>
          </a:p>
          <a:p>
            <a:pPr>
              <a:buNone/>
            </a:pPr>
            <a:r>
              <a:rPr lang="fr-FR" sz="1600" dirty="0" smtClean="0"/>
              <a:t>1 : </a:t>
            </a:r>
            <a:r>
              <a:rPr lang="fr-FR" sz="1600" b="1" dirty="0" smtClean="0">
                <a:solidFill>
                  <a:srgbClr val="FF0000"/>
                </a:solidFill>
              </a:rPr>
              <a:t>personnel exécutant des travaux d'ordre électrique et / ou des manœuvres.</a:t>
            </a:r>
          </a:p>
          <a:p>
            <a:pPr>
              <a:buNone/>
            </a:pPr>
            <a:endParaRPr lang="fr-FR" sz="1600" dirty="0" smtClean="0"/>
          </a:p>
          <a:p>
            <a:pPr>
              <a:buNone/>
            </a:pPr>
            <a:r>
              <a:rPr lang="fr-FR" sz="1600" dirty="0" smtClean="0"/>
              <a:t>V : </a:t>
            </a:r>
            <a:r>
              <a:rPr lang="fr-FR" sz="1600" b="1" dirty="0" smtClean="0">
                <a:solidFill>
                  <a:srgbClr val="FF0000"/>
                </a:solidFill>
              </a:rPr>
              <a:t>le titulaire peut travailler au voisinage d'installations du domaine indiqué. </a:t>
            </a:r>
          </a:p>
          <a:p>
            <a:pPr>
              <a:buNone/>
            </a:pPr>
            <a:endParaRPr lang="fr-FR" sz="1600" dirty="0" smtClean="0"/>
          </a:p>
          <a:p>
            <a:pPr>
              <a:buNone/>
            </a:pPr>
            <a:r>
              <a:rPr lang="fr-FR" sz="1600" dirty="0" smtClean="0"/>
              <a:t>Q24 : Quels sont les noms et donner une définition des autres personnes non habilitées ?</a:t>
            </a:r>
          </a:p>
          <a:p>
            <a:pPr>
              <a:buNone/>
            </a:pPr>
            <a:endParaRPr lang="fr-FR" sz="1600" dirty="0" smtClean="0"/>
          </a:p>
          <a:p>
            <a:r>
              <a:rPr lang="fr-FR" sz="1600" b="1" dirty="0" smtClean="0">
                <a:solidFill>
                  <a:srgbClr val="FF0000"/>
                </a:solidFill>
              </a:rPr>
              <a:t>Personnel ordinaire non formée </a:t>
            </a:r>
            <a:r>
              <a:rPr lang="fr-FR" sz="1600" dirty="0" smtClean="0"/>
              <a:t>: Le branchement d'un appareil à une prise de courant ne </a:t>
            </a:r>
            <a:r>
              <a:rPr lang="fr-FR" sz="1600" dirty="0" smtClean="0"/>
              <a:t>nécessite </a:t>
            </a:r>
            <a:r>
              <a:rPr lang="fr-FR" sz="1600" dirty="0" smtClean="0"/>
              <a:t>aucune </a:t>
            </a:r>
            <a:r>
              <a:rPr lang="fr-FR" sz="1600" dirty="0" smtClean="0"/>
              <a:t>habilitation </a:t>
            </a:r>
            <a:r>
              <a:rPr lang="fr-FR" sz="1600" dirty="0" smtClean="0"/>
              <a:t>électrique. </a:t>
            </a:r>
            <a:endParaRPr lang="fr-FR" sz="1600" dirty="0" smtClean="0"/>
          </a:p>
          <a:p>
            <a:r>
              <a:rPr lang="fr-FR" sz="1600" b="1" dirty="0" smtClean="0">
                <a:solidFill>
                  <a:srgbClr val="FF0000"/>
                </a:solidFill>
              </a:rPr>
              <a:t>Chargé </a:t>
            </a:r>
            <a:r>
              <a:rPr lang="fr-FR" sz="1600" b="1" dirty="0" smtClean="0">
                <a:solidFill>
                  <a:srgbClr val="FF0000"/>
                </a:solidFill>
              </a:rPr>
              <a:t>d'exploitation </a:t>
            </a:r>
            <a:r>
              <a:rPr lang="fr-FR" sz="1600" b="1" dirty="0" smtClean="0">
                <a:solidFill>
                  <a:srgbClr val="FF0000"/>
                </a:solidFill>
              </a:rPr>
              <a:t>électrique </a:t>
            </a:r>
            <a:r>
              <a:rPr lang="fr-FR" sz="1600" dirty="0" smtClean="0"/>
              <a:t>: Il peut être également l'employeur et n'a pas lieu d'être habilité</a:t>
            </a:r>
            <a:r>
              <a:rPr lang="fr-FR" sz="1600" dirty="0" smtClean="0"/>
              <a:t>.</a:t>
            </a:r>
          </a:p>
          <a:p>
            <a:r>
              <a:rPr lang="fr-FR" sz="1600" b="1" dirty="0" smtClean="0">
                <a:solidFill>
                  <a:srgbClr val="FF0000"/>
                </a:solidFill>
              </a:rPr>
              <a:t>Chargé de chantier non habilité </a:t>
            </a:r>
            <a:r>
              <a:rPr lang="fr-FR" sz="1600" dirty="0" smtClean="0"/>
              <a:t>: Dans le cadre de travaux du bâtiment, le chargé de chantier n'a pas obligation </a:t>
            </a:r>
            <a:r>
              <a:rPr lang="fr-FR" sz="1600" dirty="0" smtClean="0"/>
              <a:t>d'être </a:t>
            </a:r>
            <a:r>
              <a:rPr lang="fr-FR" sz="1600" dirty="0" smtClean="0"/>
              <a:t>habilité. Il peut diriger ou effectuer des travaux non-électriques dans la mesure où le risque électrique a été </a:t>
            </a:r>
            <a:r>
              <a:rPr lang="fr-FR" sz="1600" dirty="0" smtClean="0"/>
              <a:t>supprimé </a:t>
            </a:r>
            <a:r>
              <a:rPr lang="fr-FR" sz="1600" dirty="0" smtClean="0"/>
              <a:t>dans l'environnement de travail. </a:t>
            </a: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3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3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0" fill="hold">
                            <p:stCondLst>
                              <p:cond delay="3500"/>
                            </p:stCondLst>
                            <p:childTnLst>
                              <p:par>
                                <p:cTn id="21" presetID="2" presetClass="entr" presetSubtype="4" fill="hold" nodeType="after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3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3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 presetClass="entr" presetSubtype="4" fill="hold" nodeType="after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 calcmode="lin" valueType="num">
                                      <p:cBhvr additive="base">
                                        <p:cTn id="40" dur="3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1" dur="30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par>
                          <p:cTn id="42" fill="hold">
                            <p:stCondLst>
                              <p:cond delay="3500"/>
                            </p:stCondLst>
                            <p:childTnLst>
                              <p:par>
                                <p:cTn id="43" presetID="2" presetClass="entr" presetSubtype="4" fill="hold" nodeType="after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 calcmode="lin" valueType="num">
                                      <p:cBhvr additive="base">
                                        <p:cTn id="45" dur="30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6" dur="30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Q25 : Existe-t-il une habilitation électrique pour les personnes non électricien ? Si oui lesquelles ? Explications.</a:t>
            </a:r>
          </a:p>
          <a:p>
            <a:pPr>
              <a:buNone/>
            </a:pPr>
            <a:endParaRPr lang="fr-FR" sz="1800" dirty="0" smtClean="0"/>
          </a:p>
          <a:p>
            <a:r>
              <a:rPr lang="fr-FR" sz="1800" b="1" dirty="0" smtClean="0">
                <a:solidFill>
                  <a:srgbClr val="FF0000"/>
                </a:solidFill>
              </a:rPr>
              <a:t>PERSONNEL NON ÉLECTRICIEN BO / HO ou HOV </a:t>
            </a:r>
          </a:p>
          <a:p>
            <a:pPr>
              <a:buNone/>
            </a:pPr>
            <a:r>
              <a:rPr lang="fr-FR" sz="1800" dirty="0" smtClean="0"/>
              <a:t>Exemples : travaux </a:t>
            </a:r>
            <a:r>
              <a:rPr lang="fr-FR" sz="1800" dirty="0" smtClean="0"/>
              <a:t>de </a:t>
            </a:r>
            <a:r>
              <a:rPr lang="fr-FR" sz="1800" dirty="0" smtClean="0"/>
              <a:t>peinture, </a:t>
            </a:r>
            <a:r>
              <a:rPr lang="fr-FR" sz="1800" dirty="0" smtClean="0"/>
              <a:t>travaux de nettoyage de locaux </a:t>
            </a:r>
            <a:r>
              <a:rPr lang="fr-FR" sz="1800" dirty="0" smtClean="0"/>
              <a:t>électriques, travaux </a:t>
            </a:r>
            <a:r>
              <a:rPr lang="fr-FR" sz="1800" dirty="0" smtClean="0"/>
              <a:t>à proximité d'une ligne électrique aérienne (élagage, peinture de façade, BTP</a:t>
            </a:r>
            <a:r>
              <a:rPr lang="fr-FR" sz="1800" dirty="0" smtClean="0"/>
              <a:t>,...), </a:t>
            </a:r>
            <a:r>
              <a:rPr lang="fr-FR" sz="1800" dirty="0" smtClean="0"/>
              <a:t>travaux techniques divers dans un environnement à risque électrique (armoires électriques,...) </a:t>
            </a:r>
            <a:endParaRPr lang="fr-FR" sz="1800" dirty="0" smtClean="0"/>
          </a:p>
          <a:p>
            <a:pPr>
              <a:buNone/>
            </a:pPr>
            <a:endParaRPr lang="fr-FR" sz="1800" dirty="0" smtClean="0"/>
          </a:p>
          <a:p>
            <a:pPr>
              <a:buNone/>
            </a:pPr>
            <a:r>
              <a:rPr lang="fr-FR" sz="1800" dirty="0" smtClean="0"/>
              <a:t>Q26 : Qu’est ce qu’une habilitation BC ?</a:t>
            </a:r>
          </a:p>
          <a:p>
            <a:pPr>
              <a:buNone/>
            </a:pPr>
            <a:endParaRPr lang="fr-FR" sz="1800" dirty="0" smtClean="0"/>
          </a:p>
          <a:p>
            <a:pPr>
              <a:buNone/>
            </a:pPr>
            <a:r>
              <a:rPr lang="fr-FR" sz="1800" b="1" dirty="0" smtClean="0">
                <a:solidFill>
                  <a:srgbClr val="FF0000"/>
                </a:solidFill>
              </a:rPr>
              <a:t>PERSONNEL CHARGÉ DE CONSIGNATION BC / HC </a:t>
            </a:r>
          </a:p>
          <a:p>
            <a:pPr>
              <a:buNone/>
            </a:pPr>
            <a:r>
              <a:rPr lang="fr-FR" sz="1800" b="1" dirty="0" smtClean="0">
                <a:solidFill>
                  <a:srgbClr val="FF0000"/>
                </a:solidFill>
              </a:rPr>
              <a:t>Une personne habilitée effectue tout ou partie la consignation électrique d'un ouvrage et est chargée de </a:t>
            </a:r>
            <a:r>
              <a:rPr lang="fr-FR" sz="1800" b="1" dirty="0" smtClean="0">
                <a:solidFill>
                  <a:srgbClr val="FF0000"/>
                </a:solidFill>
              </a:rPr>
              <a:t>prendre </a:t>
            </a:r>
            <a:r>
              <a:rPr lang="fr-FR" sz="1800" b="1" dirty="0" smtClean="0">
                <a:solidFill>
                  <a:srgbClr val="FF0000"/>
                </a:solidFill>
              </a:rPr>
              <a:t>ou de faire prendre les mesures de sécurité correspondantes. Elle doit avoir l'accord du chargé </a:t>
            </a:r>
            <a:r>
              <a:rPr lang="fr-FR" sz="1800" b="1" dirty="0" smtClean="0">
                <a:solidFill>
                  <a:srgbClr val="FF0000"/>
                </a:solidFill>
              </a:rPr>
              <a:t>d'exploitation </a:t>
            </a:r>
            <a:r>
              <a:rPr lang="fr-FR" sz="1800" b="1" dirty="0" smtClean="0">
                <a:solidFill>
                  <a:srgbClr val="FF0000"/>
                </a:solidFill>
              </a:rPr>
              <a:t>ou du chef d'établissement</a:t>
            </a:r>
            <a:r>
              <a:rPr lang="fr-FR" sz="1800" b="1" dirty="0" smtClean="0">
                <a:solidFill>
                  <a:srgbClr val="FF0000"/>
                </a:solidFill>
              </a:rPr>
              <a:t>.</a:t>
            </a:r>
            <a:endParaRPr lang="fr-FR" sz="1800" b="1"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3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3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2" presetClass="entr" presetSubtype="4" fill="hold"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3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Q27 : Qu’est ce qu’une habilitation BR ?</a:t>
            </a:r>
          </a:p>
          <a:p>
            <a:pPr>
              <a:buNone/>
            </a:pPr>
            <a:endParaRPr lang="fr-FR" sz="1800" dirty="0" smtClean="0"/>
          </a:p>
          <a:p>
            <a:pPr>
              <a:buNone/>
            </a:pPr>
            <a:r>
              <a:rPr lang="fr-FR" sz="1800" b="1" dirty="0" smtClean="0">
                <a:solidFill>
                  <a:srgbClr val="FF0000"/>
                </a:solidFill>
              </a:rPr>
              <a:t>PERSONNEL CHARGÉ D'INTERVENTION BR </a:t>
            </a:r>
            <a:endParaRPr lang="fr-FR" sz="1800" b="1" dirty="0" smtClean="0">
              <a:solidFill>
                <a:srgbClr val="FF0000"/>
              </a:solidFill>
            </a:endParaRPr>
          </a:p>
          <a:p>
            <a:pPr>
              <a:buNone/>
            </a:pPr>
            <a:endParaRPr lang="fr-FR" sz="1800" dirty="0" smtClean="0"/>
          </a:p>
          <a:p>
            <a:pPr>
              <a:buNone/>
            </a:pPr>
            <a:r>
              <a:rPr lang="fr-FR" sz="1800" dirty="0" smtClean="0"/>
              <a:t>Q28 : Qu’est ce qu’une habilitation BS ?</a:t>
            </a:r>
          </a:p>
          <a:p>
            <a:pPr>
              <a:buNone/>
            </a:pPr>
            <a:endParaRPr lang="fr-FR" sz="1800" dirty="0" smtClean="0"/>
          </a:p>
          <a:p>
            <a:pPr>
              <a:buNone/>
            </a:pPr>
            <a:r>
              <a:rPr lang="fr-FR" sz="1800" b="1" dirty="0" smtClean="0">
                <a:solidFill>
                  <a:srgbClr val="FF0000"/>
                </a:solidFill>
              </a:rPr>
              <a:t>PERSONNEL CHARGÉ DE REMPLACEMENT ET DE RACCORDEMENT BS </a:t>
            </a:r>
            <a:endParaRPr lang="fr-FR" sz="1800" b="1" dirty="0" smtClean="0">
              <a:solidFill>
                <a:srgbClr val="FF0000"/>
              </a:solidFill>
            </a:endParaRPr>
          </a:p>
          <a:p>
            <a:pPr>
              <a:buNone/>
            </a:pPr>
            <a:endParaRPr lang="fr-FR" sz="1800" b="1" dirty="0" smtClean="0">
              <a:solidFill>
                <a:srgbClr val="FF0000"/>
              </a:solidFill>
            </a:endParaRPr>
          </a:p>
          <a:p>
            <a:pPr>
              <a:buNone/>
            </a:pPr>
            <a:r>
              <a:rPr lang="fr-FR" sz="1800" b="1" dirty="0" smtClean="0"/>
              <a:t>- Remplacement d'une lampe ou d'un fusible </a:t>
            </a:r>
          </a:p>
          <a:p>
            <a:pPr>
              <a:buNone/>
            </a:pPr>
            <a:r>
              <a:rPr lang="fr-FR" sz="1800" b="1" dirty="0" smtClean="0"/>
              <a:t>- Raccordement d'une platine sur un circuit en </a:t>
            </a:r>
            <a:r>
              <a:rPr lang="fr-FR" sz="1800" b="1" dirty="0" smtClean="0"/>
              <a:t>attente</a:t>
            </a:r>
            <a:endParaRPr lang="fr-FR" sz="1800" b="1" dirty="0" smtClean="0"/>
          </a:p>
          <a:p>
            <a:pPr>
              <a:buNone/>
            </a:pPr>
            <a:r>
              <a:rPr lang="fr-FR" sz="1800" b="1" dirty="0" smtClean="0"/>
              <a:t>- Ne peut pas consigner mais doit mettre hors tension pour lui- même à l'aide de manœuvres </a:t>
            </a:r>
            <a:r>
              <a:rPr lang="fr-FR" sz="1800" b="1" dirty="0" smtClean="0"/>
              <a:t>simples </a:t>
            </a:r>
            <a:r>
              <a:rPr lang="fr-FR" sz="1800" b="1" dirty="0" smtClean="0"/>
              <a:t>et sûres. </a:t>
            </a:r>
            <a:endParaRPr lang="fr-FR" sz="18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 calcmode="lin" valueType="num">
                                      <p:cBhvr additive="base">
                                        <p:cTn id="30" dur="3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1" dur="3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3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37" fill="hold">
                            <p:stCondLst>
                              <p:cond delay="6500"/>
                            </p:stCondLst>
                            <p:childTnLst>
                              <p:par>
                                <p:cTn id="38" presetID="2" presetClass="entr" presetSubtype="4" fill="hold" nodeType="after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 calcmode="lin" valueType="num">
                                      <p:cBhvr additive="base">
                                        <p:cTn id="40" dur="3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1" dur="3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29289"/>
          </a:xfrm>
          <a:ln>
            <a:solidFill>
              <a:srgbClr val="FF0000"/>
            </a:solidFill>
          </a:ln>
        </p:spPr>
        <p:txBody>
          <a:bodyPr>
            <a:normAutofit/>
          </a:bodyPr>
          <a:lstStyle/>
          <a:p>
            <a:pPr>
              <a:buNone/>
            </a:pPr>
            <a:r>
              <a:rPr lang="fr-FR" sz="1800" dirty="0" smtClean="0"/>
              <a:t>Q29 : Votre habilitation est B1V, sous quelles tensions pouvez-vous intervenir ? Donner les domaines de tension pour votre habilitation.</a:t>
            </a:r>
          </a:p>
          <a:p>
            <a:pPr>
              <a:buNone/>
            </a:pPr>
            <a:endParaRPr lang="fr-FR" sz="1600" dirty="0" smtClean="0"/>
          </a:p>
        </p:txBody>
      </p:sp>
      <p:pic>
        <p:nvPicPr>
          <p:cNvPr id="4" name="Picture 2"/>
          <p:cNvPicPr>
            <a:picLocks noChangeAspect="1" noChangeArrowheads="1"/>
          </p:cNvPicPr>
          <p:nvPr/>
        </p:nvPicPr>
        <p:blipFill>
          <a:blip r:embed="rId3" cstate="print"/>
          <a:srcRect/>
          <a:stretch>
            <a:fillRect/>
          </a:stretch>
        </p:blipFill>
        <p:spPr bwMode="auto">
          <a:xfrm>
            <a:off x="1857356" y="1643050"/>
            <a:ext cx="5194300" cy="4572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572165"/>
          </a:xfrm>
          <a:ln>
            <a:solidFill>
              <a:srgbClr val="FF0000"/>
            </a:solidFill>
          </a:ln>
        </p:spPr>
        <p:txBody>
          <a:bodyPr>
            <a:normAutofit/>
          </a:bodyPr>
          <a:lstStyle/>
          <a:p>
            <a:pPr>
              <a:buNone/>
            </a:pPr>
            <a:r>
              <a:rPr lang="fr-FR" sz="1800" dirty="0" smtClean="0"/>
              <a:t>Q30 : Quel est le rôle d’un chargé de consignation ?</a:t>
            </a:r>
          </a:p>
          <a:p>
            <a:r>
              <a:rPr lang="fr-FR" sz="1800" b="1" dirty="0" smtClean="0">
                <a:solidFill>
                  <a:srgbClr val="FF0000"/>
                </a:solidFill>
              </a:rPr>
              <a:t>Personne </a:t>
            </a:r>
            <a:r>
              <a:rPr lang="fr-FR" sz="1800" b="1" dirty="0" smtClean="0">
                <a:solidFill>
                  <a:srgbClr val="FF0000"/>
                </a:solidFill>
              </a:rPr>
              <a:t>qui exécute ou fait exécuter les manœuvres de consignation. </a:t>
            </a:r>
          </a:p>
          <a:p>
            <a:r>
              <a:rPr lang="fr-FR" sz="1800" b="1" dirty="0" smtClean="0">
                <a:solidFill>
                  <a:srgbClr val="FF0000"/>
                </a:solidFill>
              </a:rPr>
              <a:t>Elle </a:t>
            </a:r>
            <a:r>
              <a:rPr lang="fr-FR" sz="1800" b="1" dirty="0" smtClean="0">
                <a:solidFill>
                  <a:srgbClr val="FF0000"/>
                </a:solidFill>
              </a:rPr>
              <a:t>est responsable de la séparation de l'ouvrage des sources de liaison et de la condamnation </a:t>
            </a:r>
            <a:r>
              <a:rPr lang="fr-FR" sz="1800" b="1" dirty="0" smtClean="0">
                <a:solidFill>
                  <a:srgbClr val="FF0000"/>
                </a:solidFill>
              </a:rPr>
              <a:t>des </a:t>
            </a:r>
            <a:r>
              <a:rPr lang="fr-FR" sz="1800" b="1" dirty="0" smtClean="0">
                <a:solidFill>
                  <a:srgbClr val="FF0000"/>
                </a:solidFill>
              </a:rPr>
              <a:t>organes de séparation. </a:t>
            </a:r>
          </a:p>
          <a:p>
            <a:r>
              <a:rPr lang="fr-FR" sz="1800" b="1" dirty="0" smtClean="0">
                <a:solidFill>
                  <a:srgbClr val="FF0000"/>
                </a:solidFill>
              </a:rPr>
              <a:t>Elle </a:t>
            </a:r>
            <a:r>
              <a:rPr lang="fr-FR" sz="1800" b="1" dirty="0" smtClean="0">
                <a:solidFill>
                  <a:srgbClr val="FF0000"/>
                </a:solidFill>
              </a:rPr>
              <a:t>établit l'attestation de consignation. </a:t>
            </a:r>
          </a:p>
          <a:p>
            <a:pPr>
              <a:buNone/>
            </a:pPr>
            <a:r>
              <a:rPr lang="fr-FR" sz="1800" b="1" dirty="0" smtClean="0">
                <a:solidFill>
                  <a:srgbClr val="FF0000"/>
                </a:solidFill>
              </a:rPr>
              <a:t>Pour effectuer des travaux ou des interventions hors tension sur un ouvrage en exploitation, il faut procéder à la consignation c'est </a:t>
            </a:r>
            <a:r>
              <a:rPr lang="fr-FR" sz="1800" b="1" dirty="0" smtClean="0">
                <a:solidFill>
                  <a:srgbClr val="FF0000"/>
                </a:solidFill>
              </a:rPr>
              <a:t>à </a:t>
            </a:r>
            <a:r>
              <a:rPr lang="fr-FR" sz="1800" b="1" dirty="0" smtClean="0">
                <a:solidFill>
                  <a:srgbClr val="FF0000"/>
                </a:solidFill>
              </a:rPr>
              <a:t>dire effectuer les quatre </a:t>
            </a:r>
            <a:r>
              <a:rPr lang="fr-FR" sz="1800" b="1" dirty="0" smtClean="0">
                <a:solidFill>
                  <a:srgbClr val="FF0000"/>
                </a:solidFill>
              </a:rPr>
              <a:t>opérations suivantes :</a:t>
            </a:r>
          </a:p>
          <a:p>
            <a:pPr>
              <a:buNone/>
            </a:pPr>
            <a:endParaRPr lang="fr-FR" sz="1600" dirty="0" smtClean="0"/>
          </a:p>
        </p:txBody>
      </p:sp>
      <p:pic>
        <p:nvPicPr>
          <p:cNvPr id="7170" name="Picture 2"/>
          <p:cNvPicPr>
            <a:picLocks noChangeAspect="1" noChangeArrowheads="1"/>
          </p:cNvPicPr>
          <p:nvPr/>
        </p:nvPicPr>
        <p:blipFill>
          <a:blip r:embed="rId3" cstate="print"/>
          <a:srcRect/>
          <a:stretch>
            <a:fillRect/>
          </a:stretch>
        </p:blipFill>
        <p:spPr bwMode="auto">
          <a:xfrm>
            <a:off x="1714480" y="3357562"/>
            <a:ext cx="5486400" cy="31115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3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3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3500"/>
                            </p:stCondLst>
                            <p:childTnLst>
                              <p:par>
                                <p:cTn id="21" presetID="2" presetClass="entr" presetSubtype="4" fill="hold"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3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3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6500"/>
                            </p:stCondLst>
                            <p:childTnLst>
                              <p:par>
                                <p:cTn id="26" presetID="2" presetClass="entr" presetSubtype="4" fill="hold"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3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3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7170"/>
                                        </p:tgtEl>
                                        <p:attrNameLst>
                                          <p:attrName>style.visibility</p:attrName>
                                        </p:attrNameLst>
                                      </p:cBhvr>
                                      <p:to>
                                        <p:strVal val="visible"/>
                                      </p:to>
                                    </p:set>
                                    <p:animEffect transition="in" filter="checkerboard(across)">
                                      <p:cBhvr>
                                        <p:cTn id="34"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1071571"/>
          </a:xfrm>
          <a:ln>
            <a:solidFill>
              <a:srgbClr val="FF0000"/>
            </a:solidFill>
          </a:ln>
        </p:spPr>
        <p:txBody>
          <a:bodyPr>
            <a:normAutofit/>
          </a:bodyPr>
          <a:lstStyle/>
          <a:p>
            <a:pPr>
              <a:buNone/>
            </a:pPr>
            <a:r>
              <a:rPr lang="fr-FR" sz="1800" dirty="0" smtClean="0"/>
              <a:t>Q31 : </a:t>
            </a:r>
            <a:r>
              <a:rPr lang="fr-FR" sz="1800" dirty="0" smtClean="0"/>
              <a:t>Comment </a:t>
            </a:r>
            <a:r>
              <a:rPr lang="fr-FR" sz="1800" dirty="0" smtClean="0"/>
              <a:t>se fait une consignation électrique ?</a:t>
            </a:r>
          </a:p>
          <a:p>
            <a:pPr>
              <a:buNone/>
            </a:pPr>
            <a:endParaRPr lang="fr-FR" sz="1600" dirty="0" smtClean="0"/>
          </a:p>
          <a:p>
            <a:pPr>
              <a:buNone/>
            </a:pPr>
            <a:r>
              <a:rPr lang="fr-FR" sz="1800" b="1" dirty="0" smtClean="0">
                <a:solidFill>
                  <a:srgbClr val="FF0000"/>
                </a:solidFill>
              </a:rPr>
              <a:t>Première phase : la séparation de </a:t>
            </a:r>
            <a:r>
              <a:rPr lang="fr-FR" sz="1800" b="1" dirty="0" smtClean="0">
                <a:solidFill>
                  <a:srgbClr val="FF0000"/>
                </a:solidFill>
              </a:rPr>
              <a:t>l'ouvrage</a:t>
            </a:r>
            <a:endParaRPr lang="fr-FR" sz="1800" b="1" dirty="0" smtClean="0">
              <a:solidFill>
                <a:srgbClr val="FF0000"/>
              </a:solidFill>
            </a:endParaRPr>
          </a:p>
        </p:txBody>
      </p:sp>
      <p:pic>
        <p:nvPicPr>
          <p:cNvPr id="5121" name="Picture 1"/>
          <p:cNvPicPr>
            <a:picLocks noChangeAspect="1" noChangeArrowheads="1"/>
          </p:cNvPicPr>
          <p:nvPr/>
        </p:nvPicPr>
        <p:blipFill>
          <a:blip r:embed="rId3" cstate="print"/>
          <a:srcRect/>
          <a:stretch>
            <a:fillRect/>
          </a:stretch>
        </p:blipFill>
        <p:spPr bwMode="auto">
          <a:xfrm>
            <a:off x="2500300" y="2285992"/>
            <a:ext cx="4230989" cy="4140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5121"/>
                                        </p:tgtEl>
                                        <p:attrNameLst>
                                          <p:attrName>style.visibility</p:attrName>
                                        </p:attrNameLst>
                                      </p:cBhvr>
                                      <p:to>
                                        <p:strVal val="visible"/>
                                      </p:to>
                                    </p:set>
                                    <p:animEffect transition="in" filter="checkerboard(across)">
                                      <p:cBhvr>
                                        <p:cTn id="19" dur="500"/>
                                        <p:tgtEl>
                                          <p:spTgt spid="5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1071571"/>
          </a:xfrm>
          <a:ln>
            <a:solidFill>
              <a:srgbClr val="FF0000"/>
            </a:solidFill>
          </a:ln>
        </p:spPr>
        <p:txBody>
          <a:bodyPr>
            <a:normAutofit/>
          </a:bodyPr>
          <a:lstStyle/>
          <a:p>
            <a:pPr>
              <a:buNone/>
            </a:pPr>
            <a:r>
              <a:rPr lang="fr-FR" sz="1800" dirty="0" smtClean="0"/>
              <a:t>Q31 : </a:t>
            </a:r>
            <a:r>
              <a:rPr lang="fr-FR" sz="1800" dirty="0" smtClean="0"/>
              <a:t>Comment </a:t>
            </a:r>
            <a:r>
              <a:rPr lang="fr-FR" sz="1800" dirty="0" smtClean="0"/>
              <a:t>se fait une consignation électrique ?</a:t>
            </a:r>
          </a:p>
          <a:p>
            <a:pPr>
              <a:buNone/>
            </a:pPr>
            <a:endParaRPr lang="fr-FR" sz="1600" dirty="0" smtClean="0"/>
          </a:p>
          <a:p>
            <a:pPr>
              <a:buNone/>
            </a:pPr>
            <a:r>
              <a:rPr lang="fr-FR" sz="1800" b="1" dirty="0" smtClean="0">
                <a:solidFill>
                  <a:srgbClr val="FF0000"/>
                </a:solidFill>
              </a:rPr>
              <a:t>Deuxième phase : la condamnation de l'ouvrage</a:t>
            </a:r>
            <a:endParaRPr lang="fr-FR" sz="1800" b="1" dirty="0" smtClean="0">
              <a:solidFill>
                <a:srgbClr val="FF0000"/>
              </a:solidFill>
            </a:endParaRPr>
          </a:p>
        </p:txBody>
      </p:sp>
      <p:pic>
        <p:nvPicPr>
          <p:cNvPr id="53250" name="Picture 2"/>
          <p:cNvPicPr>
            <a:picLocks noChangeAspect="1" noChangeArrowheads="1"/>
          </p:cNvPicPr>
          <p:nvPr/>
        </p:nvPicPr>
        <p:blipFill>
          <a:blip r:embed="rId3" cstate="print"/>
          <a:srcRect/>
          <a:stretch>
            <a:fillRect/>
          </a:stretch>
        </p:blipFill>
        <p:spPr bwMode="auto">
          <a:xfrm>
            <a:off x="2357422" y="2285992"/>
            <a:ext cx="4210170" cy="4140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53250"/>
                                        </p:tgtEl>
                                        <p:attrNameLst>
                                          <p:attrName>style.visibility</p:attrName>
                                        </p:attrNameLst>
                                      </p:cBhvr>
                                      <p:to>
                                        <p:strVal val="visible"/>
                                      </p:to>
                                    </p:set>
                                    <p:animEffect transition="in" filter="checkerboard(across)">
                                      <p:cBhvr>
                                        <p:cTn id="24" dur="500"/>
                                        <p:tgtEl>
                                          <p:spTgt spid="5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1071571"/>
          </a:xfrm>
          <a:ln>
            <a:solidFill>
              <a:srgbClr val="FF0000"/>
            </a:solidFill>
          </a:ln>
        </p:spPr>
        <p:txBody>
          <a:bodyPr>
            <a:normAutofit/>
          </a:bodyPr>
          <a:lstStyle/>
          <a:p>
            <a:pPr>
              <a:buNone/>
            </a:pPr>
            <a:r>
              <a:rPr lang="fr-FR" sz="1800" dirty="0" smtClean="0"/>
              <a:t>Q31 : </a:t>
            </a:r>
            <a:r>
              <a:rPr lang="fr-FR" sz="1800" dirty="0" smtClean="0"/>
              <a:t>Comment </a:t>
            </a:r>
            <a:r>
              <a:rPr lang="fr-FR" sz="1800" dirty="0" smtClean="0"/>
              <a:t>se fait une consignation électrique ?</a:t>
            </a:r>
          </a:p>
          <a:p>
            <a:pPr>
              <a:buNone/>
            </a:pPr>
            <a:endParaRPr lang="fr-FR" sz="1600" dirty="0" smtClean="0"/>
          </a:p>
          <a:p>
            <a:pPr>
              <a:buNone/>
            </a:pPr>
            <a:r>
              <a:rPr lang="fr-FR" sz="1800" b="1" dirty="0" smtClean="0">
                <a:solidFill>
                  <a:srgbClr val="FF0000"/>
                </a:solidFill>
              </a:rPr>
              <a:t>Troisième phase : identification de l'ouvrage</a:t>
            </a:r>
            <a:endParaRPr lang="fr-FR" sz="1800" b="1" dirty="0" smtClean="0">
              <a:solidFill>
                <a:srgbClr val="FF0000"/>
              </a:solidFill>
            </a:endParaRPr>
          </a:p>
        </p:txBody>
      </p:sp>
      <p:pic>
        <p:nvPicPr>
          <p:cNvPr id="54274" name="Picture 2"/>
          <p:cNvPicPr>
            <a:picLocks noChangeAspect="1" noChangeArrowheads="1"/>
          </p:cNvPicPr>
          <p:nvPr/>
        </p:nvPicPr>
        <p:blipFill>
          <a:blip r:embed="rId3" cstate="print"/>
          <a:srcRect/>
          <a:stretch>
            <a:fillRect/>
          </a:stretch>
        </p:blipFill>
        <p:spPr bwMode="auto">
          <a:xfrm>
            <a:off x="2357424" y="2285992"/>
            <a:ext cx="4220388" cy="4140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54274"/>
                                        </p:tgtEl>
                                        <p:attrNameLst>
                                          <p:attrName>style.visibility</p:attrName>
                                        </p:attrNameLst>
                                      </p:cBhvr>
                                      <p:to>
                                        <p:strVal val="visible"/>
                                      </p:to>
                                    </p:set>
                                    <p:animEffect transition="in" filter="checkerboard(across)">
                                      <p:cBhvr>
                                        <p:cTn id="24" dur="500"/>
                                        <p:tgtEl>
                                          <p:spTgt spid="5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1071571"/>
          </a:xfrm>
          <a:ln>
            <a:solidFill>
              <a:srgbClr val="FF0000"/>
            </a:solidFill>
          </a:ln>
        </p:spPr>
        <p:txBody>
          <a:bodyPr>
            <a:normAutofit/>
          </a:bodyPr>
          <a:lstStyle/>
          <a:p>
            <a:pPr>
              <a:buNone/>
            </a:pPr>
            <a:r>
              <a:rPr lang="fr-FR" sz="1800" dirty="0" smtClean="0"/>
              <a:t>Q31 : </a:t>
            </a:r>
            <a:r>
              <a:rPr lang="fr-FR" sz="1800" dirty="0" smtClean="0"/>
              <a:t>Comment </a:t>
            </a:r>
            <a:r>
              <a:rPr lang="fr-FR" sz="1800" dirty="0" smtClean="0"/>
              <a:t>se fait une consignation électrique ?</a:t>
            </a:r>
          </a:p>
          <a:p>
            <a:pPr>
              <a:buNone/>
            </a:pPr>
            <a:endParaRPr lang="fr-FR" sz="1600" dirty="0" smtClean="0"/>
          </a:p>
          <a:p>
            <a:pPr>
              <a:buNone/>
            </a:pPr>
            <a:r>
              <a:rPr lang="fr-FR" sz="1800" b="1" dirty="0" smtClean="0">
                <a:solidFill>
                  <a:srgbClr val="FF0000"/>
                </a:solidFill>
              </a:rPr>
              <a:t>Quatrième phase : Vérification d'absence de tension</a:t>
            </a:r>
            <a:endParaRPr lang="fr-FR" sz="1800" b="1" dirty="0" smtClean="0">
              <a:solidFill>
                <a:srgbClr val="FF0000"/>
              </a:solidFill>
            </a:endParaRPr>
          </a:p>
        </p:txBody>
      </p:sp>
      <p:pic>
        <p:nvPicPr>
          <p:cNvPr id="55298" name="Picture 2"/>
          <p:cNvPicPr>
            <a:picLocks noChangeAspect="1" noChangeArrowheads="1"/>
          </p:cNvPicPr>
          <p:nvPr/>
        </p:nvPicPr>
        <p:blipFill>
          <a:blip r:embed="rId3" cstate="print"/>
          <a:srcRect/>
          <a:stretch>
            <a:fillRect/>
          </a:stretch>
        </p:blipFill>
        <p:spPr bwMode="auto">
          <a:xfrm>
            <a:off x="2571738" y="2214554"/>
            <a:ext cx="4424116" cy="4140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checkerboard(across)">
                                      <p:cBhvr>
                                        <p:cTn id="7" dur="500"/>
                                        <p:tgtEl>
                                          <p:spTgt spid="3">
                                            <p:bg/>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checkerboard(across)">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5298"/>
                                        </p:tgtEl>
                                        <p:attrNameLst>
                                          <p:attrName>style.visibility</p:attrName>
                                        </p:attrNameLst>
                                      </p:cBhvr>
                                      <p:to>
                                        <p:strVal val="visible"/>
                                      </p:to>
                                    </p:set>
                                    <p:animEffect transition="in" filter="checkerboard(across)">
                                      <p:cBhvr>
                                        <p:cTn id="20" dur="500"/>
                                        <p:tgtEl>
                                          <p:spTgt spid="5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1071571"/>
          </a:xfrm>
          <a:ln>
            <a:solidFill>
              <a:srgbClr val="FF0000"/>
            </a:solidFill>
          </a:ln>
        </p:spPr>
        <p:txBody>
          <a:bodyPr>
            <a:normAutofit/>
          </a:bodyPr>
          <a:lstStyle/>
          <a:p>
            <a:pPr>
              <a:buNone/>
            </a:pPr>
            <a:r>
              <a:rPr lang="fr-FR" sz="1800" dirty="0" smtClean="0"/>
              <a:t>Q31 : </a:t>
            </a:r>
            <a:r>
              <a:rPr lang="fr-FR" sz="1800" dirty="0" smtClean="0"/>
              <a:t>Comment </a:t>
            </a:r>
            <a:r>
              <a:rPr lang="fr-FR" sz="1800" dirty="0" smtClean="0"/>
              <a:t>se fait une consignation électrique ?</a:t>
            </a:r>
          </a:p>
          <a:p>
            <a:pPr>
              <a:buNone/>
            </a:pPr>
            <a:endParaRPr lang="fr-FR" sz="1600" dirty="0" smtClean="0"/>
          </a:p>
          <a:p>
            <a:pPr>
              <a:buNone/>
            </a:pPr>
            <a:r>
              <a:rPr lang="fr-FR" sz="1800" b="1" dirty="0" smtClean="0">
                <a:solidFill>
                  <a:srgbClr val="FF0000"/>
                </a:solidFill>
              </a:rPr>
              <a:t>Cinquième phase : Délimiter la zone de travail </a:t>
            </a:r>
            <a:endParaRPr lang="fr-FR" sz="1800" b="1" dirty="0" smtClean="0">
              <a:solidFill>
                <a:srgbClr val="FF0000"/>
              </a:solidFill>
            </a:endParaRPr>
          </a:p>
        </p:txBody>
      </p:sp>
      <p:pic>
        <p:nvPicPr>
          <p:cNvPr id="56322" name="Picture 2"/>
          <p:cNvPicPr>
            <a:picLocks noChangeAspect="1" noChangeArrowheads="1"/>
          </p:cNvPicPr>
          <p:nvPr/>
        </p:nvPicPr>
        <p:blipFill>
          <a:blip r:embed="rId3" cstate="print"/>
          <a:srcRect/>
          <a:stretch>
            <a:fillRect/>
          </a:stretch>
        </p:blipFill>
        <p:spPr bwMode="auto">
          <a:xfrm>
            <a:off x="2571736" y="2214554"/>
            <a:ext cx="3901851" cy="4140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checkerboard(across)">
                                      <p:cBhvr>
                                        <p:cTn id="7" dur="500"/>
                                        <p:tgtEl>
                                          <p:spTgt spid="3">
                                            <p:bg/>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checkerboard(across)">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6322"/>
                                        </p:tgtEl>
                                        <p:attrNameLst>
                                          <p:attrName>style.visibility</p:attrName>
                                        </p:attrNameLst>
                                      </p:cBhvr>
                                      <p:to>
                                        <p:strVal val="visible"/>
                                      </p:to>
                                    </p:set>
                                    <p:animEffect transition="in" filter="checkerboard(across)">
                                      <p:cBhvr>
                                        <p:cTn id="20"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3429025"/>
          </a:xfrm>
          <a:ln>
            <a:solidFill>
              <a:srgbClr val="FF0000"/>
            </a:solidFill>
          </a:ln>
        </p:spPr>
        <p:txBody>
          <a:bodyPr>
            <a:normAutofit/>
          </a:bodyPr>
          <a:lstStyle/>
          <a:p>
            <a:pPr>
              <a:buNone/>
            </a:pPr>
            <a:r>
              <a:rPr lang="fr-FR" sz="1800" dirty="0" smtClean="0"/>
              <a:t>Q32 : </a:t>
            </a:r>
            <a:r>
              <a:rPr lang="fr-FR" sz="1800" dirty="0" smtClean="0"/>
              <a:t>Qu’appelle-t-on </a:t>
            </a:r>
            <a:r>
              <a:rPr lang="fr-FR" sz="1800" dirty="0" smtClean="0"/>
              <a:t>EPI dans l’habilitation électrique </a:t>
            </a:r>
            <a:r>
              <a:rPr lang="fr-FR" sz="1800" dirty="0" smtClean="0"/>
              <a:t>?</a:t>
            </a:r>
          </a:p>
          <a:p>
            <a:pPr>
              <a:buNone/>
            </a:pPr>
            <a:r>
              <a:rPr lang="fr-FR" sz="1800" b="1" dirty="0" smtClean="0">
                <a:solidFill>
                  <a:srgbClr val="FF0000"/>
                </a:solidFill>
              </a:rPr>
              <a:t>Les </a:t>
            </a:r>
            <a:r>
              <a:rPr lang="fr-FR" sz="1800" b="1" dirty="0" smtClean="0">
                <a:solidFill>
                  <a:srgbClr val="FF0000"/>
                </a:solidFill>
              </a:rPr>
              <a:t>Equipements de Protection Individuelle (EPI</a:t>
            </a:r>
            <a:r>
              <a:rPr lang="fr-FR" sz="1800" b="1" dirty="0" smtClean="0">
                <a:solidFill>
                  <a:srgbClr val="FF0000"/>
                </a:solidFill>
              </a:rPr>
              <a:t>)</a:t>
            </a:r>
          </a:p>
          <a:p>
            <a:pPr>
              <a:buNone/>
            </a:pPr>
            <a:endParaRPr lang="fr-FR" sz="1800" b="1" dirty="0" smtClean="0">
              <a:solidFill>
                <a:srgbClr val="FF0000"/>
              </a:solidFill>
            </a:endParaRPr>
          </a:p>
          <a:p>
            <a:pPr>
              <a:buNone/>
            </a:pPr>
            <a:r>
              <a:rPr lang="fr-FR" sz="1800" dirty="0" smtClean="0"/>
              <a:t>Q33 : Quels sont les différents EPI ?</a:t>
            </a:r>
          </a:p>
          <a:p>
            <a:r>
              <a:rPr lang="fr-FR" sz="1800" b="1" dirty="0" smtClean="0">
                <a:solidFill>
                  <a:srgbClr val="FF0000"/>
                </a:solidFill>
              </a:rPr>
              <a:t>casque isolant</a:t>
            </a:r>
          </a:p>
          <a:p>
            <a:r>
              <a:rPr lang="fr-FR" sz="1800" b="1" dirty="0" smtClean="0">
                <a:solidFill>
                  <a:srgbClr val="FF0000"/>
                </a:solidFill>
              </a:rPr>
              <a:t>gants isolants </a:t>
            </a:r>
            <a:r>
              <a:rPr lang="fr-FR" sz="1800" b="1" dirty="0" smtClean="0">
                <a:solidFill>
                  <a:srgbClr val="FF0000"/>
                </a:solidFill>
              </a:rPr>
              <a:t>d'électricien</a:t>
            </a:r>
          </a:p>
          <a:p>
            <a:r>
              <a:rPr lang="fr-FR" sz="1800" b="1" dirty="0" smtClean="0">
                <a:solidFill>
                  <a:srgbClr val="FF0000"/>
                </a:solidFill>
              </a:rPr>
              <a:t>écrans faciaux anti </a:t>
            </a:r>
            <a:r>
              <a:rPr lang="fr-FR" sz="1800" b="1" dirty="0" smtClean="0">
                <a:solidFill>
                  <a:srgbClr val="FF0000"/>
                </a:solidFill>
              </a:rPr>
              <a:t>– UV</a:t>
            </a:r>
          </a:p>
          <a:p>
            <a:r>
              <a:rPr lang="fr-FR" sz="1800" b="1" dirty="0" smtClean="0">
                <a:solidFill>
                  <a:srgbClr val="FF0000"/>
                </a:solidFill>
              </a:rPr>
              <a:t>vêtements de </a:t>
            </a:r>
            <a:r>
              <a:rPr lang="fr-FR" sz="1800" b="1" dirty="0" smtClean="0">
                <a:solidFill>
                  <a:srgbClr val="FF0000"/>
                </a:solidFill>
              </a:rPr>
              <a:t>protection</a:t>
            </a:r>
          </a:p>
          <a:p>
            <a:pPr>
              <a:buNone/>
            </a:pPr>
            <a:endParaRPr lang="fr-FR" sz="1800" b="1" dirty="0" smtClean="0">
              <a:solidFill>
                <a:srgbClr val="FF0000"/>
              </a:solidFill>
            </a:endParaRPr>
          </a:p>
          <a:p>
            <a:r>
              <a:rPr lang="fr-FR" sz="1800" b="1" dirty="0" smtClean="0">
                <a:solidFill>
                  <a:srgbClr val="FF0000"/>
                </a:solidFill>
              </a:rPr>
              <a:t>ne pas porter d'objets personnels </a:t>
            </a:r>
            <a:r>
              <a:rPr lang="fr-FR" sz="1800" b="1" dirty="0" smtClean="0">
                <a:solidFill>
                  <a:srgbClr val="FF0000"/>
                </a:solidFill>
              </a:rPr>
              <a:t>métalliques</a:t>
            </a:r>
          </a:p>
        </p:txBody>
      </p:sp>
      <p:pic>
        <p:nvPicPr>
          <p:cNvPr id="57346" name="Picture 2"/>
          <p:cNvPicPr>
            <a:picLocks noChangeAspect="1" noChangeArrowheads="1"/>
          </p:cNvPicPr>
          <p:nvPr/>
        </p:nvPicPr>
        <p:blipFill>
          <a:blip r:embed="rId3" cstate="print"/>
          <a:srcRect/>
          <a:stretch>
            <a:fillRect/>
          </a:stretch>
        </p:blipFill>
        <p:spPr bwMode="auto">
          <a:xfrm>
            <a:off x="500034" y="4929198"/>
            <a:ext cx="1643074" cy="1205569"/>
          </a:xfrm>
          <a:prstGeom prst="rect">
            <a:avLst/>
          </a:prstGeom>
          <a:noFill/>
          <a:ln w="9525">
            <a:noFill/>
            <a:miter lim="800000"/>
            <a:headEnd/>
            <a:tailEnd/>
          </a:ln>
          <a:effectLst/>
        </p:spPr>
      </p:pic>
      <p:pic>
        <p:nvPicPr>
          <p:cNvPr id="57347" name="Picture 3"/>
          <p:cNvPicPr>
            <a:picLocks noChangeAspect="1" noChangeArrowheads="1"/>
          </p:cNvPicPr>
          <p:nvPr/>
        </p:nvPicPr>
        <p:blipFill>
          <a:blip r:embed="rId4" cstate="print"/>
          <a:srcRect/>
          <a:stretch>
            <a:fillRect/>
          </a:stretch>
        </p:blipFill>
        <p:spPr bwMode="auto">
          <a:xfrm>
            <a:off x="2428860" y="4568870"/>
            <a:ext cx="1214446" cy="1966875"/>
          </a:xfrm>
          <a:prstGeom prst="rect">
            <a:avLst/>
          </a:prstGeom>
          <a:noFill/>
          <a:ln w="9525">
            <a:noFill/>
            <a:miter lim="800000"/>
            <a:headEnd/>
            <a:tailEnd/>
          </a:ln>
          <a:effectLst/>
        </p:spPr>
      </p:pic>
      <p:pic>
        <p:nvPicPr>
          <p:cNvPr id="57348" name="Picture 4"/>
          <p:cNvPicPr>
            <a:picLocks noChangeAspect="1" noChangeArrowheads="1"/>
          </p:cNvPicPr>
          <p:nvPr/>
        </p:nvPicPr>
        <p:blipFill>
          <a:blip r:embed="rId5" cstate="print"/>
          <a:srcRect/>
          <a:stretch>
            <a:fillRect/>
          </a:stretch>
        </p:blipFill>
        <p:spPr bwMode="auto">
          <a:xfrm>
            <a:off x="4500562" y="4643446"/>
            <a:ext cx="1782042" cy="1862134"/>
          </a:xfrm>
          <a:prstGeom prst="rect">
            <a:avLst/>
          </a:prstGeom>
          <a:noFill/>
          <a:ln w="9525">
            <a:noFill/>
            <a:miter lim="800000"/>
            <a:headEnd/>
            <a:tailEnd/>
          </a:ln>
          <a:effectLst/>
        </p:spPr>
      </p:pic>
      <p:pic>
        <p:nvPicPr>
          <p:cNvPr id="57349" name="Picture 5"/>
          <p:cNvPicPr>
            <a:picLocks noChangeAspect="1" noChangeArrowheads="1"/>
          </p:cNvPicPr>
          <p:nvPr/>
        </p:nvPicPr>
        <p:blipFill>
          <a:blip r:embed="rId6" cstate="print"/>
          <a:srcRect/>
          <a:stretch>
            <a:fillRect/>
          </a:stretch>
        </p:blipFill>
        <p:spPr bwMode="auto">
          <a:xfrm>
            <a:off x="6858016" y="5429264"/>
            <a:ext cx="1498600" cy="9271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5" presetClass="entr" presetSubtype="10" fill="hold" nodeType="afterEffect">
                                  <p:stCondLst>
                                    <p:cond delay="0"/>
                                  </p:stCondLst>
                                  <p:childTnLst>
                                    <p:set>
                                      <p:cBhvr>
                                        <p:cTn id="29" dur="1" fill="hold">
                                          <p:stCondLst>
                                            <p:cond delay="0"/>
                                          </p:stCondLst>
                                        </p:cTn>
                                        <p:tgtEl>
                                          <p:spTgt spid="57346"/>
                                        </p:tgtEl>
                                        <p:attrNameLst>
                                          <p:attrName>style.visibility</p:attrName>
                                        </p:attrNameLst>
                                      </p:cBhvr>
                                      <p:to>
                                        <p:strVal val="visible"/>
                                      </p:to>
                                    </p:set>
                                    <p:animEffect transition="in" filter="checkerboard(across)">
                                      <p:cBhvr>
                                        <p:cTn id="30" dur="500"/>
                                        <p:tgtEl>
                                          <p:spTgt spid="5734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5" presetClass="entr" presetSubtype="10" fill="hold" nodeType="afterEffect">
                                  <p:stCondLst>
                                    <p:cond delay="0"/>
                                  </p:stCondLst>
                                  <p:childTnLst>
                                    <p:set>
                                      <p:cBhvr>
                                        <p:cTn id="39" dur="1" fill="hold">
                                          <p:stCondLst>
                                            <p:cond delay="0"/>
                                          </p:stCondLst>
                                        </p:cTn>
                                        <p:tgtEl>
                                          <p:spTgt spid="57347"/>
                                        </p:tgtEl>
                                        <p:attrNameLst>
                                          <p:attrName>style.visibility</p:attrName>
                                        </p:attrNameLst>
                                      </p:cBhvr>
                                      <p:to>
                                        <p:strVal val="visible"/>
                                      </p:to>
                                    </p:set>
                                    <p:animEffect transition="in" filter="checkerboard(across)">
                                      <p:cBhvr>
                                        <p:cTn id="40" dur="500"/>
                                        <p:tgtEl>
                                          <p:spTgt spid="5734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 calcmode="lin" valueType="num">
                                      <p:cBhvr additive="base">
                                        <p:cTn id="4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47" fill="hold">
                            <p:stCondLst>
                              <p:cond delay="500"/>
                            </p:stCondLst>
                            <p:childTnLst>
                              <p:par>
                                <p:cTn id="48" presetID="5" presetClass="entr" presetSubtype="10" fill="hold" nodeType="afterEffect">
                                  <p:stCondLst>
                                    <p:cond delay="0"/>
                                  </p:stCondLst>
                                  <p:childTnLst>
                                    <p:set>
                                      <p:cBhvr>
                                        <p:cTn id="49" dur="1" fill="hold">
                                          <p:stCondLst>
                                            <p:cond delay="0"/>
                                          </p:stCondLst>
                                        </p:cTn>
                                        <p:tgtEl>
                                          <p:spTgt spid="57348"/>
                                        </p:tgtEl>
                                        <p:attrNameLst>
                                          <p:attrName>style.visibility</p:attrName>
                                        </p:attrNameLst>
                                      </p:cBhvr>
                                      <p:to>
                                        <p:strVal val="visible"/>
                                      </p:to>
                                    </p:set>
                                    <p:animEffect transition="in" filter="checkerboard(across)">
                                      <p:cBhvr>
                                        <p:cTn id="50" dur="500"/>
                                        <p:tgtEl>
                                          <p:spTgt spid="5734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57" fill="hold">
                            <p:stCondLst>
                              <p:cond delay="500"/>
                            </p:stCondLst>
                            <p:childTnLst>
                              <p:par>
                                <p:cTn id="58" presetID="5" presetClass="entr" presetSubtype="10" fill="hold" nodeType="afterEffect">
                                  <p:stCondLst>
                                    <p:cond delay="0"/>
                                  </p:stCondLst>
                                  <p:childTnLst>
                                    <p:set>
                                      <p:cBhvr>
                                        <p:cTn id="59" dur="1" fill="hold">
                                          <p:stCondLst>
                                            <p:cond delay="0"/>
                                          </p:stCondLst>
                                        </p:cTn>
                                        <p:tgtEl>
                                          <p:spTgt spid="57349"/>
                                        </p:tgtEl>
                                        <p:attrNameLst>
                                          <p:attrName>style.visibility</p:attrName>
                                        </p:attrNameLst>
                                      </p:cBhvr>
                                      <p:to>
                                        <p:strVal val="visible"/>
                                      </p:to>
                                    </p:set>
                                    <p:animEffect transition="in" filter="checkerboard(across)">
                                      <p:cBhvr>
                                        <p:cTn id="60" dur="500"/>
                                        <p:tgtEl>
                                          <p:spTgt spid="57349"/>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 calcmode="lin" valueType="num">
                                      <p:cBhvr additive="base">
                                        <p:cTn id="6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3643339"/>
          </a:xfrm>
          <a:ln>
            <a:solidFill>
              <a:srgbClr val="FF0000"/>
            </a:solidFill>
          </a:ln>
        </p:spPr>
        <p:txBody>
          <a:bodyPr>
            <a:normAutofit/>
          </a:bodyPr>
          <a:lstStyle/>
          <a:p>
            <a:pPr>
              <a:buNone/>
            </a:pPr>
            <a:r>
              <a:rPr lang="fr-FR" sz="1800" dirty="0" smtClean="0"/>
              <a:t>Q34 : Qu’appelle-t-on </a:t>
            </a:r>
            <a:r>
              <a:rPr lang="fr-FR" sz="1800" dirty="0" smtClean="0"/>
              <a:t>EIS dans l’habilitation électrique </a:t>
            </a:r>
            <a:r>
              <a:rPr lang="fr-FR" sz="1800" dirty="0" smtClean="0"/>
              <a:t>?</a:t>
            </a:r>
          </a:p>
          <a:p>
            <a:pPr>
              <a:buNone/>
            </a:pPr>
            <a:endParaRPr lang="fr-FR" sz="1800" dirty="0" smtClean="0"/>
          </a:p>
          <a:p>
            <a:pPr>
              <a:buNone/>
            </a:pPr>
            <a:r>
              <a:rPr lang="fr-FR" sz="1800" b="1" dirty="0" smtClean="0">
                <a:solidFill>
                  <a:srgbClr val="FF0000"/>
                </a:solidFill>
              </a:rPr>
              <a:t>Les Equipements Individuels de </a:t>
            </a:r>
            <a:r>
              <a:rPr lang="fr-FR" sz="1800" b="1" dirty="0" smtClean="0">
                <a:solidFill>
                  <a:srgbClr val="FF0000"/>
                </a:solidFill>
              </a:rPr>
              <a:t>Sécurité</a:t>
            </a:r>
          </a:p>
          <a:p>
            <a:pPr>
              <a:buNone/>
            </a:pPr>
            <a:endParaRPr lang="fr-FR" sz="1800" b="1" dirty="0" smtClean="0">
              <a:solidFill>
                <a:srgbClr val="FF0000"/>
              </a:solidFill>
            </a:endParaRPr>
          </a:p>
          <a:p>
            <a:pPr>
              <a:buNone/>
            </a:pPr>
            <a:r>
              <a:rPr lang="fr-FR" sz="1800" dirty="0" smtClean="0"/>
              <a:t>Q35</a:t>
            </a:r>
            <a:r>
              <a:rPr lang="fr-FR" sz="1800" dirty="0" smtClean="0"/>
              <a:t> : Quels sont les différents </a:t>
            </a:r>
            <a:r>
              <a:rPr lang="fr-FR" sz="1800" dirty="0" smtClean="0"/>
              <a:t>EIS</a:t>
            </a:r>
            <a:r>
              <a:rPr lang="fr-FR" sz="1800" dirty="0" smtClean="0"/>
              <a:t> </a:t>
            </a:r>
            <a:r>
              <a:rPr lang="fr-FR" sz="1800" dirty="0" smtClean="0"/>
              <a:t>?</a:t>
            </a:r>
          </a:p>
          <a:p>
            <a:pPr>
              <a:buNone/>
            </a:pPr>
            <a:endParaRPr lang="fr-FR" sz="1800" dirty="0" smtClean="0"/>
          </a:p>
          <a:p>
            <a:r>
              <a:rPr lang="fr-FR" sz="1800" b="1" dirty="0" smtClean="0">
                <a:solidFill>
                  <a:srgbClr val="FF0000"/>
                </a:solidFill>
              </a:rPr>
              <a:t>Utiliser </a:t>
            </a:r>
            <a:r>
              <a:rPr lang="fr-FR" sz="1800" b="1" dirty="0" smtClean="0">
                <a:solidFill>
                  <a:srgbClr val="FF0000"/>
                </a:solidFill>
              </a:rPr>
              <a:t>un tapis ou tabouret isolant, </a:t>
            </a:r>
          </a:p>
          <a:p>
            <a:r>
              <a:rPr lang="fr-FR" sz="1800" b="1" dirty="0" smtClean="0">
                <a:solidFill>
                  <a:srgbClr val="FF0000"/>
                </a:solidFill>
              </a:rPr>
              <a:t>Utiliser </a:t>
            </a:r>
            <a:r>
              <a:rPr lang="fr-FR" sz="1800" b="1" dirty="0" smtClean="0">
                <a:solidFill>
                  <a:srgbClr val="FF0000"/>
                </a:solidFill>
              </a:rPr>
              <a:t>le macaron de consignation</a:t>
            </a:r>
            <a:r>
              <a:rPr lang="fr-FR" sz="1800" b="1" dirty="0" smtClean="0">
                <a:solidFill>
                  <a:srgbClr val="FF0000"/>
                </a:solidFill>
              </a:rPr>
              <a:t>, utiliser </a:t>
            </a:r>
            <a:r>
              <a:rPr lang="fr-FR" sz="1800" b="1" dirty="0" smtClean="0">
                <a:solidFill>
                  <a:srgbClr val="FF0000"/>
                </a:solidFill>
              </a:rPr>
              <a:t>des cadenas et </a:t>
            </a:r>
            <a:r>
              <a:rPr lang="fr-FR" sz="1800" b="1" dirty="0" smtClean="0">
                <a:solidFill>
                  <a:srgbClr val="FF0000"/>
                </a:solidFill>
              </a:rPr>
              <a:t>étiquettes </a:t>
            </a:r>
            <a:r>
              <a:rPr lang="fr-FR" sz="1800" b="1" dirty="0" smtClean="0">
                <a:solidFill>
                  <a:srgbClr val="FF0000"/>
                </a:solidFill>
              </a:rPr>
              <a:t>de consignation. </a:t>
            </a:r>
          </a:p>
          <a:p>
            <a:r>
              <a:rPr lang="fr-FR" sz="1800" b="1" dirty="0" smtClean="0">
                <a:solidFill>
                  <a:srgbClr val="FF0000"/>
                </a:solidFill>
              </a:rPr>
              <a:t>Utiliser </a:t>
            </a:r>
            <a:r>
              <a:rPr lang="fr-FR" sz="1800" b="1" dirty="0" smtClean="0">
                <a:solidFill>
                  <a:srgbClr val="FF0000"/>
                </a:solidFill>
              </a:rPr>
              <a:t>des outils isolants, </a:t>
            </a:r>
          </a:p>
          <a:p>
            <a:r>
              <a:rPr lang="fr-FR" sz="1800" b="1" dirty="0" smtClean="0">
                <a:solidFill>
                  <a:srgbClr val="FF0000"/>
                </a:solidFill>
              </a:rPr>
              <a:t>Utiliser </a:t>
            </a:r>
            <a:r>
              <a:rPr lang="fr-FR" sz="1800" b="1" dirty="0" smtClean="0">
                <a:solidFill>
                  <a:srgbClr val="FF0000"/>
                </a:solidFill>
              </a:rPr>
              <a:t>un vérificateur d'absence de tension (VAT) </a:t>
            </a:r>
          </a:p>
          <a:p>
            <a:pPr>
              <a:buNone/>
            </a:pPr>
            <a:endParaRPr lang="fr-FR" sz="1600" dirty="0" smtClean="0"/>
          </a:p>
        </p:txBody>
      </p:sp>
      <p:pic>
        <p:nvPicPr>
          <p:cNvPr id="58370" name="Picture 2"/>
          <p:cNvPicPr>
            <a:picLocks noChangeAspect="1" noChangeArrowheads="1"/>
          </p:cNvPicPr>
          <p:nvPr/>
        </p:nvPicPr>
        <p:blipFill>
          <a:blip r:embed="rId3" cstate="print"/>
          <a:srcRect/>
          <a:stretch>
            <a:fillRect/>
          </a:stretch>
        </p:blipFill>
        <p:spPr bwMode="auto">
          <a:xfrm>
            <a:off x="928662" y="4857760"/>
            <a:ext cx="2428892" cy="1565096"/>
          </a:xfrm>
          <a:prstGeom prst="rect">
            <a:avLst/>
          </a:prstGeom>
          <a:noFill/>
          <a:ln w="9525">
            <a:noFill/>
            <a:miter lim="800000"/>
            <a:headEnd/>
            <a:tailEnd/>
          </a:ln>
          <a:effectLst/>
        </p:spPr>
      </p:pic>
      <p:pic>
        <p:nvPicPr>
          <p:cNvPr id="58371" name="Picture 3"/>
          <p:cNvPicPr>
            <a:picLocks noChangeAspect="1" noChangeArrowheads="1"/>
          </p:cNvPicPr>
          <p:nvPr/>
        </p:nvPicPr>
        <p:blipFill>
          <a:blip r:embed="rId4" cstate="print"/>
          <a:srcRect/>
          <a:stretch>
            <a:fillRect/>
          </a:stretch>
        </p:blipFill>
        <p:spPr bwMode="auto">
          <a:xfrm>
            <a:off x="4000496" y="4929198"/>
            <a:ext cx="1357322" cy="1392669"/>
          </a:xfrm>
          <a:prstGeom prst="rect">
            <a:avLst/>
          </a:prstGeom>
          <a:noFill/>
          <a:ln w="9525">
            <a:noFill/>
            <a:miter lim="800000"/>
            <a:headEnd/>
            <a:tailEnd/>
          </a:ln>
          <a:effectLst/>
        </p:spPr>
      </p:pic>
      <p:pic>
        <p:nvPicPr>
          <p:cNvPr id="58372" name="Picture 4"/>
          <p:cNvPicPr>
            <a:picLocks noChangeAspect="1" noChangeArrowheads="1"/>
          </p:cNvPicPr>
          <p:nvPr/>
        </p:nvPicPr>
        <p:blipFill>
          <a:blip r:embed="rId5" cstate="print"/>
          <a:srcRect/>
          <a:stretch>
            <a:fillRect/>
          </a:stretch>
        </p:blipFill>
        <p:spPr bwMode="auto">
          <a:xfrm>
            <a:off x="6429388" y="5072074"/>
            <a:ext cx="1676400" cy="1397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3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3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2" fill="hold">
                            <p:stCondLst>
                              <p:cond delay="3500"/>
                            </p:stCondLst>
                            <p:childTnLst>
                              <p:par>
                                <p:cTn id="33" presetID="5" presetClass="entr" presetSubtype="10" fill="hold" nodeType="afterEffect">
                                  <p:stCondLst>
                                    <p:cond delay="0"/>
                                  </p:stCondLst>
                                  <p:childTnLst>
                                    <p:set>
                                      <p:cBhvr>
                                        <p:cTn id="34" dur="1" fill="hold">
                                          <p:stCondLst>
                                            <p:cond delay="0"/>
                                          </p:stCondLst>
                                        </p:cTn>
                                        <p:tgtEl>
                                          <p:spTgt spid="58370"/>
                                        </p:tgtEl>
                                        <p:attrNameLst>
                                          <p:attrName>style.visibility</p:attrName>
                                        </p:attrNameLst>
                                      </p:cBhvr>
                                      <p:to>
                                        <p:strVal val="visible"/>
                                      </p:to>
                                    </p:set>
                                    <p:animEffect transition="in" filter="checkerboard(across)">
                                      <p:cBhvr>
                                        <p:cTn id="35" dur="500"/>
                                        <p:tgtEl>
                                          <p:spTgt spid="5837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 calcmode="lin" valueType="num">
                                      <p:cBhvr additive="base">
                                        <p:cTn id="40" dur="3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1" dur="3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42" fill="hold">
                            <p:stCondLst>
                              <p:cond delay="3000"/>
                            </p:stCondLst>
                            <p:childTnLst>
                              <p:par>
                                <p:cTn id="43" presetID="5" presetClass="entr" presetSubtype="10" fill="hold" nodeType="afterEffect">
                                  <p:stCondLst>
                                    <p:cond delay="0"/>
                                  </p:stCondLst>
                                  <p:childTnLst>
                                    <p:set>
                                      <p:cBhvr>
                                        <p:cTn id="44" dur="1" fill="hold">
                                          <p:stCondLst>
                                            <p:cond delay="0"/>
                                          </p:stCondLst>
                                        </p:cTn>
                                        <p:tgtEl>
                                          <p:spTgt spid="58371"/>
                                        </p:tgtEl>
                                        <p:attrNameLst>
                                          <p:attrName>style.visibility</p:attrName>
                                        </p:attrNameLst>
                                      </p:cBhvr>
                                      <p:to>
                                        <p:strVal val="visible"/>
                                      </p:to>
                                    </p:set>
                                    <p:animEffect transition="in" filter="checkerboard(across)">
                                      <p:cBhvr>
                                        <p:cTn id="45" dur="500"/>
                                        <p:tgtEl>
                                          <p:spTgt spid="58371"/>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 calcmode="lin" valueType="num">
                                      <p:cBhvr additive="base">
                                        <p:cTn id="50" dur="3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1" dur="3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52" fill="hold">
                            <p:stCondLst>
                              <p:cond delay="3000"/>
                            </p:stCondLst>
                            <p:childTnLst>
                              <p:par>
                                <p:cTn id="53" presetID="5" presetClass="entr" presetSubtype="10" fill="hold" nodeType="afterEffect">
                                  <p:stCondLst>
                                    <p:cond delay="0"/>
                                  </p:stCondLst>
                                  <p:childTnLst>
                                    <p:set>
                                      <p:cBhvr>
                                        <p:cTn id="54" dur="1" fill="hold">
                                          <p:stCondLst>
                                            <p:cond delay="0"/>
                                          </p:stCondLst>
                                        </p:cTn>
                                        <p:tgtEl>
                                          <p:spTgt spid="58372"/>
                                        </p:tgtEl>
                                        <p:attrNameLst>
                                          <p:attrName>style.visibility</p:attrName>
                                        </p:attrNameLst>
                                      </p:cBhvr>
                                      <p:to>
                                        <p:strVal val="visible"/>
                                      </p:to>
                                    </p:set>
                                    <p:animEffect transition="in" filter="checkerboard(across)">
                                      <p:cBhvr>
                                        <p:cTn id="55"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Q36 : </a:t>
            </a:r>
            <a:r>
              <a:rPr lang="fr-FR" sz="1800" dirty="0" smtClean="0"/>
              <a:t>Qu’appelle-t-on </a:t>
            </a:r>
            <a:r>
              <a:rPr lang="fr-FR" sz="1800" dirty="0" smtClean="0"/>
              <a:t>ECS dans l’habilitation électrique ?</a:t>
            </a:r>
          </a:p>
          <a:p>
            <a:pPr>
              <a:buNone/>
            </a:pPr>
            <a:endParaRPr lang="fr-FR" sz="1800" dirty="0" smtClean="0"/>
          </a:p>
          <a:p>
            <a:pPr>
              <a:buNone/>
            </a:pPr>
            <a:r>
              <a:rPr lang="fr-FR" sz="1800" b="1" dirty="0" smtClean="0">
                <a:solidFill>
                  <a:srgbClr val="FF0000"/>
                </a:solidFill>
              </a:rPr>
              <a:t>Les Equipements Collectifs de </a:t>
            </a:r>
            <a:r>
              <a:rPr lang="fr-FR" sz="1800" b="1" dirty="0" smtClean="0">
                <a:solidFill>
                  <a:srgbClr val="FF0000"/>
                </a:solidFill>
              </a:rPr>
              <a:t>Sécurité</a:t>
            </a:r>
          </a:p>
          <a:p>
            <a:pPr>
              <a:buNone/>
            </a:pPr>
            <a:endParaRPr lang="fr-FR" sz="1800" dirty="0" smtClean="0"/>
          </a:p>
          <a:p>
            <a:pPr>
              <a:buNone/>
            </a:pPr>
            <a:r>
              <a:rPr lang="fr-FR" sz="1800" dirty="0" smtClean="0"/>
              <a:t>Q37 : Quels sont les différents ECS ?</a:t>
            </a:r>
          </a:p>
          <a:p>
            <a:pPr>
              <a:buNone/>
            </a:pPr>
            <a:endParaRPr lang="fr-FR" sz="1800" dirty="0" smtClean="0"/>
          </a:p>
          <a:p>
            <a:r>
              <a:rPr lang="fr-FR" sz="1800" b="1" dirty="0" smtClean="0">
                <a:solidFill>
                  <a:srgbClr val="FF0000"/>
                </a:solidFill>
              </a:rPr>
              <a:t>Utiliser les écrans de protection (nappe isolante, tôle épaisse mise à la terre...), </a:t>
            </a:r>
          </a:p>
          <a:p>
            <a:r>
              <a:rPr lang="fr-FR" sz="1800" b="1" dirty="0" smtClean="0">
                <a:solidFill>
                  <a:srgbClr val="FF0000"/>
                </a:solidFill>
              </a:rPr>
              <a:t>Délimiter </a:t>
            </a:r>
            <a:r>
              <a:rPr lang="fr-FR" sz="1800" b="1" dirty="0" smtClean="0">
                <a:solidFill>
                  <a:srgbClr val="FF0000"/>
                </a:solidFill>
              </a:rPr>
              <a:t>l'emplacement de travail par un balisage et une pancarte d'avertissement de </a:t>
            </a:r>
            <a:r>
              <a:rPr lang="fr-FR" sz="1800" b="1" dirty="0" smtClean="0">
                <a:solidFill>
                  <a:srgbClr val="FF0000"/>
                </a:solidFill>
              </a:rPr>
              <a:t>travaux</a:t>
            </a:r>
            <a:endParaRPr lang="fr-FR" sz="1800" b="1" dirty="0" smtClean="0">
              <a:solidFill>
                <a:srgbClr val="FF0000"/>
              </a:solidFill>
            </a:endParaRPr>
          </a:p>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2" presetClass="entr" presetSubtype="4"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3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r>
              <a:rPr lang="fr-FR" sz="1800" dirty="0" smtClean="0"/>
              <a:t>Q38 : Qu’est ce qu’un VAT </a:t>
            </a:r>
            <a:r>
              <a:rPr lang="fr-FR" sz="1800" dirty="0" smtClean="0"/>
              <a:t>?</a:t>
            </a:r>
          </a:p>
          <a:p>
            <a:pPr>
              <a:buNone/>
            </a:pPr>
            <a:endParaRPr lang="fr-FR" sz="1800" dirty="0" smtClean="0"/>
          </a:p>
          <a:p>
            <a:pPr>
              <a:buNone/>
            </a:pPr>
            <a:r>
              <a:rPr lang="fr-FR" sz="1800" b="1" dirty="0" smtClean="0">
                <a:solidFill>
                  <a:srgbClr val="FF0000"/>
                </a:solidFill>
              </a:rPr>
              <a:t>un vérificateur d'absence de tension</a:t>
            </a:r>
            <a:endParaRPr lang="fr-FR" sz="1800" b="1" dirty="0" smtClean="0">
              <a:solidFill>
                <a:srgbClr val="FF0000"/>
              </a:solidFill>
            </a:endParaRPr>
          </a:p>
          <a:p>
            <a:pPr>
              <a:buNone/>
            </a:pPr>
            <a:endParaRPr lang="fr-FR" sz="1800" dirty="0" smtClean="0"/>
          </a:p>
          <a:p>
            <a:pPr>
              <a:buNone/>
            </a:pPr>
            <a:r>
              <a:rPr lang="fr-FR" sz="1800" dirty="0" smtClean="0"/>
              <a:t>Q39</a:t>
            </a:r>
            <a:r>
              <a:rPr lang="fr-FR" sz="1800" dirty="0" smtClean="0"/>
              <a:t> : Comment se sert on d’un VAT ?</a:t>
            </a:r>
          </a:p>
          <a:p>
            <a:pPr>
              <a:buNone/>
            </a:pPr>
            <a:endParaRPr lang="fr-FR" sz="1800" dirty="0" smtClean="0"/>
          </a:p>
          <a:p>
            <a:pPr>
              <a:buFont typeface="+mj-lt"/>
              <a:buAutoNum type="arabicPeriod"/>
            </a:pPr>
            <a:r>
              <a:rPr lang="fr-FR" sz="1800" b="1" dirty="0" smtClean="0">
                <a:solidFill>
                  <a:srgbClr val="FF0000"/>
                </a:solidFill>
              </a:rPr>
              <a:t>Tester l’appareil avant de faire la mesure</a:t>
            </a:r>
          </a:p>
          <a:p>
            <a:pPr>
              <a:buFont typeface="+mj-lt"/>
              <a:buAutoNum type="arabicPeriod"/>
            </a:pPr>
            <a:r>
              <a:rPr lang="fr-FR" sz="1800" b="1" dirty="0" smtClean="0">
                <a:solidFill>
                  <a:srgbClr val="FF0000"/>
                </a:solidFill>
              </a:rPr>
              <a:t>Faire le test sur l’endroit ou vous allez travailler</a:t>
            </a:r>
          </a:p>
          <a:p>
            <a:pPr>
              <a:buFont typeface="+mj-lt"/>
              <a:buAutoNum type="arabicPeriod"/>
            </a:pPr>
            <a:r>
              <a:rPr lang="fr-FR" sz="1800" b="1" dirty="0" err="1" smtClean="0">
                <a:solidFill>
                  <a:srgbClr val="FF0000"/>
                </a:solidFill>
              </a:rPr>
              <a:t>Re</a:t>
            </a:r>
            <a:r>
              <a:rPr lang="fr-FR" sz="1800" b="1" dirty="0" smtClean="0">
                <a:solidFill>
                  <a:srgbClr val="FF0000"/>
                </a:solidFill>
              </a:rPr>
              <a:t>-tester le vérificateur après la mesure (voir s’il n’est pas tombé en panneau moment de faire la mesure)</a:t>
            </a:r>
            <a:endParaRPr lang="fr-FR" sz="1800" b="1"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3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3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3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511156"/>
          </a:xfrm>
          <a:solidFill>
            <a:schemeClr val="tx2">
              <a:lumMod val="60000"/>
              <a:lumOff val="40000"/>
            </a:schemeClr>
          </a:solidFill>
        </p:spPr>
        <p:txBody>
          <a:bodyPr>
            <a:normAutofit/>
          </a:bodyPr>
          <a:lstStyle/>
          <a:p>
            <a:r>
              <a:rPr lang="fr-FR" sz="2400" b="1" dirty="0" smtClean="0"/>
              <a:t>Habilitation électrique:</a:t>
            </a:r>
            <a:endParaRPr lang="fr-FR" sz="2400" b="1" dirty="0"/>
          </a:p>
        </p:txBody>
      </p:sp>
      <p:sp>
        <p:nvSpPr>
          <p:cNvPr id="3" name="Espace réservé du contenu 2"/>
          <p:cNvSpPr>
            <a:spLocks noGrp="1"/>
          </p:cNvSpPr>
          <p:nvPr>
            <p:ph idx="1"/>
          </p:nvPr>
        </p:nvSpPr>
        <p:spPr>
          <a:xfrm>
            <a:off x="457200" y="1071545"/>
            <a:ext cx="8280000" cy="5400000"/>
          </a:xfrm>
          <a:ln>
            <a:solidFill>
              <a:srgbClr val="FF0000"/>
            </a:solidFill>
          </a:ln>
        </p:spPr>
        <p:txBody>
          <a:bodyPr>
            <a:normAutofit/>
          </a:bodyPr>
          <a:lstStyle/>
          <a:p>
            <a:pPr>
              <a:buNone/>
            </a:pPr>
            <a:endParaRPr lang="fr-FR" sz="16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292</Words>
  <Application>Microsoft Office PowerPoint</Application>
  <PresentationFormat>Affichage à l'écran (4:3)</PresentationFormat>
  <Paragraphs>266</Paragraphs>
  <Slides>26</Slides>
  <Notes>26</Notes>
  <HiddenSlides>0</HiddenSlides>
  <MMClips>0</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Thème Office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lpstr>Habilitation électrique: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Electricité : les lois :</dc:title>
  <dc:creator>patrick</dc:creator>
  <cp:lastModifiedBy>patrick.fontan</cp:lastModifiedBy>
  <cp:revision>74</cp:revision>
  <dcterms:created xsi:type="dcterms:W3CDTF">2009-10-22T21:06:52Z</dcterms:created>
  <dcterms:modified xsi:type="dcterms:W3CDTF">2022-03-24T15:08:03Z</dcterms:modified>
</cp:coreProperties>
</file>