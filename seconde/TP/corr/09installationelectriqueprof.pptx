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68" r:id="rId4"/>
    <p:sldId id="261" r:id="rId5"/>
    <p:sldId id="271" r:id="rId6"/>
    <p:sldId id="269" r:id="rId7"/>
    <p:sldId id="270" r:id="rId8"/>
    <p:sldId id="272" r:id="rId9"/>
    <p:sldId id="273" r:id="rId10"/>
    <p:sldId id="285" r:id="rId11"/>
    <p:sldId id="286" r:id="rId12"/>
    <p:sldId id="287" r:id="rId13"/>
    <p:sldId id="274" r:id="rId14"/>
    <p:sldId id="275" r:id="rId15"/>
    <p:sldId id="276" r:id="rId16"/>
    <p:sldId id="277" r:id="rId17"/>
    <p:sldId id="278" r:id="rId18"/>
    <p:sldId id="279" r:id="rId19"/>
    <p:sldId id="282" r:id="rId20"/>
    <p:sldId id="264" r:id="rId21"/>
    <p:sldId id="262" r:id="rId22"/>
    <p:sldId id="263" r:id="rId23"/>
    <p:sldId id="265" r:id="rId24"/>
    <p:sldId id="266" r:id="rId25"/>
    <p:sldId id="290" r:id="rId26"/>
    <p:sldId id="292" r:id="rId27"/>
    <p:sldId id="293" r:id="rId28"/>
    <p:sldId id="288" r:id="rId29"/>
    <p:sldId id="296" r:id="rId30"/>
    <p:sldId id="289" r:id="rId31"/>
    <p:sldId id="294" r:id="rId32"/>
    <p:sldId id="295" r:id="rId33"/>
    <p:sldId id="267" r:id="rId34"/>
  </p:sldIdLst>
  <p:sldSz cx="9144000" cy="6858000" type="screen4x3"/>
  <p:notesSz cx="6888163" cy="100187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2D41E7A7-FD26-40AB-B52D-442F4AB41B05}" type="datetimeFigureOut">
              <a:rPr lang="fr-FR" smtClean="0"/>
              <a:pPr/>
              <a:t>28/03/2026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E4D9E75B-5899-4116-A97B-D4BBCD98BA6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FC5A852-CF89-467C-92A1-88C33E2D39EF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005AAD6-0190-41C7-A6CC-0A40D63F6C82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6759B734-4778-42F6-B38D-63A6675C327C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3FC8-BCCC-49C3-BBAB-268AFDB845DC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0B40E-D9E3-4317-A88F-438485E0B972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03DCFBD-3A76-4683-B539-7C57F2538D7D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86E6-1CBB-4F58-A0AF-5B0F2D89BE4C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7254CFD-4A14-4A81-A94F-6AE631F78F33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C2347B7-BD60-4B16-83F7-6699BBF4AEBA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47E1-ACCC-4B97-B448-AFD0E40B3599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60AE6-35CC-4C90-AAA2-C3DB10670FAF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C8F24D26-C974-4034-AB44-4D9A37F7EE13}" type="datetime1">
              <a:rPr lang="fr-FR" smtClean="0"/>
              <a:pPr/>
              <a:t>28/03/2026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6FAAA72-068E-4721-8C5B-00163EEAAD9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67744" y="1700808"/>
            <a:ext cx="6172200" cy="2758458"/>
          </a:xfrm>
        </p:spPr>
        <p:txBody>
          <a:bodyPr>
            <a:noAutofit/>
          </a:bodyPr>
          <a:lstStyle/>
          <a:p>
            <a:pPr algn="ctr"/>
            <a:r>
              <a:rPr lang="fr-FR" sz="5400" dirty="0"/>
              <a:t>L’installation</a:t>
            </a:r>
            <a:br>
              <a:rPr lang="fr-FR" sz="5400" dirty="0"/>
            </a:br>
            <a:r>
              <a:rPr lang="fr-FR" sz="5400" dirty="0"/>
              <a:t> électrique :</a:t>
            </a:r>
            <a:br>
              <a:rPr lang="fr-FR" sz="5400" dirty="0"/>
            </a:b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>
                <a:solidFill>
                  <a:srgbClr val="FF0000"/>
                </a:solidFill>
              </a:rPr>
              <a:t>Correction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</a:t>
            </a:fld>
            <a:endParaRPr lang="fr-FR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1. L’installation électrique : réseau public réseau privé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4797152"/>
            <a:ext cx="7467600" cy="180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>
                <a:latin typeface="Constantia"/>
              </a:rPr>
              <a:t>❶</a:t>
            </a:r>
            <a:r>
              <a:rPr lang="fr-FR" sz="2000" dirty="0"/>
              <a:t> : compteur</a:t>
            </a:r>
          </a:p>
          <a:p>
            <a:pPr>
              <a:buNone/>
            </a:pPr>
            <a:r>
              <a:rPr lang="fr-FR" sz="2000" dirty="0">
                <a:latin typeface="Constantia"/>
              </a:rPr>
              <a:t>❷</a:t>
            </a:r>
            <a:r>
              <a:rPr lang="fr-FR" sz="2000" dirty="0"/>
              <a:t> : Disjoncteur abonné</a:t>
            </a:r>
          </a:p>
          <a:p>
            <a:pPr>
              <a:buNone/>
            </a:pPr>
            <a:r>
              <a:rPr lang="fr-FR" sz="2000" dirty="0">
                <a:latin typeface="Constantia"/>
              </a:rPr>
              <a:t>❸</a:t>
            </a:r>
            <a:r>
              <a:rPr lang="fr-FR" sz="2000" dirty="0"/>
              <a:t> : tableau électrique</a:t>
            </a:r>
          </a:p>
          <a:p>
            <a:pPr>
              <a:buNone/>
            </a:pPr>
            <a:r>
              <a:rPr lang="fr-FR" sz="2000" dirty="0">
                <a:latin typeface="Constantia"/>
              </a:rPr>
              <a:t>❹</a:t>
            </a:r>
            <a:r>
              <a:rPr lang="fr-FR" sz="2000" dirty="0"/>
              <a:t> : clôture du terrain privé</a:t>
            </a:r>
          </a:p>
        </p:txBody>
      </p:sp>
      <p:pic>
        <p:nvPicPr>
          <p:cNvPr id="5" name="Imag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08720"/>
            <a:ext cx="7488832" cy="3891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67544" y="1268760"/>
            <a:ext cx="2592288" cy="295232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763688" y="4365104"/>
            <a:ext cx="3456384" cy="43204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4860032" y="1556792"/>
            <a:ext cx="1152128" cy="115212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4860032" y="2708920"/>
            <a:ext cx="360040" cy="165618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5220072" y="2708920"/>
            <a:ext cx="1800200" cy="1584176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2. L’installation électrique : l’espace technique logement (ETEL)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63888" y="1196752"/>
            <a:ext cx="4720952" cy="54006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dirty="0">
                <a:latin typeface="Constantia"/>
              </a:rPr>
              <a:t>❶</a:t>
            </a:r>
            <a:r>
              <a:rPr lang="fr-FR" dirty="0"/>
              <a:t> : ETEL</a:t>
            </a:r>
          </a:p>
          <a:p>
            <a:endParaRPr lang="fr-FR" dirty="0"/>
          </a:p>
          <a:p>
            <a:pPr>
              <a:buNone/>
            </a:pPr>
            <a:r>
              <a:rPr lang="fr-FR" dirty="0">
                <a:latin typeface="Constantia"/>
              </a:rPr>
              <a:t>❷</a:t>
            </a:r>
            <a:r>
              <a:rPr lang="fr-FR" dirty="0"/>
              <a:t> : GTL (gaine technique de logement)</a:t>
            </a:r>
          </a:p>
          <a:p>
            <a:endParaRPr lang="fr-FR" dirty="0"/>
          </a:p>
          <a:p>
            <a:pPr>
              <a:buNone/>
            </a:pPr>
            <a:r>
              <a:rPr lang="fr-FR" dirty="0">
                <a:latin typeface="Constantia"/>
              </a:rPr>
              <a:t>❸</a:t>
            </a:r>
            <a:r>
              <a:rPr lang="fr-FR" dirty="0"/>
              <a:t> : Compteur</a:t>
            </a:r>
          </a:p>
          <a:p>
            <a:endParaRPr lang="fr-FR" dirty="0"/>
          </a:p>
          <a:p>
            <a:pPr>
              <a:buNone/>
            </a:pPr>
            <a:r>
              <a:rPr lang="fr-FR" dirty="0">
                <a:latin typeface="Constantia"/>
              </a:rPr>
              <a:t>❹</a:t>
            </a:r>
            <a:r>
              <a:rPr lang="fr-FR" dirty="0"/>
              <a:t> : Disjoncteur général d’abonné</a:t>
            </a:r>
          </a:p>
          <a:p>
            <a:endParaRPr lang="fr-FR" dirty="0"/>
          </a:p>
          <a:p>
            <a:pPr>
              <a:buNone/>
            </a:pPr>
            <a:r>
              <a:rPr lang="fr-FR" dirty="0">
                <a:latin typeface="Constantia"/>
              </a:rPr>
              <a:t>❺</a:t>
            </a:r>
            <a:r>
              <a:rPr lang="fr-FR" dirty="0"/>
              <a:t> : Tableau divisionnaire ou de répartition</a:t>
            </a:r>
          </a:p>
          <a:p>
            <a:endParaRPr lang="fr-FR" dirty="0"/>
          </a:p>
          <a:p>
            <a:pPr>
              <a:buNone/>
            </a:pPr>
            <a:r>
              <a:rPr lang="fr-FR" dirty="0">
                <a:latin typeface="Constantia"/>
              </a:rPr>
              <a:t>❻ :</a:t>
            </a:r>
            <a:r>
              <a:rPr lang="fr-FR" dirty="0"/>
              <a:t> Tableau de communication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24744"/>
            <a:ext cx="2961509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3. L’installation électrique : le tableau électrique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44008" y="836712"/>
            <a:ext cx="4032448" cy="576064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fr-FR" sz="3200" dirty="0">
                <a:latin typeface="Constantia"/>
              </a:rPr>
              <a:t>❶</a:t>
            </a:r>
            <a:r>
              <a:rPr lang="fr-FR" sz="3200" dirty="0"/>
              <a:t> : </a:t>
            </a:r>
            <a:r>
              <a:rPr lang="fr-FR" sz="3200" dirty="0" err="1"/>
              <a:t>Borniers</a:t>
            </a:r>
            <a:r>
              <a:rPr lang="fr-FR" sz="3200" dirty="0"/>
              <a:t> de répartition de phase (rouge), de neutre (bleu)</a:t>
            </a:r>
          </a:p>
          <a:p>
            <a:endParaRPr lang="fr-FR" sz="3200" dirty="0"/>
          </a:p>
          <a:p>
            <a:pPr>
              <a:buNone/>
            </a:pPr>
            <a:r>
              <a:rPr lang="fr-FR" sz="3200" dirty="0">
                <a:latin typeface="Constantia"/>
              </a:rPr>
              <a:t>❷ </a:t>
            </a:r>
            <a:r>
              <a:rPr lang="fr-FR" sz="3200" dirty="0"/>
              <a:t>: Conducteurs (câbles et fils)</a:t>
            </a:r>
          </a:p>
          <a:p>
            <a:endParaRPr lang="fr-FR" sz="3200" dirty="0"/>
          </a:p>
          <a:p>
            <a:pPr>
              <a:buNone/>
            </a:pPr>
            <a:r>
              <a:rPr lang="fr-FR" sz="3200" dirty="0">
                <a:latin typeface="Constantia"/>
              </a:rPr>
              <a:t>❸</a:t>
            </a:r>
            <a:r>
              <a:rPr lang="fr-FR" sz="3200" dirty="0"/>
              <a:t> : Connecteurs (peignes électriques)</a:t>
            </a:r>
          </a:p>
          <a:p>
            <a:pPr>
              <a:buNone/>
            </a:pPr>
            <a:endParaRPr lang="fr-FR" sz="3200" dirty="0"/>
          </a:p>
          <a:p>
            <a:pPr>
              <a:buNone/>
            </a:pPr>
            <a:r>
              <a:rPr lang="fr-FR" sz="3200" dirty="0">
                <a:latin typeface="Constantia"/>
              </a:rPr>
              <a:t>❹</a:t>
            </a:r>
            <a:r>
              <a:rPr lang="fr-FR" sz="3200" dirty="0"/>
              <a:t> : Connecteurs horizontaux (peignes électriques)</a:t>
            </a:r>
          </a:p>
          <a:p>
            <a:endParaRPr lang="fr-FR" sz="3200" dirty="0"/>
          </a:p>
          <a:p>
            <a:pPr>
              <a:buNone/>
            </a:pPr>
            <a:r>
              <a:rPr lang="fr-FR" sz="3200" dirty="0">
                <a:latin typeface="Constantia"/>
              </a:rPr>
              <a:t>❺</a:t>
            </a:r>
            <a:r>
              <a:rPr lang="fr-FR" sz="3200" dirty="0"/>
              <a:t> : Interrupteurs différentiels 30mA</a:t>
            </a:r>
          </a:p>
          <a:p>
            <a:endParaRPr lang="fr-FR" sz="3200" dirty="0"/>
          </a:p>
          <a:p>
            <a:pPr>
              <a:buNone/>
            </a:pPr>
            <a:r>
              <a:rPr lang="fr-FR" sz="3200" dirty="0">
                <a:latin typeface="Constantia"/>
              </a:rPr>
              <a:t>❻</a:t>
            </a:r>
            <a:r>
              <a:rPr lang="fr-FR" sz="3200" dirty="0"/>
              <a:t> : Disjoncteurs divisionnaires</a:t>
            </a:r>
          </a:p>
          <a:p>
            <a:endParaRPr lang="fr-FR" sz="3200" dirty="0"/>
          </a:p>
          <a:p>
            <a:pPr>
              <a:buNone/>
            </a:pPr>
            <a:r>
              <a:rPr lang="fr-FR" sz="3200" dirty="0">
                <a:latin typeface="Constantia"/>
              </a:rPr>
              <a:t>❼</a:t>
            </a:r>
            <a:r>
              <a:rPr lang="fr-FR" sz="3200" dirty="0"/>
              <a:t> : </a:t>
            </a:r>
            <a:r>
              <a:rPr lang="fr-FR" sz="3200" dirty="0" err="1"/>
              <a:t>Bornier</a:t>
            </a:r>
            <a:r>
              <a:rPr lang="fr-FR" sz="3200" dirty="0"/>
              <a:t> de raccordement à la terre</a:t>
            </a:r>
          </a:p>
          <a:p>
            <a:endParaRPr lang="fr-FR" sz="3200" dirty="0"/>
          </a:p>
          <a:p>
            <a:pPr>
              <a:buNone/>
            </a:pPr>
            <a:r>
              <a:rPr lang="fr-FR" sz="3200" dirty="0">
                <a:latin typeface="Constantia"/>
              </a:rPr>
              <a:t>❽</a:t>
            </a:r>
            <a:r>
              <a:rPr lang="fr-FR" sz="3200" dirty="0"/>
              <a:t> : Rails métalliques support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268760"/>
            <a:ext cx="4536504" cy="474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 tableau électrique : la taille :</a:t>
            </a:r>
          </a:p>
        </p:txBody>
      </p:sp>
      <p:pic>
        <p:nvPicPr>
          <p:cNvPr id="4" name="Espace réservé du contenu 3" descr="tableau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1700808"/>
            <a:ext cx="3240000" cy="3949281"/>
          </a:xfrm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467544" y="908720"/>
            <a:ext cx="7467600" cy="79208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 taille du tableau électrique 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r>
              <a:rPr lang="fr-FR" dirty="0"/>
              <a:t>			Elle 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s’exprime en 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modules.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491880" y="3429000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20% d’espace à garder libre (extension)</a:t>
            </a:r>
          </a:p>
        </p:txBody>
      </p:sp>
      <p:grpSp>
        <p:nvGrpSpPr>
          <p:cNvPr id="13" name="Groupe 12"/>
          <p:cNvGrpSpPr/>
          <p:nvPr/>
        </p:nvGrpSpPr>
        <p:grpSpPr>
          <a:xfrm>
            <a:off x="1115616" y="5589241"/>
            <a:ext cx="5256584" cy="657363"/>
            <a:chOff x="1763688" y="5589241"/>
            <a:chExt cx="5256584" cy="657363"/>
          </a:xfrm>
        </p:grpSpPr>
        <p:sp>
          <p:nvSpPr>
            <p:cNvPr id="10" name="ZoneTexte 9"/>
            <p:cNvSpPr txBox="1"/>
            <p:nvPr/>
          </p:nvSpPr>
          <p:spPr>
            <a:xfrm>
              <a:off x="2123728" y="5877272"/>
              <a:ext cx="4896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Interrupteur différentiel = 2 modules</a:t>
              </a:r>
            </a:p>
          </p:txBody>
        </p:sp>
        <p:cxnSp>
          <p:nvCxnSpPr>
            <p:cNvPr id="12" name="Connecteur droit avec flèche 11"/>
            <p:cNvCxnSpPr>
              <a:stCxn id="10" idx="1"/>
            </p:cNvCxnSpPr>
            <p:nvPr/>
          </p:nvCxnSpPr>
          <p:spPr>
            <a:xfrm flipH="1" flipV="1">
              <a:off x="1763688" y="5589241"/>
              <a:ext cx="360040" cy="47269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e 14"/>
          <p:cNvGrpSpPr/>
          <p:nvPr/>
        </p:nvGrpSpPr>
        <p:grpSpPr>
          <a:xfrm>
            <a:off x="1691680" y="5445224"/>
            <a:ext cx="4896544" cy="369332"/>
            <a:chOff x="2411760" y="5445224"/>
            <a:chExt cx="4896544" cy="369332"/>
          </a:xfrm>
        </p:grpSpPr>
        <p:sp>
          <p:nvSpPr>
            <p:cNvPr id="9" name="ZoneTexte 8"/>
            <p:cNvSpPr txBox="1"/>
            <p:nvPr/>
          </p:nvSpPr>
          <p:spPr>
            <a:xfrm>
              <a:off x="2915816" y="5445224"/>
              <a:ext cx="4392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Disjoncteurs divisionnaires = 1 module</a:t>
              </a:r>
            </a:p>
          </p:txBody>
        </p:sp>
        <p:sp>
          <p:nvSpPr>
            <p:cNvPr id="14" name="Ellipse 13"/>
            <p:cNvSpPr/>
            <p:nvPr/>
          </p:nvSpPr>
          <p:spPr>
            <a:xfrm>
              <a:off x="2411760" y="5589240"/>
              <a:ext cx="360040" cy="14401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6" name="Espace réservé du numéro de diapositive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 tableau électrique : la taille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80728"/>
            <a:ext cx="7467600" cy="51845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800" dirty="0"/>
              <a:t>La taille du tableau électrique sera déterminer par :</a:t>
            </a:r>
          </a:p>
          <a:p>
            <a:r>
              <a:rPr lang="fr-FR" sz="1800" dirty="0"/>
              <a:t> vos besoins,</a:t>
            </a:r>
          </a:p>
          <a:p>
            <a:r>
              <a:rPr lang="fr-FR" sz="1800" dirty="0"/>
              <a:t>Le nombre de modules.</a:t>
            </a:r>
          </a:p>
          <a:p>
            <a:endParaRPr lang="fr-FR" sz="1800" dirty="0"/>
          </a:p>
          <a:p>
            <a:pPr>
              <a:buNone/>
            </a:pP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259632" y="3140968"/>
          <a:ext cx="60960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Nombre de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Nombre</a:t>
                      </a:r>
                      <a:r>
                        <a:rPr lang="fr-FR" baseline="0" dirty="0"/>
                        <a:t> de rangée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4581128"/>
            <a:ext cx="5400600" cy="209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7467600" cy="525658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b="1" u="sng" dirty="0"/>
              <a:t>L’interrupteur et disjoncteur différentiels 30 mA :</a:t>
            </a:r>
          </a:p>
          <a:p>
            <a:r>
              <a:rPr lang="fr-FR" sz="1800" b="1" dirty="0"/>
              <a:t>L’interrupteur différentiel :</a:t>
            </a:r>
          </a:p>
          <a:p>
            <a:pPr>
              <a:buNone/>
            </a:pPr>
            <a:r>
              <a:rPr lang="fr-FR" sz="1800" dirty="0"/>
              <a:t>Il détecte les fuites de courant. Il mesure la différence de courant entre la phase (fil rouge) et le neutre (fil bleu). Si cette différence est supérieure à un niveau (seuil de déclenchement, exemple 30 mA) alors il coupe l’arrivée du courant.</a:t>
            </a:r>
          </a:p>
          <a:p>
            <a:pPr>
              <a:buNone/>
            </a:pPr>
            <a:r>
              <a:rPr lang="fr-FR" sz="1800" dirty="0"/>
              <a:t>Il doit être complété par des disjoncteurs divisionnaires.</a:t>
            </a:r>
          </a:p>
          <a:p>
            <a:pPr>
              <a:buNone/>
            </a:pPr>
            <a:endParaRPr lang="fr-FR" sz="1800" dirty="0"/>
          </a:p>
          <a:p>
            <a:r>
              <a:rPr lang="fr-FR" sz="1800" b="1" dirty="0"/>
              <a:t>Le disjoncteur différentiel :</a:t>
            </a:r>
          </a:p>
          <a:p>
            <a:pPr>
              <a:buNone/>
            </a:pPr>
            <a:r>
              <a:rPr lang="fr-FR" sz="1800" dirty="0"/>
              <a:t>Il combine la protection d’un interrupteur différentiel et d’un disjoncteur divisionnaire.</a:t>
            </a:r>
          </a:p>
          <a:p>
            <a:pPr>
              <a:buFontTx/>
              <a:buChar char="-"/>
            </a:pPr>
            <a:r>
              <a:rPr lang="fr-FR" sz="1800" dirty="0"/>
              <a:t>Différence de courant</a:t>
            </a:r>
          </a:p>
          <a:p>
            <a:pPr>
              <a:buFontTx/>
              <a:buChar char="-"/>
            </a:pPr>
            <a:r>
              <a:rPr lang="fr-FR" sz="1800" dirty="0"/>
              <a:t>Surintensité (surcharge)</a:t>
            </a:r>
          </a:p>
          <a:p>
            <a:pPr>
              <a:buFontTx/>
              <a:buChar char="-"/>
            </a:pPr>
            <a:r>
              <a:rPr lang="fr-FR" sz="1800" dirty="0"/>
              <a:t>Court-circuit</a:t>
            </a:r>
          </a:p>
          <a:p>
            <a:endParaRPr lang="fr-FR" sz="1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908720"/>
            <a:ext cx="4257849" cy="4257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7467600" cy="1800200"/>
          </a:xfrm>
        </p:spPr>
        <p:txBody>
          <a:bodyPr>
            <a:normAutofit/>
          </a:bodyPr>
          <a:lstStyle/>
          <a:p>
            <a:r>
              <a:rPr lang="fr-FR" sz="1800" b="1" dirty="0"/>
              <a:t>Présentation :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95536" y="213285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Bornes d’alimentation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899592" y="4653136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Intensité nominale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012160" y="4437112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Seuil de déclenchement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6588224" y="3212976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Type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95536" y="393305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Mécanisme de coupure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39552" y="5445224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L’intensité nominale est le courant maximum admissible à ses bornes. La somme de la consommation de tous les appareils ne doit pas dépasser cette valeur. Calibre : 25 A, 40 A ou 63 A.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412776"/>
            <a:ext cx="3701763" cy="4216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1052736"/>
            <a:ext cx="8208912" cy="432048"/>
          </a:xfrm>
        </p:spPr>
        <p:txBody>
          <a:bodyPr>
            <a:normAutofit/>
          </a:bodyPr>
          <a:lstStyle/>
          <a:p>
            <a:r>
              <a:rPr lang="fr-FR" sz="1600" b="1" dirty="0"/>
              <a:t>Les différents types de disjoncteur et d’interrupteur différentiels 30 mA : </a:t>
            </a: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419872" y="1412776"/>
            <a:ext cx="5184576" cy="453650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 AC :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Utilisé pour les prises électriques</a:t>
            </a:r>
            <a:r>
              <a:rPr kumimoji="0" lang="fr-FR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classiques et les éclairages (obligatoire)</a:t>
            </a:r>
            <a:r>
              <a:rPr lang="fr-FR" dirty="0"/>
              <a:t>.</a:t>
            </a:r>
            <a:endParaRPr kumimoji="0" lang="fr-FR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lang="fr-FR" baseline="0" dirty="0"/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fr-FR" dirty="0"/>
              <a:t>Type A : 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fr-FR" dirty="0"/>
              <a:t>	Utilisé pour les dispositifs spéciaux, la plaque de cuisson et la machine à laver(obligatoire).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fr-FR" dirty="0"/>
              <a:t>Type HI ou HPI ou SI: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fr-FR" dirty="0"/>
              <a:t>	Utilisé pour les circuits spécialisés type congélateur, informatique ou alarme (pas obligatoire). Permet d’éviter les déclenchements intempestifs.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endParaRPr lang="fr-FR" sz="1400" dirty="0"/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457200" y="1268761"/>
          <a:ext cx="7467597" cy="4680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008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</a:t>
                      </a:r>
                    </a:p>
                    <a:p>
                      <a:pPr algn="ctr"/>
                      <a:r>
                        <a:rPr lang="fr-FR" dirty="0"/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</a:t>
                      </a:r>
                    </a:p>
                    <a:p>
                      <a:pPr algn="ctr"/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</a:t>
                      </a:r>
                      <a:r>
                        <a:rPr lang="fr-FR" baseline="0" dirty="0"/>
                        <a:t> Hi/</a:t>
                      </a:r>
                      <a:r>
                        <a:rPr lang="fr-FR" baseline="0" dirty="0" err="1"/>
                        <a:t>Hpi</a:t>
                      </a:r>
                      <a:r>
                        <a:rPr lang="fr-FR" baseline="0" dirty="0"/>
                        <a:t>/Si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86">
                <a:tc>
                  <a:txBody>
                    <a:bodyPr/>
                    <a:lstStyle/>
                    <a:p>
                      <a:endParaRPr lang="fr-FR" sz="1400" dirty="0"/>
                    </a:p>
                    <a:p>
                      <a:r>
                        <a:rPr lang="fr-FR" sz="1400" dirty="0"/>
                        <a:t>Circuits de prises de courant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86">
                <a:tc>
                  <a:txBody>
                    <a:bodyPr/>
                    <a:lstStyle/>
                    <a:p>
                      <a:endParaRPr lang="fr-FR" sz="1400" dirty="0"/>
                    </a:p>
                    <a:p>
                      <a:r>
                        <a:rPr lang="fr-FR" sz="1400" dirty="0"/>
                        <a:t>Circuits d’éclairage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086">
                <a:tc>
                  <a:txBody>
                    <a:bodyPr/>
                    <a:lstStyle/>
                    <a:p>
                      <a:r>
                        <a:rPr lang="fr-FR" sz="1400" dirty="0"/>
                        <a:t>Circuits spécialisés autres que ceux protégés par le type A</a:t>
                      </a:r>
                    </a:p>
                    <a:p>
                      <a:r>
                        <a:rPr lang="fr-FR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Wingdings" pitchFamily="2" charset="2"/>
                        <a:buNone/>
                      </a:pPr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086">
                <a:tc>
                  <a:txBody>
                    <a:bodyPr/>
                    <a:lstStyle/>
                    <a:p>
                      <a:endParaRPr lang="fr-FR" sz="1400" dirty="0"/>
                    </a:p>
                    <a:p>
                      <a:r>
                        <a:rPr lang="fr-FR" sz="1400" dirty="0"/>
                        <a:t>Circuits spécialisés forte puissance</a:t>
                      </a:r>
                    </a:p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0086">
                <a:tc>
                  <a:txBody>
                    <a:bodyPr/>
                    <a:lstStyle/>
                    <a:p>
                      <a:r>
                        <a:rPr lang="fr-FR" sz="1400" dirty="0"/>
                        <a:t>Appareils à protéger</a:t>
                      </a:r>
                      <a:r>
                        <a:rPr lang="fr-FR" sz="1400" baseline="0" dirty="0"/>
                        <a:t> des coupures intempestives (réfrigérateur, congélateur, matériel info, alarme)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4283968" y="220486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4355976" y="2996952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5580112" y="4509120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6876256" y="530120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580112" y="3789040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5580112" y="2996952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5580112" y="220486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4355976" y="3789040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Constantia"/>
              </a:rPr>
              <a:t>α</a:t>
            </a:r>
            <a:endParaRPr lang="fr-FR" sz="2800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4355976" y="4509120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stantia"/>
              </a:rPr>
              <a:t>-</a:t>
            </a:r>
            <a:endParaRPr lang="fr-FR" sz="2800" b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6804248" y="458112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stantia"/>
              </a:rPr>
              <a:t>-</a:t>
            </a:r>
            <a:endParaRPr lang="fr-FR" sz="2800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5580112" y="530120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stantia"/>
              </a:rPr>
              <a:t>-</a:t>
            </a:r>
            <a:endParaRPr lang="fr-FR" sz="2800" b="1" dirty="0"/>
          </a:p>
        </p:txBody>
      </p:sp>
      <p:sp>
        <p:nvSpPr>
          <p:cNvPr id="18" name="ZoneTexte 17"/>
          <p:cNvSpPr txBox="1"/>
          <p:nvPr/>
        </p:nvSpPr>
        <p:spPr>
          <a:xfrm>
            <a:off x="6876256" y="3789040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stantia"/>
              </a:rPr>
              <a:t>-</a:t>
            </a:r>
            <a:endParaRPr lang="fr-FR" sz="2800" b="1" dirty="0"/>
          </a:p>
        </p:txBody>
      </p:sp>
      <p:sp>
        <p:nvSpPr>
          <p:cNvPr id="19" name="ZoneTexte 18"/>
          <p:cNvSpPr txBox="1"/>
          <p:nvPr/>
        </p:nvSpPr>
        <p:spPr>
          <a:xfrm>
            <a:off x="6876256" y="2996952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stantia"/>
              </a:rPr>
              <a:t>-</a:t>
            </a:r>
            <a:endParaRPr lang="fr-FR" sz="2800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6876256" y="2276872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stantia"/>
              </a:rPr>
              <a:t>-</a:t>
            </a:r>
            <a:endParaRPr lang="fr-FR" sz="2800" b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4355976" y="530120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stantia"/>
              </a:rPr>
              <a:t>-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1080120"/>
          </a:xfrm>
        </p:spPr>
        <p:txBody>
          <a:bodyPr>
            <a:noAutofit/>
          </a:bodyPr>
          <a:lstStyle/>
          <a:p>
            <a:r>
              <a:rPr lang="fr-FR" sz="1800" b="1" u="sng" dirty="0"/>
              <a:t>Calibre de l’interrupteur / disjoncteur différentiel 30 mA :</a:t>
            </a:r>
          </a:p>
          <a:p>
            <a:pPr>
              <a:buNone/>
            </a:pPr>
            <a:r>
              <a:rPr lang="fr-FR" sz="1800" dirty="0"/>
              <a:t>	Pour définir le calibre pour supporter une intensité maximale indiquée sur l’appareil (25 A, 40 A, 63 A …). 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204864"/>
            <a:ext cx="3152432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Espace réservé du contenu 4"/>
          <p:cNvSpPr txBox="1">
            <a:spLocks/>
          </p:cNvSpPr>
          <p:nvPr/>
        </p:nvSpPr>
        <p:spPr>
          <a:xfrm>
            <a:off x="3635896" y="2636912"/>
            <a:ext cx="4464496" cy="352839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/>
              </a:rPr>
              <a:t>❶ Disjoncteur général d’abonné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lang="fr-FR" dirty="0">
              <a:latin typeface="Constantia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/>
              </a:rPr>
              <a:t>❷ Compteur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lang="fr-FR" dirty="0">
              <a:latin typeface="Constantia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/>
              </a:rPr>
              <a:t>❸ Interrupteurs différentiels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endParaRPr lang="fr-FR" dirty="0">
              <a:latin typeface="Constantia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/>
              </a:rPr>
              <a:t>❹ Disjoncteurs divisionnaires</a:t>
            </a: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457200" y="981075"/>
          <a:ext cx="7467600" cy="5328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1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Intensité en amont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Intensité en aval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042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187">
                <a:tc>
                  <a:txBody>
                    <a:bodyPr/>
                    <a:lstStyle/>
                    <a:p>
                      <a:r>
                        <a:rPr lang="fr-FR" dirty="0">
                          <a:latin typeface="Constantia"/>
                        </a:rPr>
                        <a:t>❶  Etendue possible du calibre</a:t>
                      </a:r>
                    </a:p>
                    <a:p>
                      <a:endParaRPr lang="fr-FR" dirty="0">
                        <a:latin typeface="Constantia"/>
                      </a:endParaRPr>
                    </a:p>
                    <a:p>
                      <a:r>
                        <a:rPr lang="fr-FR" dirty="0">
                          <a:latin typeface="Constantia"/>
                        </a:rPr>
                        <a:t>❷ Réglage</a:t>
                      </a:r>
                      <a:r>
                        <a:rPr lang="fr-FR" baseline="0" dirty="0">
                          <a:latin typeface="Constantia"/>
                        </a:rPr>
                        <a:t> choisi du calibre</a:t>
                      </a:r>
                    </a:p>
                    <a:p>
                      <a:endParaRPr lang="fr-FR" dirty="0">
                        <a:latin typeface="Constantia"/>
                      </a:endParaRPr>
                    </a:p>
                    <a:p>
                      <a:r>
                        <a:rPr lang="fr-FR" dirty="0">
                          <a:latin typeface="Constantia"/>
                        </a:rPr>
                        <a:t>❸ Calibre de l’interrupteur</a:t>
                      </a:r>
                      <a:r>
                        <a:rPr lang="fr-FR" baseline="0" dirty="0">
                          <a:latin typeface="Constantia"/>
                        </a:rPr>
                        <a:t> différentiel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onstantia"/>
                        </a:rPr>
                        <a:t>❶ Calibre de l’interrupteur différentiel</a:t>
                      </a:r>
                    </a:p>
                    <a:p>
                      <a:endParaRPr lang="fr-FR" dirty="0">
                        <a:latin typeface="Constantia"/>
                      </a:endParaRPr>
                    </a:p>
                    <a:p>
                      <a:r>
                        <a:rPr lang="fr-FR" dirty="0">
                          <a:latin typeface="Constantia"/>
                        </a:rPr>
                        <a:t>❷ Somme</a:t>
                      </a:r>
                      <a:r>
                        <a:rPr lang="fr-FR" baseline="0" dirty="0">
                          <a:latin typeface="Constantia"/>
                        </a:rPr>
                        <a:t> des ampérages des disjoncteurs divisionnaires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Image 5" descr="amon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3648" y="1340768"/>
            <a:ext cx="2185009" cy="2750022"/>
          </a:xfrm>
          <a:prstGeom prst="rect">
            <a:avLst/>
          </a:prstGeom>
        </p:spPr>
      </p:pic>
      <p:pic>
        <p:nvPicPr>
          <p:cNvPr id="7" name="Image 6" descr="av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7983" y="1340768"/>
            <a:ext cx="2821273" cy="2788146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7467600" cy="53285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b="1" u="sng" dirty="0"/>
              <a:t>A retenir sur l’interrupteur / disjoncteur différentiel :</a:t>
            </a:r>
          </a:p>
          <a:p>
            <a:pPr>
              <a:buNone/>
            </a:pPr>
            <a:endParaRPr lang="fr-FR" sz="1800" b="1" u="sng" dirty="0"/>
          </a:p>
          <a:p>
            <a:pPr marL="342900" indent="-342900">
              <a:buNone/>
            </a:pPr>
            <a:r>
              <a:rPr lang="fr-FR" sz="1800" b="1" dirty="0"/>
              <a:t>N’oubliez pas les règles de la norme NF C 15-100 :</a:t>
            </a:r>
          </a:p>
          <a:p>
            <a:pPr>
              <a:buNone/>
            </a:pPr>
            <a:endParaRPr lang="fr-FR" sz="1800" b="1" dirty="0"/>
          </a:p>
          <a:p>
            <a:pPr>
              <a:buFont typeface="Wingdings" pitchFamily="2" charset="2"/>
              <a:buChar char="Ø"/>
            </a:pPr>
            <a:r>
              <a:rPr lang="fr-FR" sz="1800" b="1" dirty="0"/>
              <a:t>Au moins 2 interrupteurs différentiels 30 mA </a:t>
            </a:r>
          </a:p>
          <a:p>
            <a:pPr lvl="1">
              <a:buNone/>
            </a:pPr>
            <a:r>
              <a:rPr lang="fr-FR" sz="1800" b="1" dirty="0"/>
              <a:t>	le premier de type AC : protection éclairage et prises, </a:t>
            </a:r>
          </a:p>
          <a:p>
            <a:pPr lvl="1">
              <a:buNone/>
            </a:pPr>
            <a:r>
              <a:rPr lang="fr-FR" sz="1800" b="1" dirty="0"/>
              <a:t>	le second de type A : protection des appareils à forte puissance et autres circuits d’éclairage et prises.</a:t>
            </a:r>
          </a:p>
          <a:p>
            <a:pPr>
              <a:buFont typeface="Wingdings" pitchFamily="2" charset="2"/>
              <a:buChar char="Ø"/>
            </a:pPr>
            <a:endParaRPr lang="fr-FR" sz="1800" b="1" dirty="0"/>
          </a:p>
          <a:p>
            <a:pPr>
              <a:buFont typeface="Wingdings" pitchFamily="2" charset="2"/>
              <a:buChar char="Ø"/>
            </a:pPr>
            <a:r>
              <a:rPr lang="fr-FR" sz="1800" b="1" dirty="0"/>
              <a:t>Une rangée de disjoncteurs divisionnaire par interrupteur différentiel.</a:t>
            </a:r>
          </a:p>
          <a:p>
            <a:pPr>
              <a:buFont typeface="Wingdings" pitchFamily="2" charset="2"/>
              <a:buChar char="Ø"/>
            </a:pPr>
            <a:endParaRPr lang="fr-FR" sz="1800" b="1" dirty="0"/>
          </a:p>
          <a:p>
            <a:pPr>
              <a:buFont typeface="Wingdings" pitchFamily="2" charset="2"/>
              <a:buChar char="Ø"/>
            </a:pPr>
            <a:r>
              <a:rPr lang="fr-FR" sz="1800" b="1" dirty="0"/>
              <a:t>Pas plus de 8 disjoncteurs divisionnaires par rangées après chaque interrupteur différentiel.</a:t>
            </a:r>
          </a:p>
          <a:p>
            <a:pPr>
              <a:buFont typeface="Wingdings" pitchFamily="2" charset="2"/>
              <a:buChar char="Ø"/>
            </a:pPr>
            <a:endParaRPr lang="fr-FR" sz="1800" b="1" dirty="0"/>
          </a:p>
          <a:p>
            <a:pPr marL="342900" indent="-342900">
              <a:buNone/>
            </a:pPr>
            <a:endParaRPr lang="fr-FR" sz="18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7467600" cy="14401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fr-FR" sz="2000" b="1" u="sng" dirty="0"/>
              <a:t>Les disjoncteurs divisionnaires :</a:t>
            </a:r>
          </a:p>
          <a:p>
            <a:r>
              <a:rPr lang="fr-FR" sz="1800" dirty="0"/>
              <a:t>Rôle : </a:t>
            </a:r>
          </a:p>
          <a:p>
            <a:pPr>
              <a:buNone/>
            </a:pPr>
            <a:r>
              <a:rPr lang="fr-FR" sz="1800" dirty="0"/>
              <a:t>		Il protège contre les </a:t>
            </a:r>
            <a:r>
              <a:rPr lang="fr-FR" sz="1800" b="1" dirty="0"/>
              <a:t>surcharges</a:t>
            </a:r>
            <a:r>
              <a:rPr lang="fr-FR" sz="1800" dirty="0"/>
              <a:t> et les </a:t>
            </a:r>
            <a:r>
              <a:rPr lang="fr-FR" sz="1800" b="1" dirty="0"/>
              <a:t>courts circuits</a:t>
            </a:r>
            <a:r>
              <a:rPr lang="fr-FR" sz="1800" dirty="0"/>
              <a:t>.</a:t>
            </a:r>
          </a:p>
          <a:p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1988840"/>
            <a:ext cx="2365425" cy="376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83568" y="285293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Bornes d’alimentation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611560" y="4221088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Mécanisme de coupure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076056" y="4869160"/>
            <a:ext cx="36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Départ vers le circuit à protéger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5292080" y="393305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Mécanisme de coupure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83568" y="5157192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Calibre du disjoncteur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80728"/>
            <a:ext cx="7467600" cy="1800200"/>
          </a:xfrm>
        </p:spPr>
        <p:txBody>
          <a:bodyPr>
            <a:normAutofit/>
          </a:bodyPr>
          <a:lstStyle/>
          <a:p>
            <a:r>
              <a:rPr lang="fr-FR" sz="1800" b="1" u="sng" dirty="0"/>
              <a:t>Le coupe-circuit (fusible) : </a:t>
            </a:r>
          </a:p>
          <a:p>
            <a:pPr>
              <a:buNone/>
            </a:pPr>
            <a:r>
              <a:rPr lang="fr-FR" sz="1800" dirty="0"/>
              <a:t>		Interdit par la norme dans le neuf et les grosses rénovations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348880"/>
            <a:ext cx="3600400" cy="3133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80728"/>
            <a:ext cx="7467600" cy="1800200"/>
          </a:xfrm>
        </p:spPr>
        <p:txBody>
          <a:bodyPr>
            <a:normAutofit/>
          </a:bodyPr>
          <a:lstStyle/>
          <a:p>
            <a:r>
              <a:rPr lang="fr-FR" sz="1800" b="1" dirty="0"/>
              <a:t>Norme d’installation sur les disjoncteurs :</a:t>
            </a:r>
          </a:p>
          <a:p>
            <a:endParaRPr lang="fr-FR" dirty="0"/>
          </a:p>
          <a:p>
            <a:pPr>
              <a:buNone/>
            </a:pPr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323528" y="1340768"/>
          <a:ext cx="777686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8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Nombre </a:t>
                      </a:r>
                      <a:r>
                        <a:rPr lang="fr-FR" sz="1200" dirty="0" err="1"/>
                        <a:t>minimun</a:t>
                      </a:r>
                      <a:r>
                        <a:rPr lang="fr-FR" sz="1200" dirty="0"/>
                        <a:t> de circuits / habitation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Nombre maximum d’équipements / 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Intensité maximum du disjoncteur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08">
                <a:tc>
                  <a:txBody>
                    <a:bodyPr/>
                    <a:lstStyle/>
                    <a:p>
                      <a:endParaRPr lang="fr-FR" sz="1200" dirty="0"/>
                    </a:p>
                    <a:p>
                      <a:r>
                        <a:rPr lang="fr-FR" sz="1200" dirty="0"/>
                        <a:t>Circuit éclairage :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8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  <a:p>
                      <a:r>
                        <a:rPr lang="fr-FR" sz="1200" dirty="0"/>
                        <a:t>Circuit de prises (1,5 mm²) :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Circuit de prises (2,5 mm²) :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Circuits spécialisés gros électroménagers (2,5 mm²) 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Circuits spécialisés plaque de cuisson (6 mm²) :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Circuit</a:t>
                      </a:r>
                      <a:r>
                        <a:rPr lang="fr-FR" sz="1200" baseline="0" dirty="0"/>
                        <a:t> spécialisé chauffage électrique (2,5 mm²) :</a:t>
                      </a:r>
                      <a:endParaRPr lang="fr-FR" sz="1200" dirty="0"/>
                    </a:p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Circuit</a:t>
                      </a:r>
                      <a:r>
                        <a:rPr lang="fr-FR" sz="1200" baseline="0" dirty="0"/>
                        <a:t> spécialisé volets roulants (1,5 mm²) :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2699792" y="198884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+mj-lt"/>
              </a:rPr>
              <a:t>&lt; 35 m² : 1</a:t>
            </a:r>
          </a:p>
          <a:p>
            <a:pPr algn="ctr"/>
            <a:r>
              <a:rPr lang="fr-FR" b="1" dirty="0">
                <a:latin typeface="+mj-lt"/>
              </a:rPr>
              <a:t>&gt; 35 m² : 2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004048" y="213285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8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6732240" y="213285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16 A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059832" y="27089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-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131840" y="33569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-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932040" y="53012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-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5004048" y="278092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8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3131840" y="400506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3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059832" y="465313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3059832" y="59492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3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5004048" y="465313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5004048" y="400506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5004048" y="59492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004048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12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2483768" y="5373216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1 / tranche 4500 W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6732240" y="342900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20 A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732240" y="400506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20 A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6732240" y="465313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32 A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6732240" y="530120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20 A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6732240" y="594928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16 A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6732240" y="278092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16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052736"/>
            <a:ext cx="5040000" cy="5614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2880320" cy="288032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fr-FR" sz="1800" b="1" u="sng" dirty="0"/>
              <a:t>Le parafoudre :</a:t>
            </a:r>
          </a:p>
          <a:p>
            <a:pPr>
              <a:buNone/>
            </a:pPr>
            <a:r>
              <a:rPr lang="fr-FR" sz="1600" b="1" dirty="0"/>
              <a:t>Rôle :</a:t>
            </a:r>
          </a:p>
          <a:p>
            <a:pPr>
              <a:buNone/>
            </a:pPr>
            <a:r>
              <a:rPr lang="fr-FR" sz="1600" b="1" dirty="0"/>
              <a:t>	Installé en tête de l’installation électrique, il évacue les surtensions générées par la foudre, vers la terre.</a:t>
            </a:r>
          </a:p>
        </p:txBody>
      </p:sp>
      <p:pic>
        <p:nvPicPr>
          <p:cNvPr id="4" name="Imag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356992"/>
            <a:ext cx="2880000" cy="18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3789040"/>
            <a:ext cx="2880320" cy="192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836712"/>
            <a:ext cx="3960440" cy="2654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5616624" cy="54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fr-FR" sz="1800" b="1" u="sng" dirty="0"/>
              <a:t>Le </a:t>
            </a:r>
            <a:r>
              <a:rPr lang="fr-FR" sz="1800" b="1" u="sng" dirty="0" err="1"/>
              <a:t>délesteur</a:t>
            </a:r>
            <a:r>
              <a:rPr lang="fr-FR" sz="1800" b="1" u="sng" dirty="0"/>
              <a:t> :</a:t>
            </a:r>
          </a:p>
          <a:p>
            <a:pPr>
              <a:buNone/>
            </a:pPr>
            <a:r>
              <a:rPr lang="fr-FR" sz="1600" dirty="0"/>
              <a:t>Rôle :</a:t>
            </a:r>
          </a:p>
          <a:p>
            <a:pPr>
              <a:buNone/>
            </a:pPr>
            <a:r>
              <a:rPr lang="fr-FR" sz="1600" dirty="0"/>
              <a:t>	Il permet de gérer l’utilisation de la puissance sur l’ensemble des circuits en coupant momentanément certaines alimentations.</a:t>
            </a:r>
          </a:p>
          <a:p>
            <a:pPr>
              <a:buNone/>
            </a:pPr>
            <a:endParaRPr lang="fr-FR" sz="1600" dirty="0"/>
          </a:p>
          <a:p>
            <a:pPr>
              <a:buNone/>
            </a:pPr>
            <a:endParaRPr lang="fr-FR" sz="1600" dirty="0"/>
          </a:p>
          <a:p>
            <a:pPr>
              <a:buNone/>
            </a:pPr>
            <a:endParaRPr lang="fr-FR" sz="1600" dirty="0"/>
          </a:p>
          <a:p>
            <a:pPr>
              <a:buNone/>
            </a:pPr>
            <a:endParaRPr lang="fr-FR" sz="1600" dirty="0"/>
          </a:p>
          <a:p>
            <a:pPr marL="457200" indent="-457200">
              <a:buFont typeface="+mj-lt"/>
              <a:buAutoNum type="arabicPeriod" startAt="5"/>
            </a:pPr>
            <a:r>
              <a:rPr lang="fr-FR" sz="1800" b="1" u="sng" dirty="0"/>
              <a:t>Le contacteur jour / nuit :</a:t>
            </a:r>
          </a:p>
          <a:p>
            <a:pPr>
              <a:buNone/>
            </a:pPr>
            <a:r>
              <a:rPr lang="fr-FR" sz="1600" dirty="0"/>
              <a:t>Rôle :</a:t>
            </a:r>
          </a:p>
          <a:p>
            <a:pPr>
              <a:buNone/>
            </a:pPr>
            <a:r>
              <a:rPr lang="fr-FR" sz="1600" dirty="0"/>
              <a:t>	Il permet de bénéficier des tarifs heures creuses (la nuit) du fournisseur d’électricité (abonnement nécessaire). Exemple le chauffe-eau.</a:t>
            </a:r>
          </a:p>
          <a:p>
            <a:pPr>
              <a:buNone/>
            </a:pPr>
            <a:endParaRPr lang="fr-FR" sz="140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/>
          <p:nvPr/>
        </p:nvPicPr>
        <p:blipFill>
          <a:blip r:embed="rId2" cstate="print"/>
          <a:srcRect l="30371" t="3937" r="32396" b="3937"/>
          <a:stretch>
            <a:fillRect/>
          </a:stretch>
        </p:blipFill>
        <p:spPr bwMode="auto">
          <a:xfrm>
            <a:off x="7164288" y="4797152"/>
            <a:ext cx="938235" cy="1906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 6"/>
          <p:cNvPicPr/>
          <p:nvPr/>
        </p:nvPicPr>
        <p:blipFill>
          <a:blip r:embed="rId3" cstate="print"/>
          <a:srcRect l="28215" t="14441" r="27559" b="12378"/>
          <a:stretch>
            <a:fillRect/>
          </a:stretch>
        </p:blipFill>
        <p:spPr bwMode="auto">
          <a:xfrm>
            <a:off x="7020272" y="2636912"/>
            <a:ext cx="1273678" cy="2010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5"/>
          <p:cNvPicPr/>
          <p:nvPr/>
        </p:nvPicPr>
        <p:blipFill>
          <a:blip r:embed="rId4" cstate="print"/>
          <a:srcRect l="33465" t="2953" r="32152"/>
          <a:stretch>
            <a:fillRect/>
          </a:stretch>
        </p:blipFill>
        <p:spPr bwMode="auto">
          <a:xfrm>
            <a:off x="7129148" y="821425"/>
            <a:ext cx="990169" cy="1863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les différents modules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6624736" cy="532859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fr-FR" sz="1600" b="1" u="sng" dirty="0"/>
              <a:t>Le </a:t>
            </a:r>
            <a:r>
              <a:rPr lang="fr-FR" sz="1600" b="1" u="sng" dirty="0" err="1"/>
              <a:t>télérupteur</a:t>
            </a:r>
            <a:r>
              <a:rPr lang="fr-FR" sz="1600" b="1" u="sng" dirty="0"/>
              <a:t> :</a:t>
            </a:r>
          </a:p>
          <a:p>
            <a:pPr>
              <a:buNone/>
            </a:pPr>
            <a:r>
              <a:rPr lang="fr-FR" sz="1600" dirty="0"/>
              <a:t>Rôle :</a:t>
            </a:r>
          </a:p>
          <a:p>
            <a:pPr>
              <a:buNone/>
            </a:pPr>
            <a:r>
              <a:rPr lang="fr-FR" sz="1600" dirty="0"/>
              <a:t>	Permet d’avoir plusieurs points d’allumage d’un éclairage (couloirs, cages d’escaliers, …).</a:t>
            </a:r>
          </a:p>
          <a:p>
            <a:pPr>
              <a:buNone/>
            </a:pPr>
            <a:endParaRPr lang="fr-FR" sz="1600" dirty="0"/>
          </a:p>
          <a:p>
            <a:pPr>
              <a:buNone/>
            </a:pPr>
            <a:endParaRPr lang="fr-FR" sz="1600" dirty="0"/>
          </a:p>
          <a:p>
            <a:pPr marL="457200" indent="-457200">
              <a:buFont typeface="+mj-lt"/>
              <a:buAutoNum type="arabicPeriod" startAt="7"/>
            </a:pPr>
            <a:r>
              <a:rPr lang="fr-FR" sz="1600" b="1" u="sng" dirty="0"/>
              <a:t>Le </a:t>
            </a:r>
            <a:r>
              <a:rPr lang="fr-FR" sz="1600" b="1" u="sng" dirty="0" err="1"/>
              <a:t>télévariateur</a:t>
            </a:r>
            <a:r>
              <a:rPr lang="fr-FR" sz="1600" b="1" u="sng" dirty="0"/>
              <a:t> modulaire :</a:t>
            </a:r>
          </a:p>
          <a:p>
            <a:pPr>
              <a:buNone/>
            </a:pPr>
            <a:r>
              <a:rPr lang="fr-FR" sz="1600" dirty="0"/>
              <a:t>Rôle :</a:t>
            </a:r>
          </a:p>
          <a:p>
            <a:pPr>
              <a:buNone/>
            </a:pPr>
            <a:r>
              <a:rPr lang="fr-FR" sz="1600" dirty="0"/>
              <a:t>	Il joue le même rôle qu’un </a:t>
            </a:r>
            <a:r>
              <a:rPr lang="fr-FR" sz="1600" dirty="0" err="1"/>
              <a:t>télérupteur</a:t>
            </a:r>
            <a:r>
              <a:rPr lang="fr-FR" sz="1600" dirty="0"/>
              <a:t> mais il permet en plus de faire varier la puissance de l’éclairage.</a:t>
            </a:r>
          </a:p>
          <a:p>
            <a:pPr>
              <a:buNone/>
            </a:pPr>
            <a:endParaRPr lang="fr-FR" sz="1600" dirty="0"/>
          </a:p>
          <a:p>
            <a:pPr>
              <a:buNone/>
            </a:pPr>
            <a:endParaRPr lang="fr-FR" sz="1600" dirty="0"/>
          </a:p>
          <a:p>
            <a:pPr>
              <a:buNone/>
            </a:pPr>
            <a:endParaRPr lang="fr-FR" sz="1600" dirty="0"/>
          </a:p>
          <a:p>
            <a:pPr marL="457200" indent="-457200">
              <a:buFont typeface="+mj-lt"/>
              <a:buAutoNum type="arabicPeriod" startAt="8"/>
            </a:pPr>
            <a:r>
              <a:rPr lang="fr-FR" sz="1600" b="1" u="sng" dirty="0"/>
              <a:t>La minuterie ou le relai temporisé :</a:t>
            </a:r>
          </a:p>
          <a:p>
            <a:pPr>
              <a:buNone/>
            </a:pPr>
            <a:r>
              <a:rPr lang="fr-FR" sz="1600" dirty="0"/>
              <a:t>Rôle :</a:t>
            </a:r>
          </a:p>
          <a:p>
            <a:pPr>
              <a:buNone/>
            </a:pPr>
            <a:r>
              <a:rPr lang="fr-FR" sz="1600" dirty="0"/>
              <a:t>Elle permet l’extinction automatique d’un éclairage après un temps prédéfini (cages d’escaliers, sous-sols, …)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/>
          <p:nvPr/>
        </p:nvPicPr>
        <p:blipFill>
          <a:blip r:embed="rId2" cstate="print"/>
          <a:srcRect l="2025" r="3375"/>
          <a:stretch>
            <a:fillRect/>
          </a:stretch>
        </p:blipFill>
        <p:spPr bwMode="auto">
          <a:xfrm>
            <a:off x="5503351" y="2924944"/>
            <a:ext cx="3141904" cy="138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tableau électrique : autres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80728"/>
            <a:ext cx="5040560" cy="5472608"/>
          </a:xfrm>
        </p:spPr>
        <p:txBody>
          <a:bodyPr>
            <a:normAutofit/>
          </a:bodyPr>
          <a:lstStyle/>
          <a:p>
            <a:r>
              <a:rPr lang="fr-FR" sz="1600" dirty="0"/>
              <a:t>Les peignes :</a:t>
            </a:r>
          </a:p>
          <a:p>
            <a:pPr>
              <a:buNone/>
            </a:pPr>
            <a:r>
              <a:rPr lang="fr-FR" sz="1600" dirty="0"/>
              <a:t>	Il existe deux types :</a:t>
            </a:r>
          </a:p>
          <a:p>
            <a:pPr>
              <a:buNone/>
            </a:pPr>
            <a:r>
              <a:rPr lang="fr-FR" sz="1600" dirty="0"/>
              <a:t>Les peignes de raccordement (peignes verticaux)</a:t>
            </a:r>
          </a:p>
          <a:p>
            <a:pPr>
              <a:buNone/>
            </a:pPr>
            <a:r>
              <a:rPr lang="fr-FR" sz="1600" dirty="0"/>
              <a:t>Les peignes d’alimentation (peigne horizontaux)</a:t>
            </a:r>
          </a:p>
          <a:p>
            <a:pPr>
              <a:buNone/>
            </a:pPr>
            <a:endParaRPr lang="fr-FR" sz="1600" dirty="0"/>
          </a:p>
          <a:p>
            <a:pPr>
              <a:buNone/>
            </a:pPr>
            <a:endParaRPr lang="fr-FR" sz="1600" dirty="0"/>
          </a:p>
          <a:p>
            <a:r>
              <a:rPr lang="fr-FR" sz="1600" dirty="0"/>
              <a:t>Les </a:t>
            </a:r>
            <a:r>
              <a:rPr lang="fr-FR" sz="1600" dirty="0" err="1"/>
              <a:t>borniers</a:t>
            </a:r>
            <a:r>
              <a:rPr lang="fr-FR" sz="1600" dirty="0"/>
              <a:t> de répartition :</a:t>
            </a:r>
          </a:p>
          <a:p>
            <a:pPr>
              <a:buNone/>
            </a:pPr>
            <a:r>
              <a:rPr lang="fr-FR" sz="1600" dirty="0"/>
              <a:t>	Jonction de la phase et du neutre entre le disjoncteur général et les interrupteurs ou disjoncteurs différentiels. </a:t>
            </a:r>
          </a:p>
          <a:p>
            <a:endParaRPr lang="fr-FR" sz="1600" dirty="0"/>
          </a:p>
          <a:p>
            <a:r>
              <a:rPr lang="fr-FR" sz="1600" dirty="0"/>
              <a:t>Le raccordement à la terre :</a:t>
            </a:r>
          </a:p>
          <a:p>
            <a:pPr>
              <a:buNone/>
            </a:pPr>
            <a:r>
              <a:rPr lang="fr-FR" sz="1600" dirty="0"/>
              <a:t>	Il centralise tous les circuits de mise à la terre de l’installation.</a:t>
            </a:r>
          </a:p>
          <a:p>
            <a:pPr>
              <a:buNone/>
            </a:pP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20</a:t>
            </a:fld>
            <a:endParaRPr lang="fr-FR"/>
          </a:p>
        </p:txBody>
      </p:sp>
      <p:pic>
        <p:nvPicPr>
          <p:cNvPr id="5" name="Imag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128" y="980728"/>
            <a:ext cx="2035160" cy="1833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 6"/>
          <p:cNvPicPr/>
          <p:nvPr/>
        </p:nvPicPr>
        <p:blipFill>
          <a:blip r:embed="rId4" cstate="print"/>
          <a:srcRect l="26997" t="23622" r="26997" b="23622"/>
          <a:stretch>
            <a:fillRect/>
          </a:stretch>
        </p:blipFill>
        <p:spPr bwMode="auto">
          <a:xfrm>
            <a:off x="5292080" y="4581128"/>
            <a:ext cx="252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4. L’installation électrique : la mise à la terre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932040" y="1124744"/>
            <a:ext cx="2992760" cy="5184576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fr-FR" dirty="0">
                <a:latin typeface="Constantia"/>
              </a:rPr>
              <a:t>❶ : Conducteurs de protection des circuits </a:t>
            </a:r>
          </a:p>
          <a:p>
            <a:pPr>
              <a:buNone/>
            </a:pPr>
            <a:endParaRPr lang="fr-FR" dirty="0">
              <a:latin typeface="Constantia"/>
            </a:endParaRPr>
          </a:p>
          <a:p>
            <a:pPr>
              <a:buNone/>
            </a:pPr>
            <a:r>
              <a:rPr lang="fr-FR" dirty="0">
                <a:latin typeface="Constantia"/>
              </a:rPr>
              <a:t>❷ : Répartiteur de terre du tableau électrique</a:t>
            </a:r>
          </a:p>
          <a:p>
            <a:pPr>
              <a:buNone/>
            </a:pPr>
            <a:endParaRPr lang="fr-FR" dirty="0">
              <a:latin typeface="Constantia"/>
            </a:endParaRPr>
          </a:p>
          <a:p>
            <a:pPr>
              <a:buNone/>
            </a:pPr>
            <a:r>
              <a:rPr lang="fr-FR" dirty="0">
                <a:latin typeface="Constantia"/>
              </a:rPr>
              <a:t>❸ : Conducteur principal de protection</a:t>
            </a:r>
          </a:p>
          <a:p>
            <a:pPr>
              <a:buNone/>
            </a:pPr>
            <a:endParaRPr lang="fr-FR" dirty="0">
              <a:latin typeface="Constantia"/>
            </a:endParaRPr>
          </a:p>
          <a:p>
            <a:pPr>
              <a:buNone/>
            </a:pPr>
            <a:r>
              <a:rPr lang="fr-FR" dirty="0">
                <a:latin typeface="Constantia"/>
              </a:rPr>
              <a:t>❹ : Barrette de coupure de terre</a:t>
            </a:r>
          </a:p>
          <a:p>
            <a:pPr>
              <a:buNone/>
            </a:pPr>
            <a:endParaRPr lang="fr-FR" dirty="0">
              <a:latin typeface="Constantia"/>
            </a:endParaRPr>
          </a:p>
          <a:p>
            <a:pPr>
              <a:buNone/>
            </a:pPr>
            <a:r>
              <a:rPr lang="fr-FR" dirty="0">
                <a:latin typeface="Constantia"/>
              </a:rPr>
              <a:t>❺ : Conducteur de terre</a:t>
            </a:r>
          </a:p>
          <a:p>
            <a:pPr>
              <a:buNone/>
            </a:pPr>
            <a:endParaRPr lang="fr-FR" dirty="0">
              <a:latin typeface="Constantia"/>
            </a:endParaRPr>
          </a:p>
          <a:p>
            <a:pPr>
              <a:buNone/>
            </a:pPr>
            <a:r>
              <a:rPr lang="fr-FR" dirty="0">
                <a:latin typeface="Constantia"/>
              </a:rPr>
              <a:t>❻ : Prise de terre</a:t>
            </a:r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4455968" cy="4327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764704"/>
            <a:ext cx="5300917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la liaison équipotentielle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79512" y="5589240"/>
            <a:ext cx="7920880" cy="8640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1800" dirty="0"/>
              <a:t>		</a:t>
            </a:r>
            <a:r>
              <a:rPr lang="fr-FR" sz="1800" b="1" dirty="0"/>
              <a:t>Votre maison comporte divers éléments métalliques qui, bien que non électrifiés, peuvent devenir conducteurs en cas de fuite de courant.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7488832" cy="5832648"/>
          </a:xfrm>
        </p:spPr>
        <p:txBody>
          <a:bodyPr>
            <a:noAutofit/>
          </a:bodyPr>
          <a:lstStyle/>
          <a:p>
            <a:r>
              <a:rPr lang="fr-FR" sz="1600" b="1" dirty="0"/>
              <a:t>Rôle : </a:t>
            </a:r>
          </a:p>
          <a:p>
            <a:pPr>
              <a:buNone/>
            </a:pPr>
            <a:r>
              <a:rPr lang="fr-FR" sz="1600" dirty="0"/>
              <a:t>Permet le transport de l’énergie électrique. Il en existe 2 types :</a:t>
            </a:r>
          </a:p>
          <a:p>
            <a:pPr>
              <a:buNone/>
            </a:pPr>
            <a:endParaRPr lang="fr-FR" sz="1600" dirty="0"/>
          </a:p>
          <a:p>
            <a:pPr>
              <a:buFont typeface="Wingdings" pitchFamily="2" charset="2"/>
              <a:buChar char="Ø"/>
            </a:pPr>
            <a:r>
              <a:rPr lang="fr-FR" sz="1600" b="1" dirty="0"/>
              <a:t>Le fil électrique :</a:t>
            </a:r>
          </a:p>
          <a:p>
            <a:pPr lvl="1">
              <a:buNone/>
            </a:pPr>
            <a:endParaRPr lang="fr-FR" sz="1600" dirty="0"/>
          </a:p>
          <a:p>
            <a:pPr lvl="1">
              <a:buNone/>
            </a:pPr>
            <a:r>
              <a:rPr lang="fr-FR" sz="1600" dirty="0"/>
              <a:t>	Le fil rigide ou massif :		Le fil souple ou multibrins</a:t>
            </a:r>
          </a:p>
          <a:p>
            <a:pPr lvl="1">
              <a:buNone/>
            </a:pPr>
            <a:endParaRPr lang="fr-FR" sz="1600" dirty="0"/>
          </a:p>
          <a:p>
            <a:pPr lvl="1">
              <a:buNone/>
            </a:pPr>
            <a:endParaRPr lang="fr-FR" sz="1600" dirty="0"/>
          </a:p>
          <a:p>
            <a:pPr lvl="1">
              <a:buNone/>
            </a:pPr>
            <a:endParaRPr lang="fr-FR" sz="1600" dirty="0"/>
          </a:p>
          <a:p>
            <a:pPr lvl="1">
              <a:buNone/>
            </a:pPr>
            <a:endParaRPr lang="fr-FR" sz="1600" dirty="0"/>
          </a:p>
          <a:p>
            <a:pPr lvl="1">
              <a:buNone/>
            </a:pPr>
            <a:endParaRPr lang="fr-FR" sz="1600" dirty="0"/>
          </a:p>
          <a:p>
            <a:pPr lvl="1">
              <a:buNone/>
            </a:pPr>
            <a:endParaRPr lang="fr-FR" sz="1600" dirty="0"/>
          </a:p>
          <a:p>
            <a:pPr lvl="1">
              <a:buNone/>
            </a:pPr>
            <a:endParaRPr lang="fr-FR" sz="1600" dirty="0"/>
          </a:p>
          <a:p>
            <a:pPr>
              <a:buFont typeface="Wingdings" pitchFamily="2" charset="2"/>
              <a:buChar char="Ø"/>
            </a:pPr>
            <a:r>
              <a:rPr lang="fr-FR" sz="1600" b="1" dirty="0"/>
              <a:t>Le câble électrique :</a:t>
            </a:r>
          </a:p>
          <a:p>
            <a:pPr>
              <a:buFont typeface="Wingdings" pitchFamily="2" charset="2"/>
              <a:buChar char="Ø"/>
            </a:pPr>
            <a:endParaRPr lang="fr-FR" sz="1600" dirty="0"/>
          </a:p>
          <a:p>
            <a:pPr>
              <a:buFont typeface="Wingdings" pitchFamily="2" charset="2"/>
              <a:buChar char="Ø"/>
            </a:pPr>
            <a:endParaRPr lang="fr-FR" sz="1600" dirty="0"/>
          </a:p>
          <a:p>
            <a:pPr>
              <a:buFont typeface="Wingdings" pitchFamily="2" charset="2"/>
              <a:buChar char="Ø"/>
            </a:pPr>
            <a:endParaRPr lang="fr-FR" sz="1600" dirty="0"/>
          </a:p>
          <a:p>
            <a:pPr>
              <a:buFont typeface="Wingdings" pitchFamily="2" charset="2"/>
              <a:buChar char="Ø"/>
            </a:pPr>
            <a:endParaRPr lang="fr-FR" sz="1600" dirty="0"/>
          </a:p>
          <a:p>
            <a:pPr>
              <a:buFont typeface="Wingdings" pitchFamily="2" charset="2"/>
              <a:buChar char="Ø"/>
            </a:pPr>
            <a:endParaRPr lang="fr-FR" sz="1600" dirty="0"/>
          </a:p>
        </p:txBody>
      </p:sp>
      <p:pic>
        <p:nvPicPr>
          <p:cNvPr id="7" name="Image 6"/>
          <p:cNvPicPr preferRelativeResize="0">
            <a:picLocks noChangeAspect="1"/>
          </p:cNvPicPr>
          <p:nvPr/>
        </p:nvPicPr>
        <p:blipFill>
          <a:blip r:embed="rId2" cstate="print"/>
          <a:srcRect l="5249" t="4276" r="4593" b="6413"/>
          <a:stretch>
            <a:fillRect/>
          </a:stretch>
        </p:blipFill>
        <p:spPr bwMode="auto">
          <a:xfrm>
            <a:off x="2051720" y="5229200"/>
            <a:ext cx="3600000" cy="1094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les conducteurs électriques : présentation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23</a:t>
            </a:fld>
            <a:endParaRPr lang="fr-FR"/>
          </a:p>
        </p:txBody>
      </p:sp>
      <p:pic>
        <p:nvPicPr>
          <p:cNvPr id="5" name="Image 4"/>
          <p:cNvPicPr preferRelativeResize="0">
            <a:picLocks noChangeAspect="1"/>
          </p:cNvPicPr>
          <p:nvPr/>
        </p:nvPicPr>
        <p:blipFill>
          <a:blip r:embed="rId3" cstate="print"/>
          <a:srcRect t="16535" b="17717"/>
          <a:stretch>
            <a:fillRect/>
          </a:stretch>
        </p:blipFill>
        <p:spPr bwMode="auto">
          <a:xfrm>
            <a:off x="395536" y="3140968"/>
            <a:ext cx="3600000" cy="131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5"/>
          <p:cNvPicPr preferRelativeResize="0"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716016" y="3068960"/>
            <a:ext cx="3240000" cy="112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/>
          <a:srcRect l="2025" t="5249" r="2700" b="5249"/>
          <a:stretch>
            <a:fillRect/>
          </a:stretch>
        </p:blipFill>
        <p:spPr bwMode="auto">
          <a:xfrm>
            <a:off x="2699792" y="1124744"/>
            <a:ext cx="5400000" cy="340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les conducteurs électriques : dénomination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6635080" cy="5544616"/>
          </a:xfrm>
        </p:spPr>
        <p:txBody>
          <a:bodyPr>
            <a:normAutofit fontScale="92500" lnSpcReduction="20000"/>
          </a:bodyPr>
          <a:lstStyle/>
          <a:p>
            <a:r>
              <a:rPr lang="fr-FR" sz="1600" b="1" dirty="0"/>
              <a:t>La norme française UTE :</a:t>
            </a:r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i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pPr>
              <a:buNone/>
            </a:pPr>
            <a:r>
              <a:rPr lang="fr-FR" sz="1600" dirty="0"/>
              <a:t> </a:t>
            </a:r>
          </a:p>
          <a:p>
            <a:pPr>
              <a:buNone/>
            </a:pPr>
            <a:r>
              <a:rPr lang="fr-FR" sz="1500" b="1" dirty="0"/>
              <a:t>* Les matériaux de l’isolant, de la gaine interne et de la gaine externe peuvent être de différentes natures :</a:t>
            </a:r>
          </a:p>
          <a:p>
            <a:pPr lvl="1">
              <a:buFont typeface="Wingdings" pitchFamily="2" charset="2"/>
              <a:buChar char="Ø"/>
            </a:pPr>
            <a:r>
              <a:rPr lang="fr-FR" sz="1500" b="1" dirty="0"/>
              <a:t>C : caoutchouc vulcanisé</a:t>
            </a:r>
          </a:p>
          <a:p>
            <a:pPr lvl="1">
              <a:buFont typeface="Wingdings" pitchFamily="2" charset="2"/>
              <a:buChar char="Ø"/>
            </a:pPr>
            <a:r>
              <a:rPr lang="fr-FR" sz="1500" b="1" dirty="0"/>
              <a:t>N : </a:t>
            </a:r>
            <a:r>
              <a:rPr lang="fr-FR" sz="1500" b="1" dirty="0" err="1"/>
              <a:t>polychloroprène</a:t>
            </a:r>
            <a:r>
              <a:rPr lang="fr-FR" sz="1500" b="1" dirty="0"/>
              <a:t>, Néoprène (PCP) ou équivalent</a:t>
            </a:r>
          </a:p>
          <a:p>
            <a:pPr lvl="1">
              <a:buFont typeface="Wingdings" pitchFamily="2" charset="2"/>
              <a:buChar char="Ø"/>
            </a:pPr>
            <a:r>
              <a:rPr lang="fr-FR" sz="1500" b="1" dirty="0"/>
              <a:t>P : plomb</a:t>
            </a:r>
          </a:p>
          <a:p>
            <a:pPr lvl="1">
              <a:buFont typeface="Wingdings" pitchFamily="2" charset="2"/>
              <a:buChar char="Ø"/>
            </a:pPr>
            <a:r>
              <a:rPr lang="fr-FR" sz="1500" b="1" dirty="0"/>
              <a:t>R : polyéthylène réticulé (PER)</a:t>
            </a:r>
          </a:p>
          <a:p>
            <a:pPr lvl="1">
              <a:buFont typeface="Wingdings" pitchFamily="2" charset="2"/>
              <a:buChar char="Ø"/>
            </a:pPr>
            <a:r>
              <a:rPr lang="fr-FR" sz="1500" b="1" dirty="0"/>
              <a:t>V : polychlorure de vinyle (PVC)</a:t>
            </a:r>
          </a:p>
          <a:p>
            <a:endParaRPr lang="fr-FR" sz="1600" b="1" dirty="0"/>
          </a:p>
          <a:p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6" name="Rectangle à coins arrondis 5"/>
          <p:cNvSpPr/>
          <p:nvPr/>
        </p:nvSpPr>
        <p:spPr>
          <a:xfrm>
            <a:off x="4644008" y="1916832"/>
            <a:ext cx="648072" cy="1224136"/>
          </a:xfrm>
          <a:prstGeom prst="roundRect">
            <a:avLst/>
          </a:prstGeom>
          <a:solidFill>
            <a:srgbClr val="FF0000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5" presetClass="entr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les conducteurs électriques : dénomination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836712"/>
            <a:ext cx="6635080" cy="1584176"/>
          </a:xfrm>
        </p:spPr>
        <p:txBody>
          <a:bodyPr>
            <a:normAutofit/>
          </a:bodyPr>
          <a:lstStyle/>
          <a:p>
            <a:r>
              <a:rPr lang="fr-FR" sz="1600" b="1" dirty="0"/>
              <a:t>La norme européenne CENELEC :</a:t>
            </a:r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i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endParaRPr lang="fr-FR" sz="1600" b="1" dirty="0"/>
          </a:p>
          <a:p>
            <a:pPr>
              <a:buNone/>
            </a:pP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25</a:t>
            </a:fld>
            <a:endParaRPr lang="fr-FR"/>
          </a:p>
        </p:txBody>
      </p:sp>
      <p:pic>
        <p:nvPicPr>
          <p:cNvPr id="6" name="Image 5"/>
          <p:cNvPicPr preferRelativeResize="0">
            <a:picLocks noChangeAspect="1"/>
          </p:cNvPicPr>
          <p:nvPr/>
        </p:nvPicPr>
        <p:blipFill>
          <a:blip r:embed="rId2" cstate="print"/>
          <a:srcRect l="2025" t="2100" r="2700" b="3150"/>
          <a:stretch>
            <a:fillRect/>
          </a:stretch>
        </p:blipFill>
        <p:spPr bwMode="auto">
          <a:xfrm>
            <a:off x="1619672" y="1124744"/>
            <a:ext cx="5040000" cy="3222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ZoneTexte 7"/>
          <p:cNvSpPr txBox="1"/>
          <p:nvPr/>
        </p:nvSpPr>
        <p:spPr>
          <a:xfrm>
            <a:off x="251520" y="4437112"/>
            <a:ext cx="41764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 * Pour les matériaux de l’isolant et de la gaine</a:t>
            </a:r>
          </a:p>
          <a:p>
            <a:pPr lvl="0"/>
            <a:r>
              <a:rPr lang="fr-FR" sz="1400" dirty="0"/>
              <a:t>B : caoutchouc d’éthylène propylène (EPR)</a:t>
            </a:r>
          </a:p>
          <a:p>
            <a:pPr lvl="0"/>
            <a:r>
              <a:rPr lang="fr-FR" sz="1400" dirty="0"/>
              <a:t>N : </a:t>
            </a:r>
            <a:r>
              <a:rPr lang="fr-FR" sz="1400" dirty="0" err="1"/>
              <a:t>polychloroprène</a:t>
            </a:r>
            <a:r>
              <a:rPr lang="fr-FR" sz="1400" dirty="0"/>
              <a:t>, Néoprène (PCP) ou équivalent</a:t>
            </a:r>
          </a:p>
          <a:p>
            <a:pPr lvl="0"/>
            <a:r>
              <a:rPr lang="fr-FR" sz="1400" dirty="0"/>
              <a:t>R : caoutchouc naturel ou équivalent</a:t>
            </a:r>
          </a:p>
          <a:p>
            <a:pPr lvl="0"/>
            <a:r>
              <a:rPr lang="fr-FR" sz="1400" dirty="0"/>
              <a:t>V : polychlorure de vinyle (PVC)</a:t>
            </a:r>
          </a:p>
          <a:p>
            <a:pPr lvl="0"/>
            <a:r>
              <a:rPr lang="fr-FR" sz="1400" dirty="0"/>
              <a:t>X : polyéthylène réticulé (PER)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427984" y="4437112"/>
            <a:ext cx="43204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** Le type d’âme conductrice est représenté par une lettre :</a:t>
            </a:r>
          </a:p>
          <a:p>
            <a:pPr lvl="0"/>
            <a:r>
              <a:rPr lang="fr-FR" sz="1400" dirty="0"/>
              <a:t>F : âme souple classe 5</a:t>
            </a:r>
          </a:p>
          <a:p>
            <a:pPr lvl="0"/>
            <a:r>
              <a:rPr lang="fr-FR" sz="1400" dirty="0"/>
              <a:t>H : âme extra souple classe 6</a:t>
            </a:r>
          </a:p>
          <a:p>
            <a:pPr lvl="0"/>
            <a:r>
              <a:rPr lang="fr-FR" sz="1400" dirty="0"/>
              <a:t>K : âme souple classique</a:t>
            </a:r>
          </a:p>
          <a:p>
            <a:pPr lvl="0"/>
            <a:r>
              <a:rPr lang="fr-FR" sz="1400" dirty="0"/>
              <a:t>R : âme rigide câblée ronde</a:t>
            </a:r>
          </a:p>
          <a:p>
            <a:pPr lvl="0"/>
            <a:r>
              <a:rPr lang="fr-FR" sz="1400" dirty="0"/>
              <a:t>S : âme rigide câblée </a:t>
            </a:r>
            <a:r>
              <a:rPr lang="fr-FR" sz="1400" dirty="0" err="1"/>
              <a:t>sectorale</a:t>
            </a:r>
            <a:endParaRPr lang="fr-FR" sz="1400" dirty="0"/>
          </a:p>
          <a:p>
            <a:pPr lvl="0"/>
            <a:r>
              <a:rPr lang="fr-FR" sz="1400" dirty="0"/>
              <a:t>U : âme rigide massive ronde</a:t>
            </a:r>
          </a:p>
          <a:p>
            <a:pPr lvl="0"/>
            <a:r>
              <a:rPr lang="fr-FR" sz="1400" dirty="0"/>
              <a:t>W : âme massive </a:t>
            </a:r>
            <a:r>
              <a:rPr lang="fr-FR" sz="1400" dirty="0" err="1"/>
              <a:t>sectorale</a:t>
            </a:r>
            <a:endParaRPr lang="fr-FR" sz="1400" dirty="0"/>
          </a:p>
          <a:p>
            <a:endParaRPr lang="fr-FR" sz="1400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3059832" y="2492896"/>
            <a:ext cx="864096" cy="648072"/>
          </a:xfrm>
          <a:prstGeom prst="round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4644008" y="2492896"/>
            <a:ext cx="504056" cy="576064"/>
          </a:xfrm>
          <a:prstGeom prst="roundRect">
            <a:avLst/>
          </a:prstGeom>
          <a:solidFill>
            <a:srgbClr val="00B050">
              <a:alpha val="4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5" presetClass="entr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8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3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8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3" dur="2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les conducteurs électriques : dénomination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7467600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600" b="1" u="sng" dirty="0"/>
              <a:t>Exemples :</a:t>
            </a:r>
          </a:p>
          <a:p>
            <a:r>
              <a:rPr lang="fr-FR" sz="1600" dirty="0"/>
              <a:t>Exemple n°1 :</a:t>
            </a:r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r>
              <a:rPr lang="fr-FR" sz="1600" dirty="0"/>
              <a:t>Exemple n°2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les conducteurs électriques : dénomination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67544" y="908720"/>
            <a:ext cx="7467600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600" b="1" u="sng" dirty="0"/>
              <a:t>Exemples :</a:t>
            </a:r>
          </a:p>
          <a:p>
            <a:r>
              <a:rPr lang="fr-FR" sz="1600" dirty="0"/>
              <a:t>Exemple n°3 :</a:t>
            </a:r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r>
              <a:rPr lang="fr-FR" sz="1600" dirty="0"/>
              <a:t>Exemple n°4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les symboles du plan architectural :</a:t>
            </a:r>
          </a:p>
        </p:txBody>
      </p:sp>
      <p:sp>
        <p:nvSpPr>
          <p:cNvPr id="18" name="Espace réservé du contenu 2"/>
          <p:cNvSpPr txBox="1">
            <a:spLocks/>
          </p:cNvSpPr>
          <p:nvPr/>
        </p:nvSpPr>
        <p:spPr>
          <a:xfrm>
            <a:off x="467544" y="908720"/>
            <a:ext cx="7467600" cy="1800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fr-FR" sz="16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</a:t>
            </a:r>
            <a:r>
              <a:rPr kumimoji="0" lang="fr-FR" sz="1600" b="1" i="0" u="sng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plan architectural </a:t>
            </a:r>
            <a:r>
              <a:rPr kumimoji="0" lang="fr-FR" sz="16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28</a:t>
            </a:fld>
            <a:endParaRPr lang="fr-FR"/>
          </a:p>
        </p:txBody>
      </p:sp>
      <p:pic>
        <p:nvPicPr>
          <p:cNvPr id="6146" name="Picture 2" descr="Plan architectural d'une installation électrique d'appartement | Plans  architecturaux, Installation électrique, Plan électriq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96752"/>
            <a:ext cx="7249649" cy="5437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 les symboles du plan architectural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395536" y="1340768"/>
          <a:ext cx="7467600" cy="52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9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Symbole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Définition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844824"/>
            <a:ext cx="360000" cy="362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276872"/>
            <a:ext cx="468000" cy="378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852936"/>
            <a:ext cx="468000" cy="424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3356992"/>
            <a:ext cx="468000" cy="44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5517232"/>
            <a:ext cx="468000" cy="455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1560" y="5013176"/>
            <a:ext cx="396000" cy="3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9552" y="4005064"/>
            <a:ext cx="468000" cy="4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1560" y="6165304"/>
            <a:ext cx="612000" cy="4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1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1560" y="4509120"/>
            <a:ext cx="396000" cy="37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Espace réservé du contenu 2"/>
          <p:cNvSpPr txBox="1">
            <a:spLocks/>
          </p:cNvSpPr>
          <p:nvPr/>
        </p:nvSpPr>
        <p:spPr>
          <a:xfrm>
            <a:off x="467544" y="908720"/>
            <a:ext cx="7467600" cy="1800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2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Les symboles d’éclairage :</a:t>
            </a:r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1331640" y="1772816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Interrupteur simple allumage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331640" y="2348880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Interrupteur double allumage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1331640" y="2852936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Interrupteur simple allumage avec voyant lumineux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331640" y="3429000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Interrupteur va-et-vient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331640" y="4005064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Interrupteur double va-et-vient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1331640" y="5013176"/>
            <a:ext cx="4392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Bouton poussoir avec voyant lumineux</a:t>
            </a:r>
          </a:p>
          <a:p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1331640" y="5589240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Eclairage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1331640" y="6165304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Eclairage mural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331640" y="4509120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Bouton poussoir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</a:t>
            </a:r>
            <a:r>
              <a:rPr lang="fr-F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electrique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: les symboles du plan architectural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323528" y="1340768"/>
          <a:ext cx="7467600" cy="5256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9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561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Symbole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Définition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378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Espace réservé du contenu 2"/>
          <p:cNvSpPr txBox="1">
            <a:spLocks/>
          </p:cNvSpPr>
          <p:nvPr/>
        </p:nvSpPr>
        <p:spPr>
          <a:xfrm>
            <a:off x="467544" y="908720"/>
            <a:ext cx="7467600" cy="1800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r>
              <a:rPr kumimoji="0" lang="fr-FR" sz="16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Les symboles des</a:t>
            </a:r>
            <a:r>
              <a:rPr kumimoji="0" lang="fr-FR" sz="1600" b="1" i="0" u="sng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prises</a:t>
            </a:r>
            <a:r>
              <a:rPr kumimoji="0" lang="fr-FR" sz="16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432000" cy="377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348880"/>
            <a:ext cx="432000" cy="329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e 18"/>
          <p:cNvGrpSpPr/>
          <p:nvPr/>
        </p:nvGrpSpPr>
        <p:grpSpPr>
          <a:xfrm>
            <a:off x="395536" y="2852936"/>
            <a:ext cx="864048" cy="387465"/>
            <a:chOff x="395536" y="2852936"/>
            <a:chExt cx="864048" cy="387465"/>
          </a:xfrm>
        </p:grpSpPr>
        <p:pic>
          <p:nvPicPr>
            <p:cNvPr id="819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5536" y="2852936"/>
              <a:ext cx="432000" cy="37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197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27584" y="2852938"/>
              <a:ext cx="432000" cy="387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3356992"/>
            <a:ext cx="351148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Espace réservé du numéro de diapositive 2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30</a:t>
            </a:fld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5536" y="4005064"/>
            <a:ext cx="360040" cy="349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5536" y="4509120"/>
            <a:ext cx="781619" cy="456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5536" y="5085184"/>
            <a:ext cx="288031" cy="305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23528" y="5589240"/>
            <a:ext cx="938212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67544" y="6093296"/>
            <a:ext cx="575121" cy="384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55576" y="4005064"/>
            <a:ext cx="504056" cy="345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55576" y="5085184"/>
            <a:ext cx="4762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ZoneTexte 18"/>
          <p:cNvSpPr txBox="1"/>
          <p:nvPr/>
        </p:nvSpPr>
        <p:spPr>
          <a:xfrm>
            <a:off x="1331640" y="184482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Prise spécialisée 32A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1331640" y="350100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Prise rasoir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331640" y="400506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Prise TV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1331640" y="458112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Prise réseau Ethernet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331640" y="508518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Prise téléphone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1331640" y="5661248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Convecteur électrique (radiateur)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331640" y="616530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Chauffe eau (cumulus)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1331640" y="242088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Prise spécialisée 20A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1331640" y="292494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Prise 16A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</a:t>
            </a:r>
            <a:r>
              <a:rPr lang="fr-F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electrique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: les symboles du plan architectural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323528" y="1340768"/>
          <a:ext cx="7467600" cy="9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9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Symbole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Définition</a:t>
                      </a:r>
                      <a:r>
                        <a:rPr lang="fr-FR" sz="1200" baseline="0" dirty="0"/>
                        <a:t> :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Espace réservé du contenu 2"/>
          <p:cNvSpPr txBox="1">
            <a:spLocks/>
          </p:cNvSpPr>
          <p:nvPr/>
        </p:nvSpPr>
        <p:spPr>
          <a:xfrm>
            <a:off x="467544" y="908720"/>
            <a:ext cx="7344816" cy="21602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 symbole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du tableau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fr-FR" sz="1600" b="1" dirty="0"/>
              <a:t>électrique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endParaRPr lang="fr-FR" sz="14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endParaRPr lang="fr-FR" sz="14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endParaRPr lang="fr-FR" sz="14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Les symboles électriques des appareils électrodomestiques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endParaRPr lang="fr-FR" sz="14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3"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31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576262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323528" y="3140968"/>
          <a:ext cx="7416824" cy="24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917">
                <a:tc>
                  <a:txBody>
                    <a:bodyPr/>
                    <a:lstStyle/>
                    <a:p>
                      <a:r>
                        <a:rPr lang="fr-FR" sz="1400" b="0" dirty="0"/>
                        <a:t>Symbole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Définition :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429000"/>
            <a:ext cx="403671" cy="561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581128"/>
            <a:ext cx="504056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4005064"/>
            <a:ext cx="375096" cy="564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552" y="5085184"/>
            <a:ext cx="429886" cy="502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ZoneTexte 11"/>
          <p:cNvSpPr txBox="1"/>
          <p:nvPr/>
        </p:nvSpPr>
        <p:spPr>
          <a:xfrm>
            <a:off x="1331640" y="1844824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Tableau électrique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331640" y="3573016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Réfrigérateur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331640" y="414908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Congélateur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331640" y="4653136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Plaque de cuisson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331640" y="522920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Hotte aspirante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</a:t>
            </a:r>
            <a:r>
              <a:rPr lang="fr-F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electrique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: les symboles du plan architectural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</p:nvPr>
        </p:nvGraphicFramePr>
        <p:xfrm>
          <a:off x="323528" y="1340768"/>
          <a:ext cx="7467600" cy="36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9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Symbole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Définition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Espace réservé du contenu 2"/>
          <p:cNvSpPr txBox="1">
            <a:spLocks/>
          </p:cNvSpPr>
          <p:nvPr/>
        </p:nvSpPr>
        <p:spPr>
          <a:xfrm>
            <a:off x="467544" y="908720"/>
            <a:ext cx="7467600" cy="360040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L="342900" lvl="0" indent="-342900">
              <a:spcBef>
                <a:spcPts val="600"/>
              </a:spcBef>
              <a:buClr>
                <a:schemeClr val="accent1"/>
              </a:buClr>
              <a:buSzPct val="70000"/>
              <a:buFont typeface="+mj-lt"/>
              <a:buAutoNum type="arabicPeriod" startAt="4"/>
              <a:defRPr/>
            </a:pPr>
            <a:r>
              <a:rPr lang="fr-FR" sz="1600" b="1" dirty="0"/>
              <a:t>Les symboles électriques des appareils électrodomestiques (suite) :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32</a:t>
            </a:fld>
            <a:endParaRPr lang="fr-FR"/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432048" cy="46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276872"/>
            <a:ext cx="382501" cy="47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780928"/>
            <a:ext cx="504056" cy="565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560" y="3356992"/>
            <a:ext cx="432048" cy="50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552" y="3933056"/>
            <a:ext cx="505718" cy="48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1560" y="4437112"/>
            <a:ext cx="415623" cy="44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ZoneTexte 11"/>
          <p:cNvSpPr txBox="1"/>
          <p:nvPr/>
        </p:nvSpPr>
        <p:spPr>
          <a:xfrm>
            <a:off x="1331640" y="1844824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Lave-linge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331640" y="2420888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Sèche-linge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331640" y="2924944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Lave vaisselle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331640" y="3501008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Micro-onde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331640" y="4005064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VMC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331640" y="4581128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Chauffe 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2" grpId="0"/>
      <p:bldP spid="13" grpId="0"/>
      <p:bldP spid="14" grpId="0"/>
      <p:bldP spid="15" grpId="0"/>
      <p:bldP spid="16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9006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L’installation électrique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4797152"/>
            <a:ext cx="7467600" cy="1800200"/>
          </a:xfrm>
        </p:spPr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FAAA72-068E-4721-8C5B-00163EEAAD9E}" type="slidenum">
              <a:rPr lang="fr-FR" smtClean="0"/>
              <a:pPr/>
              <a:t>33</a:t>
            </a:fld>
            <a:endParaRPr lang="fr-F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846</TotalTime>
  <Words>1771</Words>
  <Application>Microsoft Office PowerPoint</Application>
  <PresentationFormat>Affichage à l'écran (4:3)</PresentationFormat>
  <Paragraphs>441</Paragraphs>
  <Slides>33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9" baseType="lpstr">
      <vt:lpstr>Calibri</vt:lpstr>
      <vt:lpstr>Century Schoolbook</vt:lpstr>
      <vt:lpstr>Constantia</vt:lpstr>
      <vt:lpstr>Wingdings</vt:lpstr>
      <vt:lpstr>Wingdings 2</vt:lpstr>
      <vt:lpstr>Oriel</vt:lpstr>
      <vt:lpstr>L’installation  électrique : </vt:lpstr>
      <vt:lpstr>1. L’installation électrique : réseau public réseau privé </vt:lpstr>
      <vt:lpstr>2. L’installation électrique : l’espace technique logement (ETEL)</vt:lpstr>
      <vt:lpstr>3. L’installation électrique : le tableau électrique :</vt:lpstr>
      <vt:lpstr>L’installation électrique : le tableau électrique : la taille :</vt:lpstr>
      <vt:lpstr>L’installation électrique : le tableau électrique : la taille : 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les différents modules :</vt:lpstr>
      <vt:lpstr>L’installation électrique : tableau électrique : autres :</vt:lpstr>
      <vt:lpstr>4. L’installation électrique : la mise à la terre :</vt:lpstr>
      <vt:lpstr>L’installation électrique : la liaison équipotentielle :</vt:lpstr>
      <vt:lpstr>L’installation électrique : les conducteurs électriques : présentation :</vt:lpstr>
      <vt:lpstr>L’installation électrique : les conducteurs électriques : dénomination :</vt:lpstr>
      <vt:lpstr>L’installation électrique : les conducteurs électriques : dénomination :</vt:lpstr>
      <vt:lpstr>L’installation électrique : les conducteurs électriques : dénomination :</vt:lpstr>
      <vt:lpstr>L’installation électrique : les conducteurs électriques : dénomination :</vt:lpstr>
      <vt:lpstr>L’installation électrique : les symboles du plan architectural :</vt:lpstr>
      <vt:lpstr>L’installation électrique : les symboles du plan architectural :</vt:lpstr>
      <vt:lpstr>L’installation electrique : les symboles du plan architectural :</vt:lpstr>
      <vt:lpstr>L’installation electrique : les symboles du plan architectural :</vt:lpstr>
      <vt:lpstr>L’installation electrique : les symboles du plan architectural :</vt:lpstr>
      <vt:lpstr>L’installation électrique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L’installation  électrique :</dc:title>
  <dc:creator>Windows User</dc:creator>
  <cp:lastModifiedBy>yaya iss</cp:lastModifiedBy>
  <cp:revision>89</cp:revision>
  <dcterms:created xsi:type="dcterms:W3CDTF">2020-09-15T11:01:58Z</dcterms:created>
  <dcterms:modified xsi:type="dcterms:W3CDTF">2026-03-28T09:46:29Z</dcterms:modified>
</cp:coreProperties>
</file>