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1697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SYSTÈMES EMBARQUÉS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0599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 CYBERSÉCURITÉ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</a:rPr>
              <a:t>Projet : Gestionnaire de mots de passe embarqué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4F5"/>
                </a:solidFill>
              </a:rPr>
              <a:t>Bac Pro CIEL - 1ère année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E8F4F5"/>
                </a:solidFill>
              </a:rPr>
              <a:t>Année 2025-2026</a:t>
            </a:r>
          </a:p>
          <a:p>
            <a:pPr marL="0" indent="0" algn="ctr">
              <a:buNone/>
            </a:pPr>
            <a:r>
              <a:rPr lang="en-US" sz="1600">
                <a:solidFill>
                  <a:srgbClr val="E8F4F5"/>
                </a:solidFill>
              </a:rPr>
              <a:t>Yahia </a:t>
            </a:r>
            <a:r>
              <a:rPr lang="en-US" sz="1600" dirty="0">
                <a:solidFill>
                  <a:srgbClr val="E8F4F5"/>
                </a:solidFill>
              </a:rPr>
              <a:t>ISDDIKEN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SOMMAIRE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1. Systèmes embarqués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2. Microcontrôleur Arduino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3. Les mémoires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4. Données sensibles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5. Cybersécurité (CIA)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6. Le chiffrement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3716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7. Chiffrement symétrique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8. Le XOR en détail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9. Exemple pratique XOR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10. Limites de sécurité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11. Clavier T9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12. Lien avec le métier CIEL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OBJECTIFS DU COURS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70431"/>
            <a:ext cx="8229600" cy="3715077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2704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Définir un système embarqué et donner des exemples</a:t>
            </a:r>
            <a:endParaRPr lang="en-US" sz="15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Expliquer le rôle du microcontrôleur</a:t>
            </a:r>
            <a:endParaRPr lang="en-US" sz="15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Distinguer RAM, Flash et EEPROM</a:t>
            </a:r>
            <a:endParaRPr lang="en-US" sz="15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Comprendre ce qu'est une donnée sensible</a:t>
            </a:r>
            <a:endParaRPr lang="en-US" sz="15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Expliquer les principes de cybersécurité (CIA)</a:t>
            </a:r>
            <a:endParaRPr lang="en-US" sz="15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Comprendre le chiffrement symétrique et XOR</a:t>
            </a:r>
            <a:endParaRPr lang="en-US" sz="15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Chiffrer et déchiffrer un message</a:t>
            </a:r>
            <a:endParaRPr lang="en-US" sz="15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Identifier les failles de sécurité</a:t>
            </a:r>
            <a:endParaRPr lang="en-US" sz="15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Utiliser un clavier T9</a:t>
            </a:r>
            <a:endParaRPr lang="en-US" sz="15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Faire le lien avec le métier CIEL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697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QU'EST-CE QU'UN SYSTÈME EMBARQUÉ 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Un système informatique autonome, intégré dans un objet, qui réalise une tâche précise et spécifique.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3886200" cy="822960"/>
          </a:xfrm>
          <a:prstGeom prst="rect">
            <a:avLst/>
          </a:prstGeom>
          <a:solidFill>
            <a:srgbClr val="E8F4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Programme unique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3273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Dédié à une seule tâche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2834640"/>
            <a:ext cx="3886200" cy="822960"/>
          </a:xfrm>
          <a:prstGeom prst="rect">
            <a:avLst/>
          </a:prstGeom>
          <a:solidFill>
            <a:srgbClr val="E8F4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Ressources limitées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3273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Peu de mémoire et CPU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3886200" cy="822960"/>
          </a:xfrm>
          <a:prstGeom prst="rect">
            <a:avLst/>
          </a:prstGeom>
          <a:solidFill>
            <a:srgbClr val="E8F4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Temps réel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4325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Réaction immédiate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0600" y="3886200"/>
            <a:ext cx="3886200" cy="822960"/>
          </a:xfrm>
          <a:prstGeom prst="rect">
            <a:avLst/>
          </a:prstGeom>
          <a:solidFill>
            <a:srgbClr val="E8F4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Faible conso.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4325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Économie d'énergie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SYSTÈMES EMBARQUÉS DANS LA VIE QUOTIDIENNE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813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MAISON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Lave-linge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Four micro-ondes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Thermostat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Box Internet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Réfrigérateur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378131"/>
            <a:ext cx="265176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4813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TRANSPORTS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196596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Voiture (50-100 SE)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Carte bancaire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Badge transport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GPS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Airbags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371600"/>
            <a:ext cx="265176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4813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COMMUNICATION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196596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Smartphone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Tablette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Montre connectée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Oreillettes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28090"/>
                </a:solidFill>
              </a:rPr>
              <a:t>Vous utilisez 20 à 50 systèmes embarqués par jour !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 MICROCONTRÔLEUR ARDUINO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2004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solidFill>
            <a:srgbClr val="E8F4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DÉFINITION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Un circuit intégré qui contient TOUT en un seul chip : processeur, mémoire, et ports d'entrée/sortie.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1783080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ARDUINO UNO (ATmega328P)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• CPU : 16 MHz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• RAM : 2 Ko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• Flash : 32 Ko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• EEPROM : 1 Ko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• 14 pins numériques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• Consommation : ~50 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</a:rPr>
              <a:t>MICROCONTRÔLEUR vs MICROPROCESSEUR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794760"/>
            <a:ext cx="3931920" cy="1097280"/>
          </a:xfrm>
          <a:prstGeom prst="rect">
            <a:avLst/>
          </a:prstGeom>
          <a:solidFill>
            <a:srgbClr val="E8F4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9319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MICROCONTRÔLEUR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• Tout en un (1 puce)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• 2-5€, RAM 2 Ko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• Usage : Systèmes embarqués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48349" y="3788229"/>
            <a:ext cx="3931920" cy="1097280"/>
          </a:xfrm>
          <a:prstGeom prst="rect">
            <a:avLst/>
          </a:prstGeom>
          <a:solidFill>
            <a:srgbClr val="E8F4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9319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MICROPROCESSEUR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• Séparé (plusieurs puces)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• 50-500€, RAM 8-32 Go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• Usage : PC, smartphones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LES 3 TYPES DE MÉMOIRE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RAM</a:t>
            </a:r>
            <a:endParaRPr lang="en-US" sz="24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(Volatile)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Taille : 2 Ko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Vitesse : RAPIDE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Durée : TEMPORAIRE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Variables, calculs, données temporaires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1E293B"/>
                </a:solidFill>
              </a:rPr>
              <a:t>Analogie :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b="1" i="1" dirty="0">
                <a:solidFill>
                  <a:srgbClr val="1E293B"/>
                </a:solidFill>
              </a:rPr>
              <a:t>Bureau de travail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371600"/>
            <a:ext cx="265176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FLASH</a:t>
            </a:r>
            <a:endParaRPr lang="en-US" sz="24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(Non volatile)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4720" y="214884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Taille : 32 Ko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Vitesse : MOYENNE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Durée : PERMANENTE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Programme Arduino (votre code)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1E293B"/>
                </a:solidFill>
              </a:rPr>
              <a:t>Analogie :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b="1" i="1" dirty="0">
                <a:solidFill>
                  <a:srgbClr val="1E293B"/>
                </a:solidFill>
              </a:rPr>
              <a:t>Bibliothèque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371600"/>
            <a:ext cx="265176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EEPROM</a:t>
            </a:r>
            <a:endParaRPr lang="en-US" sz="24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(Non volatile)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55080" y="214884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Taille : 1 Ko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Vitesse : LENTE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Durée : PERMANENTE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Données à sauvegarder (mots de passe)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1E293B"/>
                </a:solidFill>
              </a:rPr>
              <a:t>Analogie :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b="1" i="1" dirty="0">
                <a:solidFill>
                  <a:srgbClr val="1E293B"/>
                </a:solidFill>
              </a:rPr>
              <a:t>Coffre-fort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LES DONNÉES SENSIBLES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Une donnée sensible est une information qui, si elle tombe entre de mauvaises mains, peut causer des problèmes graves.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3886200" cy="1005840"/>
          </a:xfrm>
          <a:prstGeom prst="rect">
            <a:avLst/>
          </a:prstGeom>
          <a:solidFill>
            <a:srgbClr val="E8F4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578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AUTHENTIFICATION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907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• Mots de passe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• Code PIN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• Empreintes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2468880"/>
            <a:ext cx="3886200" cy="1005840"/>
          </a:xfrm>
          <a:prstGeom prst="rect">
            <a:avLst/>
          </a:prstGeom>
          <a:solidFill>
            <a:srgbClr val="E8F4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578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FINANCIÈRES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907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• Carte bancaire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• IBAN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• Historique achats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886200" cy="1005840"/>
          </a:xfrm>
          <a:prstGeom prst="rect">
            <a:avLst/>
          </a:prstGeom>
          <a:solidFill>
            <a:srgbClr val="E8F4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767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PERSONNELLES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40965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• N° Sécu sociale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• Adresse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• Date naissance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3657600"/>
            <a:ext cx="3886200" cy="1005840"/>
          </a:xfrm>
          <a:prstGeom prst="rect">
            <a:avLst/>
          </a:prstGeom>
          <a:solidFill>
            <a:srgbClr val="E8F4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767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MÉDICALES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40965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• Dossier médical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• Analyses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• Ordonnances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TRIADE CIA / DIC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2C39A"/>
                </a:solidFill>
              </a:rPr>
              <a:t>Les 3 piliers de la cybersécurité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5176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265176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83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CONFIDENTIALITÉ</a:t>
            </a:r>
            <a:endParaRPr lang="en-US" sz="18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(Confidentiality)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</a:rPr>
              <a:t>Seules les personnes autorisées peuvent accéder aux données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34747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293B"/>
                </a:solidFill>
              </a:rPr>
              <a:t>Méthodes :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Chiffrement, contrôle d'accès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645920"/>
            <a:ext cx="265176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645920"/>
            <a:ext cx="265176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783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INTÉGRITÉ</a:t>
            </a:r>
            <a:endParaRPr lang="en-US" sz="18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(Integrity)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24231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</a:rPr>
              <a:t>Les données ne sont pas modifiées ou altérées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34747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293B"/>
                </a:solidFill>
              </a:rPr>
              <a:t>Méthodes :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Checksum, signature numérique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265176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645920"/>
            <a:ext cx="265176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783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DISPONIBILITÉ</a:t>
            </a:r>
            <a:endParaRPr lang="en-US" sz="18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(Availability)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55080" y="24231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</a:rPr>
              <a:t>Les données sont accessibles quand on en a besoin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34747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293B"/>
                </a:solidFill>
              </a:rPr>
              <a:t>Méthodes :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Sauvegardes, redondance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 CHIFFREMENT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E8F4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</a:rPr>
              <a:t>Technique qui rend un message ILLISIBLE pour toute personne qui ne possède pas la clé de déchiffrement.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</a:rPr>
              <a:t>PRINCIPE DU CHIFFREMENT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1828800" cy="640080"/>
          </a:xfrm>
          <a:prstGeom prst="rect">
            <a:avLst/>
          </a:prstGeom>
          <a:solidFill>
            <a:srgbClr val="E8F4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MESSAGE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EN CLAIR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1E293B"/>
                </a:solidFill>
              </a:rPr>
              <a:t>"BONJOUR"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3246120"/>
            <a:ext cx="731520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3611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CLÉ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3017520"/>
            <a:ext cx="2194560" cy="640080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ALGORITHME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 CHIFFREMENT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3246120"/>
            <a:ext cx="731520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0" y="3017520"/>
            <a:ext cx="1828800" cy="640080"/>
          </a:xfrm>
          <a:prstGeom prst="rect">
            <a:avLst/>
          </a:prstGeom>
          <a:solidFill>
            <a:srgbClr val="E8F4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MESSAGE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CHIFFRÉ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1E293B"/>
                </a:solidFill>
              </a:rPr>
              <a:t>"#@%!^&amp;"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71600" y="4114800"/>
            <a:ext cx="640080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42976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🔐 Seules les personnes avec la CLÉ peuvent déchiffrer le message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CHIFFREMENT SYMÉTRIQUE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E293B"/>
                </a:solidFill>
              </a:rPr>
              <a:t>La MÊME CLÉ pour chiffrer ET déchiffrer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0116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</a:rPr>
              <a:t>ALICE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1E293B"/>
                </a:solidFill>
              </a:rPr>
              <a:t>(Émetteur)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CLÉ : "ABC"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20116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0116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</a:rPr>
              <a:t>BOB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1E293B"/>
                </a:solidFill>
              </a:rPr>
              <a:t>(Destinataire)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CLÉ : "ABC"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2377440"/>
            <a:ext cx="2743200" cy="36576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Message chiffré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47472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6118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0A896"/>
                </a:solidFill>
              </a:rPr>
              <a:t>AVANTAGES 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Rapide à calculer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Peu de ressources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Parfait pour Arduino !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347472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36118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CC0000"/>
                </a:solidFill>
              </a:rPr>
              <a:t>INCONVÉNIENT 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Il faut partager la clé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en secret entre Alice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et Bob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L'OPÉRATION XOR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E293B"/>
                </a:solidFill>
              </a:rPr>
              <a:t>XOR = eXclusive OR (OU exclusif)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TABLE DE VÉRITÉ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3657600" cy="2133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 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 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XOR 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Identiques → 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Différents →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Différents →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Identiques → 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754880" y="1691640"/>
            <a:ext cx="3931920" cy="1828800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937760" y="18745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RÈGLE SIMPLE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Si A et B sont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DIFFÉRENTS → 1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Si A et B sont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IDENTIQUES → 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4328160"/>
            <a:ext cx="7680960" cy="426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931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Message XOR Clé = Chiffré     |     Chiffré XOR Clé = Message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EXEMPLE : CHIFFRER AVEC XOR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2004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E293B"/>
                </a:solidFill>
              </a:rPr>
              <a:t>Chiffrer "BONJOUR" avec la clé 42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645920"/>
          <a:ext cx="6400800" cy="260604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Lettre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ASCII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XOR 42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Chiffré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66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66 XOR 42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79 XOR 42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 XOR 42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74 XOR 42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96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79 XOR 42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85 XOR 42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82 XOR 42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45262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Le message chiffré est ILLISIBLE sans connaître la clé (42) !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LIMITES DE SÉCURITÉ DU XOR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200400" cy="7315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E293B"/>
                </a:solidFill>
              </a:rPr>
              <a:t>XOR n'est PAS sécurisé ! (usage pédagogique uniquement)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86200" cy="1097280"/>
          </a:xfrm>
          <a:prstGeom prst="rect">
            <a:avLst/>
          </a:prstGeom>
          <a:solidFill>
            <a:srgbClr val="FFE6E6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</a:rPr>
              <a:t>1. CLÉ TROP COURTE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2402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256 possibilités (0-255) → Cassable en &lt; 1 seconde par force brute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737360"/>
            <a:ext cx="3886200" cy="1097280"/>
          </a:xfrm>
          <a:prstGeom prst="rect">
            <a:avLst/>
          </a:prstGeom>
          <a:solidFill>
            <a:srgbClr val="FFE6E6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</a:rPr>
              <a:t>2. PATTERNS VISIBLES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22402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Lettres identiques → même code chiffré (ex: les 2 'O' de BONJOUR)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3886200" cy="1097280"/>
          </a:xfrm>
          <a:prstGeom prst="rect">
            <a:avLst/>
          </a:prstGeom>
          <a:solidFill>
            <a:srgbClr val="FFE6E6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</a:rPr>
              <a:t>3. PAS D'AUTHENTIFICATION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5204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Aucune preuve que le message n'a pas été modifié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3017520"/>
            <a:ext cx="3886200" cy="1097280"/>
          </a:xfrm>
          <a:prstGeom prst="rect">
            <a:avLst/>
          </a:prstGeom>
          <a:solidFill>
            <a:srgbClr val="FFE6E6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</a:rPr>
              <a:t>4. CLÉ EN CLAIR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5204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La clé (42) est écrite directement dans le code Arduino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💡 Solution : Utiliser AES-256, ChaCha20, ou d'autres algorithmes modernes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 CLAVIER T9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6459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E293B"/>
                </a:solidFill>
              </a:rPr>
              <a:t>Text on 9 keys - Écriture avec un clavier numérique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DISPOSITION DU CLAVIER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8686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3055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7360" y="2057400"/>
            <a:ext cx="8686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213055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ABC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2057400"/>
            <a:ext cx="8686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13055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DEF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8686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1635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GHI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37360" y="2743200"/>
            <a:ext cx="8686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281635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JKL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0" y="2743200"/>
            <a:ext cx="8686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81635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6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MNO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429000"/>
            <a:ext cx="8686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50215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7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PQRS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37360" y="3429000"/>
            <a:ext cx="8686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350215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TUV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0" y="3429000"/>
            <a:ext cx="8686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350215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9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WXYZ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114800"/>
            <a:ext cx="8686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18795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*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Eff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737360" y="4114800"/>
            <a:ext cx="8686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37360" y="418795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Esp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0" y="4114800"/>
            <a:ext cx="8686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418795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#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Val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0" y="1645920"/>
            <a:ext cx="45720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297680" y="18288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PRINCIPE D'UTILISATION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297680" y="2286000"/>
            <a:ext cx="4206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1. Appuyer PLUSIEURS FOIS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   sur une touche pour cycler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   entre les lettres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2. Attendre 1 seconde OU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   appuyer sur # pour valider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b="1" i="1" dirty="0">
                <a:solidFill>
                  <a:srgbClr val="00A896"/>
                </a:solidFill>
              </a:rPr>
              <a:t>Exemple : "BON"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B = 2-2 [pause]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O = 6-6-6 [pause]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N = 6-6 [pause]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LIEN AVEC LE MÉTIER CIEL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2C39A"/>
                </a:solidFill>
              </a:rPr>
              <a:t>Compétences développées dans ce projet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265176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TECHNIQUES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Électronique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Programmation C/C++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Cybersécurité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Bus I2C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64592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645920"/>
            <a:ext cx="265176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PROFESSIONNELLES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237744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Méthodologie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Documentation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Tests &amp; validation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Travail d'équipe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645920"/>
            <a:ext cx="265176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MÉTIERS VISÉS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37744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Systèmes embarqués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Développeur IoT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Technicien cyber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• Intégrateur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MERCI !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C39A"/>
                </a:solidFill>
              </a:rPr>
              <a:t>Vous êtes maintenant prêts à développer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02C39A"/>
                </a:solidFill>
              </a:rPr>
              <a:t>votre gestionnaire de mots de passe embarqué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0" y="3474720"/>
            <a:ext cx="36576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4F5"/>
                </a:solidFill>
              </a:rPr>
              <a:t>Bac Pro CIEL - 1ère année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8F4F5"/>
                </a:solidFill>
              </a:rPr>
              <a:t>Année 2025-2026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1093</Words>
  <Application>Microsoft Office PowerPoint</Application>
  <PresentationFormat>Affichage à l'écran (16:9)</PresentationFormat>
  <Paragraphs>331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Arial Black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Systèmes Embarqués et Cybersécurité</dc:title>
  <dc:subject>PptxGenJS Presentation</dc:subject>
  <dc:creator>Bac Pro CIEL</dc:creator>
  <cp:lastModifiedBy>yaya iss</cp:lastModifiedBy>
  <cp:revision>5</cp:revision>
  <dcterms:created xsi:type="dcterms:W3CDTF">2026-02-15T19:45:12Z</dcterms:created>
  <dcterms:modified xsi:type="dcterms:W3CDTF">2026-03-10T20:51:26Z</dcterms:modified>
</cp:coreProperties>
</file>