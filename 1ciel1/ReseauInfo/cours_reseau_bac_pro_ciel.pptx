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64592" cy="507034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274320"/>
            <a:ext cx="1920240" cy="2011680"/>
          </a:xfrm>
          <a:prstGeom prst="rect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0" y="457200"/>
            <a:ext cx="1645920" cy="4572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0" y="731520"/>
            <a:ext cx="914400" cy="457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0" y="1005840"/>
            <a:ext cx="1371600" cy="4572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0" y="1280160"/>
            <a:ext cx="731520" cy="457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0" y="1554480"/>
            <a:ext cx="1097280" cy="4572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1828800"/>
            <a:ext cx="822960" cy="457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4572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 PRO CIEL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0040" y="960120"/>
            <a:ext cx="6400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 D'INFRASTRUCTURE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</a:t>
            </a:r>
            <a:endParaRPr lang="en-US" sz="4000" dirty="0"/>
          </a:p>
        </p:txBody>
      </p:sp>
      <p:sp>
        <p:nvSpPr>
          <p:cNvPr id="13" name="Shape 11"/>
          <p:cNvSpPr/>
          <p:nvPr/>
        </p:nvSpPr>
        <p:spPr>
          <a:xfrm>
            <a:off x="320040" y="2880360"/>
            <a:ext cx="5029200" cy="50292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88036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IPv4 · IPv6 · CIDR · Switch · Routeur · DNS · DHCP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4023360"/>
            <a:ext cx="2194560" cy="685800"/>
          </a:xfrm>
          <a:prstGeom prst="rect">
            <a:avLst/>
          </a:prstGeom>
          <a:solidFill>
            <a:srgbClr val="12263A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404164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0040" y="431596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 Pro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697480" y="4023360"/>
            <a:ext cx="2194560" cy="685800"/>
          </a:xfrm>
          <a:prstGeom prst="rect">
            <a:avLst/>
          </a:prstGeom>
          <a:solidFill>
            <a:srgbClr val="12263A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97480" y="404164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MATIÈRE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697480" y="431596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Réseaux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74920" y="4023360"/>
            <a:ext cx="2194560" cy="685800"/>
          </a:xfrm>
          <a:prstGeom prst="rect">
            <a:avLst/>
          </a:prstGeom>
          <a:solidFill>
            <a:srgbClr val="12263A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74920" y="404164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DURÉE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74920" y="431596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8–12h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Sommaire du cours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C1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594360" cy="11887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22960"/>
            <a:ext cx="594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32688" y="96012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L'adressage IPv4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32688" y="1389888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Structure, masque, adresses réseau &amp; broadcast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82296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C1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822960"/>
            <a:ext cx="594360" cy="11887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822960"/>
            <a:ext cx="594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367528" y="96012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CIDR et Subnetting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67528" y="1389888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Notation /n, calcul de sous-réseaux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19456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C1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194560"/>
            <a:ext cx="594360" cy="11887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194560"/>
            <a:ext cx="594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32688" y="233172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L'adressage IPv6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32688" y="2761488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128 bits, types, abréviation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219456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C1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2194560"/>
            <a:ext cx="594360" cy="11887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2194560"/>
            <a:ext cx="594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367528" y="233172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et Routeur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67528" y="2761488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Rôles, tables CAM &amp; routage, VLANs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356616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C1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566160"/>
            <a:ext cx="594360" cy="11887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566160"/>
            <a:ext cx="594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932688" y="370332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et DHCP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32688" y="4133088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Résolution de noms, attribution automatique d'IP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09160" y="356616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C1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3566160"/>
            <a:ext cx="594360" cy="11887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9160" y="3566160"/>
            <a:ext cx="594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367528" y="370332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réseau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367528" y="4133088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Synthèse, ports, glossaire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64592" cy="507034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2743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420624" y="694944"/>
            <a:ext cx="2743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2E86C1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0" dirty="0"/>
          </a:p>
        </p:txBody>
      </p:sp>
      <p:sp>
        <p:nvSpPr>
          <p:cNvPr id="6" name="Text 4"/>
          <p:cNvSpPr/>
          <p:nvPr/>
        </p:nvSpPr>
        <p:spPr>
          <a:xfrm>
            <a:off x="2560320" y="1645920"/>
            <a:ext cx="6309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L'ADRESSAGE IPv4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2560320" y="2788920"/>
            <a:ext cx="6309360" cy="4572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0" y="278892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· Masque · Réseau · Broadcast · Classes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Structure d'une adresse IPv4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7772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adresse IPv4 = 32 bits = 4 octets en notation décimale pointée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8595360" cy="1188720"/>
          </a:xfrm>
          <a:prstGeom prst="rect">
            <a:avLst/>
          </a:prstGeom>
          <a:solidFill>
            <a:srgbClr val="0D1B2A"/>
          </a:solidFill>
          <a:ln w="12700">
            <a:solidFill>
              <a:srgbClr val="1ABC9C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18872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AB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192  .  168  .  1  .  10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274320" y="182880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A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Octet 1          </a:t>
            </a:r>
            <a:pPr algn="ctr" indent="0" marL="0">
              <a:buNone/>
            </a:pPr>
            <a:r>
              <a:rPr lang="en-US" sz="1300" dirty="0">
                <a:solidFill>
                  <a:srgbClr val="52B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Octet 2          </a:t>
            </a:r>
            <a:pPr algn="ctr" indent="0" marL="0">
              <a:buNone/>
            </a:pPr>
            <a:r>
              <a:rPr lang="en-US" sz="13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Octet 3          </a:t>
            </a:r>
            <a:pPr algn="ctr" indent="0" marL="0">
              <a:buNone/>
            </a:pPr>
            <a:r>
              <a:rPr lang="en-US" sz="13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Octet 4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2468880"/>
            <a:ext cx="20116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980B9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468880"/>
            <a:ext cx="2011680" cy="41148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4688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Octet 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4320" y="29260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74320" y="35204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11000000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4320" y="39776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128+64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423160" y="2468880"/>
            <a:ext cx="20116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423160" y="2468880"/>
            <a:ext cx="2011680" cy="4114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23160" y="24688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Octet 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423160" y="29260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168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2423160" y="35204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10101000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423160" y="39776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128+32+8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0" y="2468880"/>
            <a:ext cx="20116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0" y="2468880"/>
            <a:ext cx="2011680" cy="4114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0" y="24688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Octet 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0" y="29260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4572000" y="35204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00000001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0" y="39776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720840" y="2468880"/>
            <a:ext cx="20116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720840" y="2468880"/>
            <a:ext cx="2011680" cy="4114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20840" y="24688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Octet 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720840" y="29260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200" dirty="0"/>
          </a:p>
        </p:txBody>
      </p:sp>
      <p:sp>
        <p:nvSpPr>
          <p:cNvPr id="31" name="Text 29"/>
          <p:cNvSpPr/>
          <p:nvPr/>
        </p:nvSpPr>
        <p:spPr>
          <a:xfrm>
            <a:off x="6720840" y="35204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00001010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720840" y="39776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8+2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Le masque de sous-réseau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7772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masque délimite la partie RÉSEAU (bits à 1) et la partie HÔTE (bits à 0)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8595360" cy="1463040"/>
          </a:xfrm>
          <a:prstGeom prst="rect">
            <a:avLst/>
          </a:prstGeom>
          <a:solidFill>
            <a:srgbClr val="0D1B2A"/>
          </a:solidFill>
          <a:ln w="12700">
            <a:solidFill>
              <a:srgbClr val="2E86C1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80160"/>
            <a:ext cx="5989320" cy="64008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0" y="1280160"/>
            <a:ext cx="2514600" cy="640080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280160"/>
            <a:ext cx="5989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11111111.11111111.11111111  (24 bits réseau)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09360" y="128016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.00000000  (8 bits hôtes)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" y="1920240"/>
            <a:ext cx="5989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5C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PARTIE RÉSEAU : commune à tous les hôtes du réseau →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09360" y="192024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9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PARTIE HÔTE →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788920"/>
          <a:ext cx="59436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103120"/>
                <a:gridCol w="1097280"/>
                <a:gridCol w="20116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CIDR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Masque décimal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Bits réseau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Nb hôtes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255.0.0.0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16 777 214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255.255.0.0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65 534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255.255.255.0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255.255.255.128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255.255.255.192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255.255.255.224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255.255.255.240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255.255.255.252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6355080" y="2788920"/>
            <a:ext cx="2514600" cy="2286000"/>
          </a:xfrm>
          <a:prstGeom prst="rect">
            <a:avLst/>
          </a:prstGeom>
          <a:solidFill>
            <a:srgbClr val="FEF9E7"/>
          </a:solidFill>
          <a:ln w="12700">
            <a:solidFill>
              <a:srgbClr val="F39C12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355080" y="2788920"/>
            <a:ext cx="2514600" cy="38404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55080" y="278892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Formule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400800" y="3218688"/>
            <a:ext cx="2423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Hôtes dispo =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2^(bits hôtes) - 2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 car l'adresse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 et broadcast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sont pas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assignables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Calcul : Adresse réseau et Broadcast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: 192.168.1.10 / 255.255.255.0  (/24)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170432"/>
            <a:ext cx="4160520" cy="3703320"/>
          </a:xfrm>
          <a:prstGeom prst="rect">
            <a:avLst/>
          </a:prstGeom>
          <a:solidFill>
            <a:srgbClr val="EBF5FB"/>
          </a:solidFill>
          <a:ln w="12700">
            <a:solidFill>
              <a:srgbClr val="2E86C1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70432"/>
            <a:ext cx="4160520" cy="43891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170432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📗  Adresse RÉSEAU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7472" y="1691640"/>
            <a:ext cx="4014216" cy="10972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783080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B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     : 00001010 (10)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B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Masque : 00000000 ( 0)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B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   : 00000000 = 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B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Réseau : 192.168.1.0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852928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 : </a:t>
            </a:r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logique bit à bit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l'IP et le masque.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bits hôtes → 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7472" y="3767328"/>
            <a:ext cx="4014216" cy="5029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3767328"/>
            <a:ext cx="4014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 : identifie le réseau dans les tables de routage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09160" y="1170432"/>
            <a:ext cx="4160520" cy="3703320"/>
          </a:xfrm>
          <a:prstGeom prst="rect">
            <a:avLst/>
          </a:prstGeom>
          <a:solidFill>
            <a:srgbClr val="FDEBD0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1170432"/>
            <a:ext cx="4160520" cy="43891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1170432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📘  Adresse BROADCAST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82312" y="1691640"/>
            <a:ext cx="4014216" cy="10972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1783080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B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  : 192.168.1.0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B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bits hôtes → tous à 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B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11111111 = 255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B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Broadcast : 192.168.1.255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82312" y="2852928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 : </a:t>
            </a:r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Partir de l'adresse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réseau, mettre tous les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 hôtes à 1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82312" y="3767328"/>
            <a:ext cx="4014216" cy="5029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82312" y="3767328"/>
            <a:ext cx="4014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 : envoyer un message à TOUS les hôtes du réseau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Plage d'hôtes et rôle des adresses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8595360" cy="1463040"/>
          </a:xfrm>
          <a:prstGeom prst="rect">
            <a:avLst/>
          </a:prstGeom>
          <a:solidFill>
            <a:srgbClr val="0D1B2A"/>
          </a:solidFill>
          <a:ln w="12700">
            <a:solidFill>
              <a:srgbClr val="2E86C1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868680"/>
            <a:ext cx="320040" cy="320040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16736" y="1005840"/>
            <a:ext cx="1371600" cy="54864"/>
          </a:xfrm>
          <a:prstGeom prst="rect">
            <a:avLst/>
          </a:prstGeom>
          <a:solidFill>
            <a:srgbClr val="334455"/>
          </a:solidFill>
          <a:ln w="12700">
            <a:solidFill>
              <a:srgbClr val="3344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344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86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192.168.1.0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57276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868680"/>
            <a:ext cx="320040" cy="320040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11296" y="1005840"/>
            <a:ext cx="1371600" cy="54864"/>
          </a:xfrm>
          <a:prstGeom prst="rect">
            <a:avLst/>
          </a:prstGeom>
          <a:solidFill>
            <a:srgbClr val="334455"/>
          </a:solidFill>
          <a:ln w="12700">
            <a:solidFill>
              <a:srgbClr val="3344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51760" y="12344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B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192.168.1.1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651760" y="157276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1er hôte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394960" y="868680"/>
            <a:ext cx="320040" cy="320040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05856" y="1005840"/>
            <a:ext cx="1371600" cy="54864"/>
          </a:xfrm>
          <a:prstGeom prst="rect">
            <a:avLst/>
          </a:prstGeom>
          <a:solidFill>
            <a:srgbClr val="334455"/>
          </a:solidFill>
          <a:ln w="12700">
            <a:solidFill>
              <a:srgbClr val="3344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12344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B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192.168.1.254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46320" y="157276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Dernier hôte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589520" y="868680"/>
            <a:ext cx="320040" cy="32004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0" y="12344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7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192.168.1.255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040880" y="157276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56032" y="2377440"/>
            <a:ext cx="2788920" cy="2423160"/>
          </a:xfrm>
          <a:prstGeom prst="rect">
            <a:avLst/>
          </a:prstGeom>
          <a:solidFill>
            <a:srgbClr val="EBF5FB"/>
          </a:solidFill>
          <a:ln w="12700">
            <a:solidFill>
              <a:srgbClr val="2E86C1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56032" y="2377440"/>
            <a:ext cx="2788920" cy="38404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" y="237744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Adresse RÉSEAU .0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47472" y="2807208"/>
            <a:ext cx="2606040" cy="1938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assignable à une machine.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Utilisée dans les tables de routage pour identifier l'ensemble du réseau.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182112" y="2377440"/>
            <a:ext cx="2788920" cy="2423160"/>
          </a:xfrm>
          <a:prstGeom prst="rect">
            <a:avLst/>
          </a:prstGeom>
          <a:solidFill>
            <a:srgbClr val="D5F5E3"/>
          </a:solidFill>
          <a:ln w="12700">
            <a:solidFill>
              <a:srgbClr val="1ABC9C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182112" y="2377440"/>
            <a:ext cx="2788920" cy="38404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82112" y="237744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Hôtes .1 à .254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73552" y="2807208"/>
            <a:ext cx="2606040" cy="1938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Adresses assignables aux équipements 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PC, serveurs, imprimantes, téléphones IP...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254 hôtes possibles pour un /24.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108192" y="2377440"/>
            <a:ext cx="2788920" cy="2423160"/>
          </a:xfrm>
          <a:prstGeom prst="rect">
            <a:avLst/>
          </a:prstGeom>
          <a:solidFill>
            <a:srgbClr val="FDEBD0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08192" y="2377440"/>
            <a:ext cx="2788920" cy="38404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08192" y="237744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.255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199632" y="2807208"/>
            <a:ext cx="2606040" cy="1938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assignable à une machine.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Paquet reçu par TOUS les équipements.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: DHCP Discover, ARP...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Classes IPv4 et adresses privées</a:t>
            </a:r>
            <a:endParaRPr lang="en-US" sz="2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777240"/>
          <a:ext cx="7772400" cy="914400"/>
        </p:xfrm>
        <a:graphic>
          <a:graphicData uri="http://schemas.openxmlformats.org/drawingml/2006/table">
            <a:tbl>
              <a:tblPr/>
              <a:tblGrid>
                <a:gridCol w="384048"/>
                <a:gridCol w="914400"/>
                <a:gridCol w="2468880"/>
                <a:gridCol w="658368"/>
                <a:gridCol w="3346704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Cl.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1er octet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Plage d'adresses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Masque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Usage typique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</a:rPr>
                        <a:t>1–126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1.0.0.0 → 126.255.255.255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86C1"/>
                          </a:solidFill>
                        </a:rPr>
                        <a:t>/8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</a:rPr>
                        <a:t>Très grands réseaux (FAI, Internet)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B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4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</a:rPr>
                        <a:t>128–191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128.0.0.0 → 191.255.255.255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8449"/>
                          </a:solidFill>
                        </a:rPr>
                        <a:t>/16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</a:rPr>
                        <a:t>Réseaux moyens (universités)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348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</a:rPr>
                        <a:t>192–223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192.0.0.0 → 223.255.255.255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C3483"/>
                          </a:solidFill>
                        </a:rPr>
                        <a:t>/24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</a:rPr>
                        <a:t>Petits réseaux (PME, domicile)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D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</a:rPr>
                        <a:t>224–239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Multicast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</a:rPr>
                        <a:t>Streaming IPTV, diffusion groupée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E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8C8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</a:rPr>
                        <a:t>240–255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Expérimental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F8C8D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</a:rPr>
                        <a:t>Réservé, non utilisé en production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56032" y="3200400"/>
            <a:ext cx="8631936" cy="1691640"/>
          </a:xfrm>
          <a:prstGeom prst="rect">
            <a:avLst/>
          </a:prstGeom>
          <a:solidFill>
            <a:srgbClr val="FEF9E7"/>
          </a:solidFill>
          <a:ln w="12700">
            <a:solidFill>
              <a:srgbClr val="F39C12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56032" y="3200400"/>
            <a:ext cx="8631936" cy="38404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56032" y="3200400"/>
            <a:ext cx="8631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Adresses privées RFC 1918 — non routables sur Internet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47472" y="367588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10.0.0.0/8  </a:t>
            </a:r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A privée  (10.0.0.0 → 10.255.255.255)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227832" y="367588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172.16.0.0/12  </a:t>
            </a:r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B privée  (172.16.0.0 → 172.31.255.255)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108192" y="367588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192.168.0.0/16  </a:t>
            </a:r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C privée  (192.168.0.0 → 192.168.255.255)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47472" y="41148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127.0.0.1  </a:t>
            </a:r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Loopback (machine locale)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227832" y="41148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169.254.0.0/16  </a:t>
            </a:r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APIPA (auto-attribution si pas de DHCP)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64592" cy="507034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2743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420624" y="694944"/>
            <a:ext cx="2743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2E86C1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0" dirty="0"/>
          </a:p>
        </p:txBody>
      </p:sp>
      <p:sp>
        <p:nvSpPr>
          <p:cNvPr id="6" name="Text 4"/>
          <p:cNvSpPr/>
          <p:nvPr/>
        </p:nvSpPr>
        <p:spPr>
          <a:xfrm>
            <a:off x="2560320" y="1645920"/>
            <a:ext cx="6309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CIDR ET SUBNETTING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2560320" y="2788920"/>
            <a:ext cx="6309360" cy="4572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0" y="278892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Notation /n · Calcul de sous-réseaux · Exercices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✂️  Le CIDR — Classless Inter-Domain Routing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77724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Introduit en 1993, le CIDR remplace le système de classes par une notation flexible /n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207008"/>
            <a:ext cx="859536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1ABC9C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207008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AB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192.168.1.0 / 24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274320" y="2286000"/>
            <a:ext cx="2029968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C1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2286000"/>
            <a:ext cx="2029968" cy="38404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2286000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 réseau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" y="2715768"/>
            <a:ext cx="20299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47472" y="3675888"/>
            <a:ext cx="1883664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24 premiers bits identifient le réseau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286000"/>
            <a:ext cx="2029968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50592" y="2286000"/>
            <a:ext cx="2029968" cy="38404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50592" y="2286000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 hôtes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450592" y="2715768"/>
            <a:ext cx="20299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2523744" y="3675888"/>
            <a:ext cx="1883664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32 - 24 = 8 bits pour les hôtes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26864" y="2286000"/>
            <a:ext cx="2029968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BC9C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26864" y="2286000"/>
            <a:ext cx="2029968" cy="38404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26864" y="2286000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Masque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26864" y="2715768"/>
            <a:ext cx="20299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255.255.255.0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4700016" y="3675888"/>
            <a:ext cx="1883664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bits à 1, 8 bits à 0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803136" y="2286000"/>
            <a:ext cx="2029968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8449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803136" y="2286000"/>
            <a:ext cx="2029968" cy="38404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03136" y="2286000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 hôtes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03136" y="2715768"/>
            <a:ext cx="20299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254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6876288" y="3675888"/>
            <a:ext cx="1883664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2⁸ - 2 = 254 hôtes utilisables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Subnetting — Diviser un réseau en sous-réseaux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6032" y="822960"/>
            <a:ext cx="502920" cy="502920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822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822960"/>
            <a:ext cx="34747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8229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 de sous-réseaux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70832" y="82296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Déterminer combien de sous-réseaux sont nécessaires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" y="1609344"/>
            <a:ext cx="502920" cy="502920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" y="16093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2960" y="1609344"/>
            <a:ext cx="34747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1609344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 supplémentaires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370832" y="1609344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Calculer x tel que 2^x ≥ nb sous-réseaux voulu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56032" y="2395728"/>
            <a:ext cx="502920" cy="502920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032" y="2395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22960" y="2395728"/>
            <a:ext cx="34747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" y="239572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Nouveau masque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370832" y="2395728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Nouveau masque = ancien masque + x bits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56032" y="3182112"/>
            <a:ext cx="502920" cy="502920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31821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22960" y="3182112"/>
            <a:ext cx="34747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0392" y="318211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370832" y="3182112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= 256 − valeur du dernier octet masqué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56032" y="3968496"/>
            <a:ext cx="502920" cy="502920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" y="39684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22960" y="3968496"/>
            <a:ext cx="34747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0392" y="3968496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Lister les réseaux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370832" y="3968496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Incrémenter l'adresse de base par le pas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56032" y="4681728"/>
            <a:ext cx="8631936" cy="34747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6032" y="4681728"/>
            <a:ext cx="8631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: Diviser 192.168.1.0/24 en 4 sous-réseaux → /26 · Pas = 64 · 62 hôtes/SR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Résultat : 192.168.1.0/24 → 4 sous-réseaux /26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56032" y="777240"/>
            <a:ext cx="8631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Masque /26 = 255.255.255.192  |  Pas = 64  |  62 hôtes par sous-réseau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" y="1234440"/>
            <a:ext cx="2048256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2980B9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234440"/>
            <a:ext cx="2048256" cy="43891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1234440"/>
            <a:ext cx="20482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 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9184" y="1737360"/>
            <a:ext cx="1901952" cy="438912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737360"/>
            <a:ext cx="868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70432" y="1737360"/>
            <a:ext cx="10424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980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192.168.1.0/26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9184" y="2240280"/>
            <a:ext cx="190195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CF0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2240280"/>
            <a:ext cx="868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1er hôte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70432" y="2240280"/>
            <a:ext cx="10424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980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192.168.1.1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9184" y="2743200"/>
            <a:ext cx="1901952" cy="438912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2743200"/>
            <a:ext cx="868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Dernier hôte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70432" y="2743200"/>
            <a:ext cx="10424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980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192.168.1.62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9184" y="3246120"/>
            <a:ext cx="190195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CF0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3246120"/>
            <a:ext cx="868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70432" y="3246120"/>
            <a:ext cx="10424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980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192.168.1.63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9184" y="3749040"/>
            <a:ext cx="1901952" cy="438912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3749040"/>
            <a:ext cx="868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Hôtes dispo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70432" y="3749040"/>
            <a:ext cx="10424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980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62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432304" y="1234440"/>
            <a:ext cx="2048256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432304" y="1234440"/>
            <a:ext cx="2048256" cy="43891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32304" y="1234440"/>
            <a:ext cx="20482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 2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2505456" y="1737360"/>
            <a:ext cx="1901952" cy="438912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23744" y="1737360"/>
            <a:ext cx="868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346704" y="1737360"/>
            <a:ext cx="10424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192.168.1.64/26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505456" y="2240280"/>
            <a:ext cx="190195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CF0F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23744" y="2240280"/>
            <a:ext cx="868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1er hôte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346704" y="2240280"/>
            <a:ext cx="10424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192.168.1.65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505456" y="2743200"/>
            <a:ext cx="1901952" cy="438912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23744" y="2743200"/>
            <a:ext cx="868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Dernier hôte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346704" y="2743200"/>
            <a:ext cx="10424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192.168.1.126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505456" y="3246120"/>
            <a:ext cx="190195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CF0F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23744" y="3246120"/>
            <a:ext cx="868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346704" y="3246120"/>
            <a:ext cx="10424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192.168.1.127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505456" y="3749040"/>
            <a:ext cx="1901952" cy="438912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523744" y="3749040"/>
            <a:ext cx="868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Hôtes dispo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346704" y="3749040"/>
            <a:ext cx="10424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62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608576" y="1234440"/>
            <a:ext cx="2048256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8E44A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608576" y="1234440"/>
            <a:ext cx="2048256" cy="43891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08576" y="1234440"/>
            <a:ext cx="20482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 3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4681728" y="1737360"/>
            <a:ext cx="1901952" cy="438912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00016" y="1737360"/>
            <a:ext cx="868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522976" y="1737360"/>
            <a:ext cx="10424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E44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192.168.1.128/26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681728" y="2240280"/>
            <a:ext cx="190195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CF0F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00016" y="2240280"/>
            <a:ext cx="868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1er hôte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522976" y="2240280"/>
            <a:ext cx="10424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E44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192.168.1.129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681728" y="2743200"/>
            <a:ext cx="1901952" cy="438912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00016" y="2743200"/>
            <a:ext cx="868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Dernier hôte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522976" y="2743200"/>
            <a:ext cx="10424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E44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192.168.1.190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681728" y="3246120"/>
            <a:ext cx="190195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CF0F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00016" y="3246120"/>
            <a:ext cx="868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5522976" y="3246120"/>
            <a:ext cx="10424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E44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192.168.1.191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681728" y="3749040"/>
            <a:ext cx="1901952" cy="438912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700016" y="3749040"/>
            <a:ext cx="868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Hôtes dispo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5522976" y="3749040"/>
            <a:ext cx="10424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E44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62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6784848" y="1234440"/>
            <a:ext cx="2048256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6784848" y="1234440"/>
            <a:ext cx="2048256" cy="43891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784848" y="1234440"/>
            <a:ext cx="20482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 4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6858000" y="1737360"/>
            <a:ext cx="1901952" cy="438912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876288" y="1737360"/>
            <a:ext cx="868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7699248" y="1737360"/>
            <a:ext cx="10424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7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192.168.1.192/26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6858000" y="2240280"/>
            <a:ext cx="190195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CF0F1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876288" y="2240280"/>
            <a:ext cx="868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1er hôte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7699248" y="2240280"/>
            <a:ext cx="10424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7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192.168.1.193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6858000" y="2743200"/>
            <a:ext cx="1901952" cy="438912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876288" y="2743200"/>
            <a:ext cx="868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Dernier hôte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7699248" y="2743200"/>
            <a:ext cx="10424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7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192.168.1.254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6858000" y="3246120"/>
            <a:ext cx="190195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CF0F1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876288" y="3246120"/>
            <a:ext cx="868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7699248" y="3246120"/>
            <a:ext cx="10424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7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192.168.1.255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6858000" y="3749040"/>
            <a:ext cx="1901952" cy="438912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876288" y="3749040"/>
            <a:ext cx="868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Hôtes dispo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7699248" y="3749040"/>
            <a:ext cx="10424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7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62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256032" y="4828032"/>
            <a:ext cx="8631936" cy="274320"/>
          </a:xfrm>
          <a:prstGeom prst="rect">
            <a:avLst/>
          </a:prstGeom>
          <a:solidFill>
            <a:srgbClr val="D5F5E3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56032" y="4828032"/>
            <a:ext cx="8631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62 hôtes × 4 sous-réseaux = 248 hôtes  (pour 254 dans le /24 d'origine — économie de 6 adresses)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64592" cy="507034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2743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420624" y="694944"/>
            <a:ext cx="2743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2E86C1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0" dirty="0"/>
          </a:p>
        </p:txBody>
      </p:sp>
      <p:sp>
        <p:nvSpPr>
          <p:cNvPr id="6" name="Text 4"/>
          <p:cNvSpPr/>
          <p:nvPr/>
        </p:nvSpPr>
        <p:spPr>
          <a:xfrm>
            <a:off x="2560320" y="1645920"/>
            <a:ext cx="6309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L'ADRESSAGE IPv6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2560320" y="2788920"/>
            <a:ext cx="6309360" cy="4572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0" y="278892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bits · Hexadécimal · Types · Abréviation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Pourquoi IPv6 ? — IPv4 vs IPv6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56032" y="777240"/>
            <a:ext cx="8631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~4,3 milliards d'adresses IPv4 ont été épuisées en 2011. IPv6 apporte 340 sextillions d'adresses.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1234440"/>
          <a:ext cx="8631936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944368"/>
                <a:gridCol w="2944368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Caractéristique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IPv4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IPv6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44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</a:rPr>
                        <a:t>Longueur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E86C1"/>
                          </a:solidFill>
                        </a:rPr>
                        <a:t>32 bits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8449"/>
                          </a:solidFill>
                        </a:rPr>
                        <a:t>128 bits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2833"/>
                          </a:solidFill>
                        </a:rPr>
                        <a:t>Nb d'adresses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E86C1"/>
                          </a:solidFill>
                        </a:rPr>
                        <a:t>4,3 milliards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8449"/>
                          </a:solidFill>
                        </a:rPr>
                        <a:t>3,4 × 10³⁸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</a:rPr>
                        <a:t>Notation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E86C1"/>
                          </a:solidFill>
                        </a:rPr>
                        <a:t>Décimale pointée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8449"/>
                          </a:solidFill>
                        </a:rPr>
                        <a:t>Hexadécimale (groupes)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2833"/>
                          </a:solidFill>
                        </a:rPr>
                        <a:t>Broadcast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E86C1"/>
                          </a:solidFill>
                        </a:rPr>
                        <a:t>Oui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8449"/>
                          </a:solidFill>
                        </a:rPr>
                        <a:t>Non → Multicast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</a:rPr>
                        <a:t>Config auto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E86C1"/>
                          </a:solidFill>
                        </a:rPr>
                        <a:t>DHCP ou manuelle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8449"/>
                          </a:solidFill>
                        </a:rPr>
                        <a:t>SLAAC intégré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2833"/>
                          </a:solidFill>
                        </a:rPr>
                        <a:t>Sécurité IPSec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E86C1"/>
                          </a:solidFill>
                        </a:rPr>
                        <a:t>Optionnelle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8449"/>
                          </a:solidFill>
                        </a:rPr>
                        <a:t>Native (obligatoire)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</a:rPr>
                        <a:t>En-tête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E86C1"/>
                          </a:solidFill>
                        </a:rPr>
                        <a:t>Variable, complexe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8449"/>
                          </a:solidFill>
                        </a:rPr>
                        <a:t>Fixe, simplifié (40o)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 Structure d'une adresse IPv6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6032" y="749808"/>
            <a:ext cx="8631936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1ABC9C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56032" y="749808"/>
            <a:ext cx="863193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B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2001 : 0db8 : 85a3 : 0000 : 0000 : 8a2e : 0370 : 7334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56032" y="1874520"/>
            <a:ext cx="1005840" cy="73152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187452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56032" y="237744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bits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335024" y="1874520"/>
            <a:ext cx="1005840" cy="7315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35024" y="187452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0db8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35024" y="237744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bits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414016" y="1874520"/>
            <a:ext cx="1005840" cy="73152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14016" y="187452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85a3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414016" y="237744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bits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493008" y="1874520"/>
            <a:ext cx="1005840" cy="7315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93008" y="187452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0000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493008" y="237744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bits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0" y="1874520"/>
            <a:ext cx="1005840" cy="7315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187452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0000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572000" y="237744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bits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650992" y="1874520"/>
            <a:ext cx="1005840" cy="73152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50992" y="187452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8a2e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650992" y="237744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bits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729984" y="1874520"/>
            <a:ext cx="1005840" cy="731520"/>
          </a:xfrm>
          <a:prstGeom prst="rect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29984" y="187452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0370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729984" y="237744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bits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808976" y="1874520"/>
            <a:ext cx="1005840" cy="7315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08976" y="187452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7334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808976" y="237744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bits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56032" y="2670048"/>
            <a:ext cx="8631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groupes × 16 bits = 128 bits total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56032" y="3063240"/>
            <a:ext cx="4206240" cy="1737360"/>
          </a:xfrm>
          <a:prstGeom prst="rect">
            <a:avLst/>
          </a:prstGeom>
          <a:solidFill>
            <a:srgbClr val="EBF5FB"/>
          </a:solidFill>
          <a:ln w="12700">
            <a:solidFill>
              <a:srgbClr val="2E86C1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56032" y="3063240"/>
            <a:ext cx="4206240" cy="34747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6032" y="306324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 1 — Supprimer les 0 non significatifs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9184" y="3474720"/>
            <a:ext cx="4059936" cy="12344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8912" y="3566160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B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0db8  →  db8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B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0001  →  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B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0000  →  0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681728" y="3063240"/>
            <a:ext cx="4206240" cy="1737360"/>
          </a:xfrm>
          <a:prstGeom prst="rect">
            <a:avLst/>
          </a:prstGeom>
          <a:solidFill>
            <a:srgbClr val="FDEBD0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681728" y="3063240"/>
            <a:ext cx="4206240" cy="34747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81728" y="306324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 2 — :: remplace des groupes de 0 (une seule fois)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754880" y="3474720"/>
            <a:ext cx="4059936" cy="12344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64608" y="3566160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B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2001:0db8:0000:0000::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B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2001:db8::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B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::1 = loopback IPv6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🗂️  Types d'adresses IPv6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6032" y="804672"/>
            <a:ext cx="4206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980B9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804672"/>
            <a:ext cx="4206240" cy="34747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80467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Unicast globale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7472" y="1197864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Préfixe : </a:t>
            </a:r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2000::/3  </a:t>
            </a:r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 : 2001:db8::1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7472" y="1563624"/>
            <a:ext cx="4023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Routable sur Internet (≈ IP publique)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26864" y="804672"/>
            <a:ext cx="4206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26864" y="804672"/>
            <a:ext cx="4206240" cy="34747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26864" y="80467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Lien-local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18304" y="1197864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Préfixe : </a:t>
            </a:r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FE80::/10  </a:t>
            </a:r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 : fe80::1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18304" y="1563624"/>
            <a:ext cx="4023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Toujours présente, non routable, liaison directe uniquement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56032" y="2267712"/>
            <a:ext cx="4206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8E44A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56032" y="2267712"/>
            <a:ext cx="4206240" cy="34747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" y="226771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Loopback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7472" y="2660904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Préfixe : </a:t>
            </a:r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::1  </a:t>
            </a:r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 : ::1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7472" y="3026664"/>
            <a:ext cx="4023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Équivalent de 127.0.0.1, machine locale uniquement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26864" y="2267712"/>
            <a:ext cx="4206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26864" y="2267712"/>
            <a:ext cx="4206240" cy="34747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26864" y="226771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Multicast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18304" y="2660904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Préfixe : </a:t>
            </a:r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FF00::/8  </a:t>
            </a:r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 : ff02::1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18304" y="3026664"/>
            <a:ext cx="4023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Remplace le broadcast, cible un groupe de machines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56032" y="3730752"/>
            <a:ext cx="4206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56032" y="3730752"/>
            <a:ext cx="420624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373075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locale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47472" y="4123944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Préfixe : </a:t>
            </a:r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FC00::/7  </a:t>
            </a:r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 : fd12::1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47472" y="4489704"/>
            <a:ext cx="4023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privé (≈ RFC1918), non routée sur Internet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26864" y="3730752"/>
            <a:ext cx="4206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7F8C8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26864" y="3730752"/>
            <a:ext cx="4206240" cy="347472"/>
          </a:xfrm>
          <a:prstGeom prst="rect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26864" y="373075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spécifiée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718304" y="4123944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Préfixe : </a:t>
            </a:r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::  </a:t>
            </a:r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 : ::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718304" y="4489704"/>
            <a:ext cx="4023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d'adresse (≈ 0.0.0.0)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64592" cy="507034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2743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420624" y="694944"/>
            <a:ext cx="2743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2E86C1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0" dirty="0"/>
          </a:p>
        </p:txBody>
      </p:sp>
      <p:sp>
        <p:nvSpPr>
          <p:cNvPr id="6" name="Text 4"/>
          <p:cNvSpPr/>
          <p:nvPr/>
        </p:nvSpPr>
        <p:spPr>
          <a:xfrm>
            <a:off x="2560320" y="1645920"/>
            <a:ext cx="6309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ET ROUTEUR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2560320" y="2788920"/>
            <a:ext cx="6309360" cy="4572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0" y="278892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Équipements réseau · Rôles · Tables · VLANs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 Le Switch — Commutateur de niveau 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56032" y="749808"/>
            <a:ext cx="8631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switch connecte les équipements d'un LAN et achemine les trames Ethernet via les adresses MAC.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" y="1170432"/>
            <a:ext cx="4114800" cy="1828800"/>
          </a:xfrm>
          <a:prstGeom prst="rect">
            <a:avLst/>
          </a:prstGeom>
          <a:solidFill>
            <a:srgbClr val="FADBD8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170432"/>
            <a:ext cx="4114800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117043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HUB (obsolète)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7472" y="162763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Couche 1 — Physique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7472" y="18745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Envoie sur TOUS les ports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7472" y="212140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Un seul domaine de collision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7472" y="236829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Collisions fréquentes → lenteur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7472" y="261518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Pas de sécurité (tout le monde voit tout)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1170432"/>
            <a:ext cx="4133088" cy="1828800"/>
          </a:xfrm>
          <a:prstGeom prst="rect">
            <a:avLst/>
          </a:prstGeom>
          <a:solidFill>
            <a:srgbClr val="D5F5E3"/>
          </a:solidFill>
          <a:ln w="12700">
            <a:solidFill>
              <a:srgbClr val="1E8449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170432"/>
            <a:ext cx="4133088" cy="38404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1170432"/>
            <a:ext cx="4133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SWITCH (actuel)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1627632"/>
            <a:ext cx="3950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Couche 2 — Liaison de données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1874520"/>
            <a:ext cx="3950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Envoie uniquement au bon port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2121408"/>
            <a:ext cx="3950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Domaine de collision par port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2368296"/>
            <a:ext cx="3950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Performances élevées, peu de collisions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46320" y="2615184"/>
            <a:ext cx="3950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Table CAM : MAC → port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56032" y="3127248"/>
            <a:ext cx="8631936" cy="1627632"/>
          </a:xfrm>
          <a:prstGeom prst="rect">
            <a:avLst/>
          </a:prstGeom>
          <a:solidFill>
            <a:srgbClr val="EBF5FB"/>
          </a:solidFill>
          <a:ln w="12700">
            <a:solidFill>
              <a:srgbClr val="2E86C1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56032" y="3127248"/>
            <a:ext cx="8631936" cy="34747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6032" y="3127248"/>
            <a:ext cx="8631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Fonctionnement de la table CAM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3529584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Trame reçue sur le port X → le switch note l'adresse MAC source dans la table CAM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47472" y="3831336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Adresse MAC destination connue dans la table ? → envoie uniquement sur le bon port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47472" y="413308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Adresse MAC destination inconnue ? → flooding (envoie sur tous les ports sauf le port source)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 Le Routeur — Couche 3 du modèle OSI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56032" y="749808"/>
            <a:ext cx="8631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routeur achemine les paquets IP entre différents réseaux grâce à sa table de routage.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" y="1170432"/>
            <a:ext cx="4754880" cy="30175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BC9C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170432"/>
            <a:ext cx="4754880" cy="34747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117043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de routage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7472" y="1581912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Réseau dest.     Masque  Passerelle    Interface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7472" y="1947672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192.168.1.0    /24     Direct        eth0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7472" y="2313432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192.168.2.0    /24     Direct        eth1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7472" y="2679192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10.0.0.0       /8      192.168.1.254 eth0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7472" y="3044952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B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0.0.0.0        /0  ←  213.91.1.1    eth2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7472" y="3410712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7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(route par défaut vers Internet)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166360" y="1207008"/>
            <a:ext cx="457200" cy="45720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66360" y="1207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687568" y="1225296"/>
            <a:ext cx="32004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42432" y="1225296"/>
            <a:ext cx="31272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Réception  </a:t>
            </a:r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routeur reçoit un paquet IP sur une interface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376672" y="1664208"/>
            <a:ext cx="54864" cy="25603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66360" y="1920240"/>
            <a:ext cx="457200" cy="45720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6636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687568" y="1938528"/>
            <a:ext cx="32004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42432" y="1938528"/>
            <a:ext cx="31272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destination  </a:t>
            </a:r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lit l'adresse IP de destination du paquet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376672" y="2377440"/>
            <a:ext cx="54864" cy="25603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66360" y="2633472"/>
            <a:ext cx="457200" cy="45720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66360" y="2633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687568" y="2651760"/>
            <a:ext cx="32004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42432" y="2651760"/>
            <a:ext cx="31272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 table  </a:t>
            </a:r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cherche la meilleure route (longest prefix match)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376672" y="3090672"/>
            <a:ext cx="54864" cy="25603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166360" y="3346704"/>
            <a:ext cx="457200" cy="45720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66360" y="3346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687568" y="3364992"/>
            <a:ext cx="32004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42432" y="3364992"/>
            <a:ext cx="31272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Forwarding  </a:t>
            </a:r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transfère le paquet sur l'interface correspondante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Switch vs Routeur — Comparaison</a:t>
            </a:r>
            <a:endParaRPr lang="en-US" sz="2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777240"/>
          <a:ext cx="8631936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310128"/>
                <a:gridCol w="3310128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Critère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🔌  SWITCH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🗺️  ROUTEUR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2833"/>
                          </a:solidFill>
                        </a:rPr>
                        <a:t>Couche OSI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980B9"/>
                          </a:solidFill>
                        </a:rPr>
                        <a:t>Couche 2 (ou L3 pour switch manageable)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7E22"/>
                          </a:solidFill>
                        </a:rPr>
                        <a:t>Couche 3 — Réseau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2833"/>
                          </a:solidFill>
                        </a:rPr>
                        <a:t>Adresse traitée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980B9"/>
                          </a:solidFill>
                        </a:rPr>
                        <a:t>Adresse MAC (48 bits)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7E22"/>
                          </a:solidFill>
                        </a:rPr>
                        <a:t>Adresse IP (32 ou 128 bits)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2833"/>
                          </a:solidFill>
                        </a:rPr>
                        <a:t>Domaine d'action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980B9"/>
                          </a:solidFill>
                        </a:rPr>
                        <a:t>LAN — réseau local uniquement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7E22"/>
                          </a:solidFill>
                        </a:rPr>
                        <a:t>Entre différents réseaux (WAN, Internet)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2833"/>
                          </a:solidFill>
                        </a:rPr>
                        <a:t>Nb d'interfaces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980B9"/>
                          </a:solidFill>
                        </a:rPr>
                        <a:t>8, 24, 48 ports…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7E22"/>
                          </a:solidFill>
                        </a:rPr>
                        <a:t>2 à 8 interfaces (LAN, WAN)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2833"/>
                          </a:solidFill>
                        </a:rPr>
                        <a:t>Table utilisée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980B9"/>
                          </a:solidFill>
                        </a:rPr>
                        <a:t>Table CAM (MAC → port)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7E22"/>
                          </a:solidFill>
                        </a:rPr>
                        <a:t>Table de routage (réseau → interface)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2833"/>
                          </a:solidFill>
                        </a:rPr>
                        <a:t>NAT / PAT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980B9"/>
                          </a:solidFill>
                        </a:rPr>
                        <a:t>Non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7E22"/>
                          </a:solidFill>
                        </a:rPr>
                        <a:t>Oui (partage d'IP publique)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2833"/>
                          </a:solidFill>
                        </a:rPr>
                        <a:t>VLANs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980B9"/>
                          </a:solidFill>
                        </a:rPr>
                        <a:t>Oui (switch manageable)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7E22"/>
                          </a:solidFill>
                        </a:rPr>
                        <a:t>Nécessaire pour le routage inter-VLAN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56032" y="4462272"/>
            <a:ext cx="8631936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56032" y="4462272"/>
            <a:ext cx="8631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Moyen mnémotechnique : Switch = MAC → même réseau  |  Routeur = IP → entre réseaux différents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64592" cy="507034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2743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420624" y="694944"/>
            <a:ext cx="2743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2E86C1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0" dirty="0"/>
          </a:p>
        </p:txBody>
      </p:sp>
      <p:sp>
        <p:nvSpPr>
          <p:cNvPr id="6" name="Text 4"/>
          <p:cNvSpPr/>
          <p:nvPr/>
        </p:nvSpPr>
        <p:spPr>
          <a:xfrm>
            <a:off x="2560320" y="1645920"/>
            <a:ext cx="6309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ET DHCP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2560320" y="2788920"/>
            <a:ext cx="6309360" cy="4572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0" y="278892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réseau · Résolution de noms · Attribution automatique d'IP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DHCP — Le processus DORA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56032" y="749808"/>
            <a:ext cx="8631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DHCP (Dynamic Host Configuration Protocol) attribue automatiquement une configuration réseau complète.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" y="1170432"/>
            <a:ext cx="20574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2980B9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1188720"/>
            <a:ext cx="1143000" cy="914400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188720"/>
            <a:ext cx="1143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256032" y="2176272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56032" y="2578608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→ Broadcast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47472" y="2944368"/>
            <a:ext cx="1874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client cherche un serveur DHCP sur le réseau.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n'a pas encore d'adresse IP.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86000" y="1572768"/>
            <a:ext cx="164592" cy="7315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50592" y="1170432"/>
            <a:ext cx="20574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907792" y="1188720"/>
            <a:ext cx="1143000" cy="91440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07792" y="1188720"/>
            <a:ext cx="1143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2450592" y="2176272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450592" y="2578608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Serveur → Client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542032" y="2944368"/>
            <a:ext cx="1874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serveur propose une adresse IP disponible avec ses paramètres (masque, passerelle, DNS, durée du bail).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480560" y="1572768"/>
            <a:ext cx="164592" cy="7315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45152" y="1170432"/>
            <a:ext cx="20574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8E44A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102352" y="1188720"/>
            <a:ext cx="1143000" cy="914400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02352" y="1188720"/>
            <a:ext cx="1143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4645152" y="2176272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645152" y="2578608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→ Broadcast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36592" y="2944368"/>
            <a:ext cx="1874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client accepte l'offre et le signale en broadcast pour informer tous les serveurs DHCP.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675120" y="1572768"/>
            <a:ext cx="164592" cy="7315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39712" y="1170432"/>
            <a:ext cx="20574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296912" y="1188720"/>
            <a:ext cx="1143000" cy="91440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96912" y="1188720"/>
            <a:ext cx="1143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4000" dirty="0"/>
          </a:p>
        </p:txBody>
      </p:sp>
      <p:sp>
        <p:nvSpPr>
          <p:cNvPr id="30" name="Text 28"/>
          <p:cNvSpPr/>
          <p:nvPr/>
        </p:nvSpPr>
        <p:spPr>
          <a:xfrm>
            <a:off x="6839712" y="2176272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839712" y="2578608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Serveur → Client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931152" y="2944368"/>
            <a:ext cx="1874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serveur confirme l'attribution et enregistre le bail. Le client peut utiliser l'adresse.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56032" y="4718304"/>
            <a:ext cx="8631936" cy="347472"/>
          </a:xfrm>
          <a:prstGeom prst="rect">
            <a:avLst/>
          </a:prstGeom>
          <a:solidFill>
            <a:srgbClr val="D5F5E3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6032" y="4718304"/>
            <a:ext cx="8631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Tout ce processus utilise le port UDP 67 (serveur) et 68 (client)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Configuration d'un serveur DHCP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6032" y="749808"/>
            <a:ext cx="4160520" cy="4041648"/>
          </a:xfrm>
          <a:prstGeom prst="rect">
            <a:avLst/>
          </a:prstGeom>
          <a:solidFill>
            <a:srgbClr val="EBF5FB"/>
          </a:solidFill>
          <a:ln w="12700">
            <a:solidFill>
              <a:srgbClr val="2E86C1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749808"/>
            <a:ext cx="4160520" cy="38404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749808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fournit le DHCP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7472" y="1188720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 Adresse IP unique (dans la plage)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7472" y="1627632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🎭  Masque de sous-réseau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7472" y="2066544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🚪  Passerelle par défaut (routeur)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7472" y="2505456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Serveur(s) DNS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7472" y="2944368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 Durée du bail (ex : 24h)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7472" y="3383280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Suffixe de domaine DNS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7472" y="3822192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🕐  Serveur NTP (heure réseau)</a:t>
            </a:r>
            <a:endParaRPr lang="en-US" sz="12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749808"/>
          <a:ext cx="4315968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395728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Paramètre DHCP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Valeur exemple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5276"/>
                          </a:solidFill>
                        </a:rPr>
                        <a:t>Plage d'attribution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192.168.1.100 → 192.168.1.200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5276"/>
                          </a:solidFill>
                        </a:rPr>
                        <a:t>Masque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255.255.255.0  (/24)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5276"/>
                          </a:solidFill>
                        </a:rPr>
                        <a:t>Passerelle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192.168.1.1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5276"/>
                          </a:solidFill>
                        </a:rPr>
                        <a:t>DNS primaire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192.168.1.5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5276"/>
                          </a:solidFill>
                        </a:rPr>
                        <a:t>DNS secondaire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8.8.8.8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5276"/>
                          </a:solidFill>
                        </a:rPr>
                        <a:t>Durée du bail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86400 s  (24 heures)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5276"/>
                          </a:solidFill>
                        </a:rPr>
                        <a:t>Exclusions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192.168.1.1 → .99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4572000" y="3858768"/>
            <a:ext cx="4315968" cy="960120"/>
          </a:xfrm>
          <a:prstGeom prst="rect">
            <a:avLst/>
          </a:prstGeom>
          <a:solidFill>
            <a:srgbClr val="FEF9E7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645152" y="3895344"/>
            <a:ext cx="4169664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IP statique pour les serveurs,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imprimantes et équipements réseau.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DHCP uniquement pour les postes clients.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DNS — Résolution d'un nom de domaine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56032" y="749808"/>
            <a:ext cx="8631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traduit www.example.com → 93.184.216.34  (carnet d'adresses d'Internet)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" y="1298448"/>
            <a:ext cx="475488" cy="475488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2984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86384" y="1298448"/>
            <a:ext cx="3566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1298448"/>
            <a:ext cx="34930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navigateur vérifie son cache local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" y="1773936"/>
            <a:ext cx="54864" cy="201168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" y="2075688"/>
            <a:ext cx="475488" cy="47548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" y="20756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86384" y="2075688"/>
            <a:ext cx="3566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2075688"/>
            <a:ext cx="34930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interroge le résolveur DNS configuré sur la machine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" y="2551176"/>
            <a:ext cx="54864" cy="20116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6032" y="2852928"/>
            <a:ext cx="475488" cy="475488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" y="28529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86384" y="2852928"/>
            <a:ext cx="3566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2852928"/>
            <a:ext cx="34930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résolveur contacte un serveur racine (.)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6344" y="3328416"/>
            <a:ext cx="54864" cy="20116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6032" y="3630168"/>
            <a:ext cx="475488" cy="475488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" y="36301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86384" y="3630168"/>
            <a:ext cx="3566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1248" y="3630168"/>
            <a:ext cx="34930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serveur racine pointe vers le serveur TLD (.com)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26864" y="1298448"/>
            <a:ext cx="475488" cy="47548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26864" y="12984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5157216" y="1298448"/>
            <a:ext cx="3566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12080" y="1298448"/>
            <a:ext cx="34930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TLD .com pointe vers le DNS autoritaire de example.com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26864" y="2075688"/>
            <a:ext cx="475488" cy="475488"/>
          </a:xfrm>
          <a:prstGeom prst="ellipse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26864" y="20756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5157216" y="2075688"/>
            <a:ext cx="3566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12080" y="2075688"/>
            <a:ext cx="34930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DNS autoritaire répond avec l'adresse IP finale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626864" y="2852928"/>
            <a:ext cx="475488" cy="475488"/>
          </a:xfrm>
          <a:prstGeom prst="ellipse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26864" y="28529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5157216" y="2852928"/>
            <a:ext cx="3566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12080" y="2852928"/>
            <a:ext cx="34930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résolveur met en cache et renvoie l'IP au navigateur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📑  Types d'enregistrements DNS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6032" y="777240"/>
            <a:ext cx="2029968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980B9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777240"/>
            <a:ext cx="2029968" cy="566928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777240"/>
            <a:ext cx="20299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56032" y="1115568"/>
            <a:ext cx="202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9184" y="1399032"/>
            <a:ext cx="188366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 → IPv4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www.example.com → 93.184.216.34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32304" y="777240"/>
            <a:ext cx="2029968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8449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32304" y="777240"/>
            <a:ext cx="2029968" cy="56692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32304" y="777240"/>
            <a:ext cx="20299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AAAA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432304" y="1115568"/>
            <a:ext cx="202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IPv6 Address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05456" y="1399032"/>
            <a:ext cx="188366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 → IPv6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www.example.com → 2606:2800::68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08576" y="777240"/>
            <a:ext cx="2029968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8E44A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08576" y="777240"/>
            <a:ext cx="2029968" cy="56692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08576" y="777240"/>
            <a:ext cx="20299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CNAME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608576" y="1115568"/>
            <a:ext cx="202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81728" y="1399032"/>
            <a:ext cx="188366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 → autre nom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mail.ex.com → ex.com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784848" y="777240"/>
            <a:ext cx="2029968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84848" y="777240"/>
            <a:ext cx="2029968" cy="56692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84848" y="777240"/>
            <a:ext cx="20299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MX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784848" y="1115568"/>
            <a:ext cx="202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 Exchange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58000" y="1399032"/>
            <a:ext cx="188366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Serveur mail du domaine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ex.com → mail.ex.com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56032" y="2880360"/>
            <a:ext cx="2029968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56032" y="2880360"/>
            <a:ext cx="2029968" cy="5669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2880360"/>
            <a:ext cx="20299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256032" y="3218688"/>
            <a:ext cx="202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Server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29184" y="3502152"/>
            <a:ext cx="188366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autoritaire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domaine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432304" y="2880360"/>
            <a:ext cx="2029968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085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432304" y="2880360"/>
            <a:ext cx="2029968" cy="566928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432304" y="2880360"/>
            <a:ext cx="20299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PTR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2432304" y="3218688"/>
            <a:ext cx="202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 (inverse)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505456" y="3502152"/>
            <a:ext cx="188366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→ Nom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93.184.216.34 → www.ex.com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608576" y="2880360"/>
            <a:ext cx="2029968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4C3C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08576" y="2880360"/>
            <a:ext cx="2029968" cy="56692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08576" y="2880360"/>
            <a:ext cx="20299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TXT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4608576" y="3218688"/>
            <a:ext cx="202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681728" y="3502152"/>
            <a:ext cx="188366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Informations texte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(SPF, DMARC, vérification)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784848" y="2880360"/>
            <a:ext cx="2029968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7F8C8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784848" y="2880360"/>
            <a:ext cx="2029968" cy="566928"/>
          </a:xfrm>
          <a:prstGeom prst="rect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84848" y="2880360"/>
            <a:ext cx="20299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6784848" y="3218688"/>
            <a:ext cx="202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of Authority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858000" y="3502152"/>
            <a:ext cx="188366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 d'admin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zone DNS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64592" cy="507034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2743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420624" y="694944"/>
            <a:ext cx="2743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2E86C1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0" dirty="0"/>
          </a:p>
        </p:txBody>
      </p:sp>
      <p:sp>
        <p:nvSpPr>
          <p:cNvPr id="6" name="Text 4"/>
          <p:cNvSpPr/>
          <p:nvPr/>
        </p:nvSpPr>
        <p:spPr>
          <a:xfrm>
            <a:off x="2560320" y="1645920"/>
            <a:ext cx="6309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 ET ARCHITECTURE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2560320" y="2788920"/>
            <a:ext cx="6309360" cy="4572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0" y="278892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Ports · Mémo calcul · Glossaire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Architecture réseau d'entreprise typique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56032" y="749808"/>
            <a:ext cx="8631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Voici comment s'articulent les équipements et services vus dans ce cours 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840480" y="1115568"/>
            <a:ext cx="1463040" cy="457200"/>
          </a:xfrm>
          <a:prstGeom prst="rect">
            <a:avLst/>
          </a:prstGeom>
          <a:solidFill>
            <a:srgbClr val="ECF0F1"/>
          </a:solidFill>
          <a:ln w="12700">
            <a:solidFill>
              <a:srgbClr val="7F8C8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895344" y="1170432"/>
            <a:ext cx="1353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810512"/>
            <a:ext cx="2743200" cy="777240"/>
          </a:xfrm>
          <a:prstGeom prst="rect">
            <a:avLst/>
          </a:prstGeom>
          <a:solidFill>
            <a:srgbClr val="FDEBD0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55264" y="1865376"/>
            <a:ext cx="2633472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ROUTEUR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FIREWALL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213.91.x.x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2834640"/>
            <a:ext cx="2743200" cy="502920"/>
          </a:xfrm>
          <a:prstGeom prst="rect">
            <a:avLst/>
          </a:prstGeom>
          <a:solidFill>
            <a:srgbClr val="EBF5FB"/>
          </a:solidFill>
          <a:ln w="12700">
            <a:solidFill>
              <a:srgbClr val="2E86C1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55264" y="2889504"/>
            <a:ext cx="263347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PRINCIPAL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6032" y="3566160"/>
            <a:ext cx="2286000" cy="868680"/>
          </a:xfrm>
          <a:prstGeom prst="rect">
            <a:avLst/>
          </a:prstGeom>
          <a:solidFill>
            <a:srgbClr val="D5F5E3"/>
          </a:solidFill>
          <a:ln w="12700">
            <a:solidFill>
              <a:srgbClr val="1ABC9C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10896" y="3621024"/>
            <a:ext cx="2176272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SERVEURS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/ DHCP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192.168.1.5-10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063240" y="3566160"/>
            <a:ext cx="2423160" cy="868680"/>
          </a:xfrm>
          <a:prstGeom prst="rect">
            <a:avLst/>
          </a:prstGeom>
          <a:solidFill>
            <a:srgbClr val="EBF5FB"/>
          </a:solidFill>
          <a:ln w="12700">
            <a:solidFill>
              <a:srgbClr val="2980B9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118104" y="3621024"/>
            <a:ext cx="2313432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POSTES CLIENTS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10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.100 → .200 (DHCP)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87568" y="3566160"/>
            <a:ext cx="2423160" cy="868680"/>
          </a:xfrm>
          <a:prstGeom prst="rect">
            <a:avLst/>
          </a:prstGeom>
          <a:solidFill>
            <a:srgbClr val="F5EEF8"/>
          </a:solidFill>
          <a:ln w="12700">
            <a:solidFill>
              <a:srgbClr val="8E44A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742432" y="3621024"/>
            <a:ext cx="2313432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SERVEURS APPLI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20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.50 → .99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07992" y="1572768"/>
            <a:ext cx="64008" cy="25603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07992" y="2587752"/>
            <a:ext cx="64008" cy="25603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07992" y="3337560"/>
            <a:ext cx="64008" cy="237744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89888" y="3337560"/>
            <a:ext cx="6391656" cy="6400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389888" y="3337560"/>
            <a:ext cx="64008" cy="24688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67144" y="3337560"/>
            <a:ext cx="64008" cy="24688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 Ports et protocoles essentiels</a:t>
            </a:r>
            <a:endParaRPr lang="en-US" sz="22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777240"/>
          <a:ext cx="8631936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1097280"/>
                <a:gridCol w="5705856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Port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Proto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Service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20/21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8C8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</a:rPr>
                        <a:t>TCP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F8C8D"/>
                          </a:solidFill>
                        </a:rPr>
                        <a:t>FTP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</a:rPr>
                        <a:t>Transfert de fichiers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22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</a:rPr>
                        <a:t>TCP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</a:rPr>
                        <a:t>SSH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</a:rPr>
                        <a:t>Accès distant sécurisé (terminal)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23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</a:rPr>
                        <a:t>TCP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</a:rPr>
                        <a:t>Telnet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</a:rPr>
                        <a:t>Accès distant non sécurisé (obsolète)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25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44A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</a:rPr>
                        <a:t>TCP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E44AD"/>
                          </a:solidFill>
                        </a:rPr>
                        <a:t>SMTP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</a:rPr>
                        <a:t>Envoi d'e-mails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53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</a:rPr>
                        <a:t>UDP/TCP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980B9"/>
                          </a:solidFill>
                        </a:rPr>
                        <a:t>DNS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</a:rPr>
                        <a:t>Résolution de noms de domaine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67/68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BC9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</a:rPr>
                        <a:t>UDP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BC9C"/>
                          </a:solidFill>
                        </a:rPr>
                        <a:t>DHCP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</a:rPr>
                        <a:t>Attribution automatique d'adresses IP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80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</a:rPr>
                        <a:t>TCP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67E22"/>
                          </a:solidFill>
                        </a:rPr>
                        <a:t>HTTP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</a:rPr>
                        <a:t>Pages web non chiffrées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110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8C8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</a:rPr>
                        <a:t>TCP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F8C8D"/>
                          </a:solidFill>
                        </a:rPr>
                        <a:t>POP3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</a:rPr>
                        <a:t>Récupération d'e-mails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143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8C8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</a:rPr>
                        <a:t>TCP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F8C8D"/>
                          </a:solidFill>
                        </a:rPr>
                        <a:t>IMAP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</a:rPr>
                        <a:t>Consultation d'e-mails synchronisée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443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</a:rPr>
                        <a:t>TCP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</a:rPr>
                        <a:t>HTTPS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</a:rPr>
                        <a:t>Pages web chiffrées (TLS/SSL)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3389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</a:rPr>
                        <a:t>TCP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980B9"/>
                          </a:solidFill>
                        </a:rPr>
                        <a:t>RDP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</a:rPr>
                        <a:t>Bureau à distance Windows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Fiche mémo — Méthode de calcul réseau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56032" y="749808"/>
            <a:ext cx="86319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: 172.20.15.67 / 20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56032" y="1307592"/>
            <a:ext cx="502920" cy="502920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307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1307592"/>
            <a:ext cx="2103120" cy="50292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30759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les parties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990088" y="1271016"/>
            <a:ext cx="5888736" cy="566928"/>
          </a:xfrm>
          <a:prstGeom prst="rect">
            <a:avLst/>
          </a:prstGeom>
          <a:solidFill>
            <a:srgbClr val="1A1A2E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54096" y="1307592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980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/20 → 20 bits réseau,  32 - 20 = 12 bits hôtes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6032" y="2093976"/>
            <a:ext cx="502920" cy="50292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20939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2960" y="2093976"/>
            <a:ext cx="2103120" cy="5029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2093976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Calculer le masque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990088" y="2057400"/>
            <a:ext cx="5888736" cy="566928"/>
          </a:xfrm>
          <a:prstGeom prst="rect">
            <a:avLst/>
          </a:prstGeom>
          <a:solidFill>
            <a:srgbClr val="1A1A2E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54096" y="2093976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bits à 1 → 11111111.11111111.11110000.00000000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Masque = 255.255.240.0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56032" y="2880360"/>
            <a:ext cx="502920" cy="502920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22960" y="2880360"/>
            <a:ext cx="2103120" cy="50292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28803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Adresse réseau (AND)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990088" y="2843784"/>
            <a:ext cx="5888736" cy="566928"/>
          </a:xfrm>
          <a:prstGeom prst="rect">
            <a:avLst/>
          </a:prstGeom>
          <a:solidFill>
            <a:srgbClr val="1A1A2E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54096" y="2880360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44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Octet 3 :  00001111 (15)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E44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Masque 3 : 11110000 (240)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E44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     : 00000000 = 0   → Réseau : 172.20.0.0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56032" y="3666744"/>
            <a:ext cx="502920" cy="50292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6032" y="36667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22960" y="3666744"/>
            <a:ext cx="2103120" cy="5029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3666744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Adresse broadcast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990088" y="3630168"/>
            <a:ext cx="5888736" cy="566928"/>
          </a:xfrm>
          <a:prstGeom prst="rect">
            <a:avLst/>
          </a:prstGeom>
          <a:solidFill>
            <a:srgbClr val="1A1A2E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054096" y="3666744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7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bits hôtes à 1 → octet 3 : 15, octet 4 : 255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7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Broadcast : 172.20.15.255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56032" y="4453128"/>
            <a:ext cx="502920" cy="5029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6032" y="4453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22960" y="4453128"/>
            <a:ext cx="210312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" y="445312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 d'hôtes &amp; plage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990088" y="4416552"/>
            <a:ext cx="5888736" cy="566928"/>
          </a:xfrm>
          <a:prstGeom prst="rect">
            <a:avLst/>
          </a:prstGeom>
          <a:solidFill>
            <a:srgbClr val="1A1A2E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54096" y="4453128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2^12 - 2 = 4094 hôtes    Plage : 172.20.0.1 → 172.20.15.254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64592" cy="507034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Récapitulatif du cours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8503920" cy="475488"/>
          </a:xfrm>
          <a:prstGeom prst="rect">
            <a:avLst/>
          </a:prstGeom>
          <a:solidFill>
            <a:srgbClr val="12263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97280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IPv4 : 32 bits, masque, adresse réseau (AND), broadcast, classes, privées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636776"/>
            <a:ext cx="8503920" cy="475488"/>
          </a:xfrm>
          <a:prstGeom prst="rect">
            <a:avLst/>
          </a:prstGeom>
          <a:solidFill>
            <a:srgbClr val="0D1B2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636776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✂️  CIDR : notation /n, subnetting, calcul du pas, sous-réseaux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2176272"/>
            <a:ext cx="8503920" cy="475488"/>
          </a:xfrm>
          <a:prstGeom prst="rect">
            <a:avLst/>
          </a:prstGeom>
          <a:solidFill>
            <a:srgbClr val="12263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176272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IPv6 : 128 bits, hexadécimal, abréviation ::, types d'adresses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2715768"/>
            <a:ext cx="8503920" cy="475488"/>
          </a:xfrm>
          <a:prstGeom prst="rect">
            <a:avLst/>
          </a:prstGeom>
          <a:solidFill>
            <a:srgbClr val="0D1B2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715768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 Switch : couche 2, table CAM, MAC, VLANs, flooding/commutation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3255264"/>
            <a:ext cx="8503920" cy="475488"/>
          </a:xfrm>
          <a:prstGeom prst="rect">
            <a:avLst/>
          </a:prstGeom>
          <a:solidFill>
            <a:srgbClr val="12263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3255264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 Routeur : couche 3, table de routage IP, NAT, passerelle par défaut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3794760"/>
            <a:ext cx="8503920" cy="475488"/>
          </a:xfrm>
          <a:prstGeom prst="rect">
            <a:avLst/>
          </a:prstGeom>
          <a:solidFill>
            <a:srgbClr val="0D1B2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794760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DHCP : processus DORA, attribution automatique IP + masque + DNS + passerelle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4334256"/>
            <a:ext cx="8503920" cy="475488"/>
          </a:xfrm>
          <a:prstGeom prst="rect">
            <a:avLst/>
          </a:prstGeom>
          <a:solidFill>
            <a:srgbClr val="12263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4334256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DNS : résolution de noms, types A/AAAA/MX/CNAME/PTR, serveurs racines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4828032"/>
            <a:ext cx="8503920" cy="27432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482803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 PRO CIEL  ·  Cours Réseaux  ·  IPv4 · IPv6 · CIDR · Switch · Routeur · DNS · DHCP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 Réseaux IPv4 IPv6 — Bac Pro CIEL</dc:title>
  <dc:subject>PptxGenJS Presentation</dc:subject>
  <dc:creator>PptxGenJS</dc:creator>
  <cp:lastModifiedBy>PptxGenJS</cp:lastModifiedBy>
  <cp:revision>1</cp:revision>
  <dcterms:created xsi:type="dcterms:W3CDTF">2026-03-11T20:21:59Z</dcterms:created>
  <dcterms:modified xsi:type="dcterms:W3CDTF">2026-03-11T20:21:59Z</dcterms:modified>
</cp:coreProperties>
</file>